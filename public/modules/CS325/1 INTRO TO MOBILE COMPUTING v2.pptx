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6" roundtripDataSignature="AMtx7mjBfkSA6jW+e3SWBchyjz8Fvt3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62"/>
          <p:cNvGrpSpPr/>
          <p:nvPr/>
        </p:nvGrpSpPr>
        <p:grpSpPr>
          <a:xfrm>
            <a:off x="-8466" y="-8468"/>
            <a:ext cx="9171316" cy="6874935"/>
            <a:chOff x="-8466" y="-8468"/>
            <a:chExt cx="9171316" cy="6874935"/>
          </a:xfrm>
        </p:grpSpPr>
        <p:cxnSp>
          <p:nvCxnSpPr>
            <p:cNvPr id="28" name="Google Shape;28;p62"/>
            <p:cNvCxnSpPr/>
            <p:nvPr/>
          </p:nvCxnSpPr>
          <p:spPr>
            <a:xfrm flipH="1" rot="10800000">
              <a:off x="5130830" y="4175605"/>
              <a:ext cx="4022475" cy="2682396"/>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29" name="Google Shape;29;p62"/>
            <p:cNvCxnSpPr/>
            <p:nvPr/>
          </p:nvCxnSpPr>
          <p:spPr>
            <a:xfrm>
              <a:off x="7042707"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30" name="Google Shape;30;p62"/>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2"/>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2"/>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2"/>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0B5394">
                <a:alpha val="49803"/>
              </a:srgbClr>
            </a:solidFill>
            <a:ln>
              <a:noFill/>
            </a:ln>
          </p:spPr>
        </p:sp>
        <p:sp>
          <p:nvSpPr>
            <p:cNvPr id="34" name="Google Shape;34;p62"/>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2"/>
            <p:cNvSpPr/>
            <p:nvPr/>
          </p:nvSpPr>
          <p:spPr>
            <a:xfrm>
              <a:off x="8094165"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0075A2">
                <a:alpha val="8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2"/>
            <p:cNvSpPr/>
            <p:nvPr/>
          </p:nvSpPr>
          <p:spPr>
            <a:xfrm>
              <a:off x="8068764"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2"/>
            <p:cNvSpPr/>
            <p:nvPr/>
          </p:nvSpPr>
          <p:spPr>
            <a:xfrm>
              <a:off x="-8466" y="-8468"/>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4705"/>
              </a:schemeClr>
            </a:solidFill>
            <a:ln>
              <a:noFill/>
            </a:ln>
          </p:spPr>
        </p:sp>
      </p:grpSp>
      <p:sp>
        <p:nvSpPr>
          <p:cNvPr id="38" name="Google Shape;38;p62"/>
          <p:cNvSpPr txBox="1"/>
          <p:nvPr>
            <p:ph type="ctrTitle"/>
          </p:nvPr>
        </p:nvSpPr>
        <p:spPr>
          <a:xfrm>
            <a:off x="1130595" y="2404534"/>
            <a:ext cx="5826719"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2"/>
          <p:cNvSpPr txBox="1"/>
          <p:nvPr>
            <p:ph idx="1" type="subTitle"/>
          </p:nvPr>
        </p:nvSpPr>
        <p:spPr>
          <a:xfrm>
            <a:off x="1130595" y="4050834"/>
            <a:ext cx="5826719"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62"/>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2"/>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2"/>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6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3"/>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63"/>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3"/>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64"/>
          <p:cNvSpPr txBox="1"/>
          <p:nvPr>
            <p:ph type="title"/>
          </p:nvPr>
        </p:nvSpPr>
        <p:spPr>
          <a:xfrm>
            <a:off x="609600" y="609600"/>
            <a:ext cx="6347714"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4"/>
          <p:cNvSpPr txBox="1"/>
          <p:nvPr>
            <p:ph idx="1" type="body"/>
          </p:nvPr>
        </p:nvSpPr>
        <p:spPr>
          <a:xfrm>
            <a:off x="609600" y="2160589"/>
            <a:ext cx="3088109"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2" name="Google Shape;52;p64"/>
          <p:cNvSpPr txBox="1"/>
          <p:nvPr>
            <p:ph idx="2" type="body"/>
          </p:nvPr>
        </p:nvSpPr>
        <p:spPr>
          <a:xfrm>
            <a:off x="3869204" y="2160590"/>
            <a:ext cx="3088110"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3" name="Google Shape;53;p64"/>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4"/>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4"/>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65"/>
          <p:cNvSpPr txBox="1"/>
          <p:nvPr>
            <p:ph type="title"/>
          </p:nvPr>
        </p:nvSpPr>
        <p:spPr>
          <a:xfrm>
            <a:off x="609598" y="2700868"/>
            <a:ext cx="6347715"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5"/>
          <p:cNvSpPr txBox="1"/>
          <p:nvPr>
            <p:ph idx="1" type="body"/>
          </p:nvPr>
        </p:nvSpPr>
        <p:spPr>
          <a:xfrm>
            <a:off x="609598" y="4527448"/>
            <a:ext cx="6347715"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9" name="Google Shape;59;p65"/>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5"/>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5"/>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6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6"/>
          <p:cNvSpPr txBox="1"/>
          <p:nvPr>
            <p:ph idx="1" type="body"/>
          </p:nvPr>
        </p:nvSpPr>
        <p:spPr>
          <a:xfrm>
            <a:off x="609599"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66"/>
          <p:cNvSpPr txBox="1"/>
          <p:nvPr>
            <p:ph idx="2" type="body"/>
          </p:nvPr>
        </p:nvSpPr>
        <p:spPr>
          <a:xfrm>
            <a:off x="609599"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66"/>
          <p:cNvSpPr txBox="1"/>
          <p:nvPr>
            <p:ph idx="3" type="body"/>
          </p:nvPr>
        </p:nvSpPr>
        <p:spPr>
          <a:xfrm>
            <a:off x="3866640" y="2160983"/>
            <a:ext cx="309067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66"/>
          <p:cNvSpPr txBox="1"/>
          <p:nvPr>
            <p:ph idx="4" type="body"/>
          </p:nvPr>
        </p:nvSpPr>
        <p:spPr>
          <a:xfrm>
            <a:off x="3866640" y="2737246"/>
            <a:ext cx="3090672"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66"/>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6"/>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6"/>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67"/>
          <p:cNvSpPr txBox="1"/>
          <p:nvPr>
            <p:ph type="title"/>
          </p:nvPr>
        </p:nvSpPr>
        <p:spPr>
          <a:xfrm>
            <a:off x="609599" y="609600"/>
            <a:ext cx="6347714"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7"/>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7"/>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7"/>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68"/>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8"/>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8"/>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69"/>
          <p:cNvSpPr txBox="1"/>
          <p:nvPr>
            <p:ph type="title"/>
          </p:nvPr>
        </p:nvSpPr>
        <p:spPr>
          <a:xfrm>
            <a:off x="609599" y="1498604"/>
            <a:ext cx="2790182"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9"/>
          <p:cNvSpPr txBox="1"/>
          <p:nvPr>
            <p:ph idx="1" type="body"/>
          </p:nvPr>
        </p:nvSpPr>
        <p:spPr>
          <a:xfrm>
            <a:off x="3571275" y="514925"/>
            <a:ext cx="3386037"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69"/>
          <p:cNvSpPr txBox="1"/>
          <p:nvPr>
            <p:ph idx="2" type="body"/>
          </p:nvPr>
        </p:nvSpPr>
        <p:spPr>
          <a:xfrm>
            <a:off x="609599" y="2777069"/>
            <a:ext cx="2790182"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840"/>
              <a:buNone/>
              <a:defRPr sz="1050"/>
            </a:lvl2pPr>
            <a:lvl3pPr indent="-228600" lvl="2" marL="1371600" algn="l">
              <a:spcBef>
                <a:spcPts val="1000"/>
              </a:spcBef>
              <a:spcAft>
                <a:spcPts val="0"/>
              </a:spcAft>
              <a:buSzPts val="720"/>
              <a:buNone/>
              <a:defRPr sz="900"/>
            </a:lvl3pPr>
            <a:lvl4pPr indent="-228600" lvl="3" marL="1828800" algn="l">
              <a:spcBef>
                <a:spcPts val="1000"/>
              </a:spcBef>
              <a:spcAft>
                <a:spcPts val="0"/>
              </a:spcAft>
              <a:buSzPts val="600"/>
              <a:buNone/>
              <a:defRPr sz="750"/>
            </a:lvl4pPr>
            <a:lvl5pPr indent="-228600" lvl="4" marL="2286000" algn="l">
              <a:spcBef>
                <a:spcPts val="1000"/>
              </a:spcBef>
              <a:spcAft>
                <a:spcPts val="0"/>
              </a:spcAft>
              <a:buSzPts val="600"/>
              <a:buNone/>
              <a:defRPr sz="750"/>
            </a:lvl5pPr>
            <a:lvl6pPr indent="-228600" lvl="5" marL="2743200" algn="l">
              <a:spcBef>
                <a:spcPts val="1000"/>
              </a:spcBef>
              <a:spcAft>
                <a:spcPts val="0"/>
              </a:spcAft>
              <a:buSzPts val="600"/>
              <a:buNone/>
              <a:defRPr sz="750"/>
            </a:lvl6pPr>
            <a:lvl7pPr indent="-228600" lvl="6" marL="3200400" algn="l">
              <a:spcBef>
                <a:spcPts val="1000"/>
              </a:spcBef>
              <a:spcAft>
                <a:spcPts val="0"/>
              </a:spcAft>
              <a:buSzPts val="600"/>
              <a:buNone/>
              <a:defRPr sz="750"/>
            </a:lvl7pPr>
            <a:lvl8pPr indent="-228600" lvl="7" marL="3657600" algn="l">
              <a:spcBef>
                <a:spcPts val="1000"/>
              </a:spcBef>
              <a:spcAft>
                <a:spcPts val="0"/>
              </a:spcAft>
              <a:buSzPts val="600"/>
              <a:buNone/>
              <a:defRPr sz="750"/>
            </a:lvl8pPr>
            <a:lvl9pPr indent="-228600" lvl="8" marL="4114800" algn="l">
              <a:spcBef>
                <a:spcPts val="1000"/>
              </a:spcBef>
              <a:spcAft>
                <a:spcPts val="0"/>
              </a:spcAft>
              <a:buSzPts val="600"/>
              <a:buNone/>
              <a:defRPr sz="750"/>
            </a:lvl9pPr>
          </a:lstStyle>
          <a:p/>
        </p:txBody>
      </p:sp>
      <p:sp>
        <p:nvSpPr>
          <p:cNvPr id="84" name="Google Shape;84;p69"/>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9"/>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9"/>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70"/>
          <p:cNvSpPr txBox="1"/>
          <p:nvPr>
            <p:ph type="title"/>
          </p:nvPr>
        </p:nvSpPr>
        <p:spPr>
          <a:xfrm>
            <a:off x="609599" y="4800600"/>
            <a:ext cx="6347714"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0"/>
          <p:cNvSpPr/>
          <p:nvPr>
            <p:ph idx="2" type="pic"/>
          </p:nvPr>
        </p:nvSpPr>
        <p:spPr>
          <a:xfrm>
            <a:off x="609599" y="609600"/>
            <a:ext cx="6347714" cy="3845718"/>
          </a:xfrm>
          <a:prstGeom prst="rect">
            <a:avLst/>
          </a:prstGeom>
          <a:noFill/>
          <a:ln>
            <a:noFill/>
          </a:ln>
        </p:spPr>
      </p:sp>
      <p:sp>
        <p:nvSpPr>
          <p:cNvPr id="90" name="Google Shape;90;p70"/>
          <p:cNvSpPr txBox="1"/>
          <p:nvPr>
            <p:ph idx="1" type="body"/>
          </p:nvPr>
        </p:nvSpPr>
        <p:spPr>
          <a:xfrm>
            <a:off x="609599" y="5367338"/>
            <a:ext cx="6347714"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70"/>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0"/>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0"/>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71"/>
          <p:cNvSpPr txBox="1"/>
          <p:nvPr>
            <p:ph type="title"/>
          </p:nvPr>
        </p:nvSpPr>
        <p:spPr>
          <a:xfrm>
            <a:off x="609600" y="609600"/>
            <a:ext cx="6347714"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1"/>
          <p:cNvSpPr txBox="1"/>
          <p:nvPr>
            <p:ph idx="1" type="body"/>
          </p:nvPr>
        </p:nvSpPr>
        <p:spPr>
          <a:xfrm>
            <a:off x="609600" y="4470400"/>
            <a:ext cx="6347714"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71"/>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1"/>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1"/>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72"/>
          <p:cNvSpPr txBox="1"/>
          <p:nvPr>
            <p:ph type="title"/>
          </p:nvPr>
        </p:nvSpPr>
        <p:spPr>
          <a:xfrm>
            <a:off x="774885" y="609600"/>
            <a:ext cx="6072182"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2"/>
          <p:cNvSpPr txBox="1"/>
          <p:nvPr>
            <p:ph idx="1" type="body"/>
          </p:nvPr>
        </p:nvSpPr>
        <p:spPr>
          <a:xfrm>
            <a:off x="1101074" y="3632200"/>
            <a:ext cx="541980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72"/>
          <p:cNvSpPr txBox="1"/>
          <p:nvPr>
            <p:ph idx="2" type="body"/>
          </p:nvPr>
        </p:nvSpPr>
        <p:spPr>
          <a:xfrm>
            <a:off x="609598" y="4470400"/>
            <a:ext cx="6347715"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72"/>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72"/>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72"/>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72"/>
          <p:cNvSpPr txBox="1"/>
          <p:nvPr/>
        </p:nvSpPr>
        <p:spPr>
          <a:xfrm>
            <a:off x="482711" y="790378"/>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
        <p:nvSpPr>
          <p:cNvPr id="108" name="Google Shape;108;p72"/>
          <p:cNvSpPr txBox="1"/>
          <p:nvPr/>
        </p:nvSpPr>
        <p:spPr>
          <a:xfrm>
            <a:off x="6747699" y="2886556"/>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73"/>
          <p:cNvSpPr txBox="1"/>
          <p:nvPr>
            <p:ph type="title"/>
          </p:nvPr>
        </p:nvSpPr>
        <p:spPr>
          <a:xfrm>
            <a:off x="609598" y="1931988"/>
            <a:ext cx="6347715"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73"/>
          <p:cNvSpPr txBox="1"/>
          <p:nvPr>
            <p:ph idx="1"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73"/>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3"/>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73"/>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74"/>
          <p:cNvSpPr txBox="1"/>
          <p:nvPr>
            <p:ph type="title"/>
          </p:nvPr>
        </p:nvSpPr>
        <p:spPr>
          <a:xfrm>
            <a:off x="774885" y="609600"/>
            <a:ext cx="6072182"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74"/>
          <p:cNvSpPr txBox="1"/>
          <p:nvPr>
            <p:ph idx="1" type="body"/>
          </p:nvPr>
        </p:nvSpPr>
        <p:spPr>
          <a:xfrm>
            <a:off x="609597" y="4013200"/>
            <a:ext cx="6347716"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74"/>
          <p:cNvSpPr txBox="1"/>
          <p:nvPr>
            <p:ph idx="2"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74"/>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4"/>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74"/>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74"/>
          <p:cNvSpPr txBox="1"/>
          <p:nvPr/>
        </p:nvSpPr>
        <p:spPr>
          <a:xfrm>
            <a:off x="482711" y="790378"/>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
        <p:nvSpPr>
          <p:cNvPr id="123" name="Google Shape;123;p74"/>
          <p:cNvSpPr txBox="1"/>
          <p:nvPr/>
        </p:nvSpPr>
        <p:spPr>
          <a:xfrm>
            <a:off x="6747699" y="2886556"/>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75"/>
          <p:cNvSpPr txBox="1"/>
          <p:nvPr>
            <p:ph type="title"/>
          </p:nvPr>
        </p:nvSpPr>
        <p:spPr>
          <a:xfrm>
            <a:off x="615848" y="609600"/>
            <a:ext cx="634146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75"/>
          <p:cNvSpPr txBox="1"/>
          <p:nvPr>
            <p:ph idx="1" type="body"/>
          </p:nvPr>
        </p:nvSpPr>
        <p:spPr>
          <a:xfrm>
            <a:off x="609597" y="4013200"/>
            <a:ext cx="6347716"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75"/>
          <p:cNvSpPr txBox="1"/>
          <p:nvPr>
            <p:ph idx="2" type="body"/>
          </p:nvPr>
        </p:nvSpPr>
        <p:spPr>
          <a:xfrm>
            <a:off x="609598" y="4527448"/>
            <a:ext cx="6347715"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75"/>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5"/>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5"/>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7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6"/>
          <p:cNvSpPr txBox="1"/>
          <p:nvPr>
            <p:ph idx="1" type="body"/>
          </p:nvPr>
        </p:nvSpPr>
        <p:spPr>
          <a:xfrm rot="5400000">
            <a:off x="1843070" y="927120"/>
            <a:ext cx="3880773" cy="634771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76"/>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76"/>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76"/>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77"/>
          <p:cNvSpPr txBox="1"/>
          <p:nvPr>
            <p:ph type="title"/>
          </p:nvPr>
        </p:nvSpPr>
        <p:spPr>
          <a:xfrm rot="5400000">
            <a:off x="3840993" y="2745920"/>
            <a:ext cx="5251451" cy="97881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77"/>
          <p:cNvSpPr txBox="1"/>
          <p:nvPr>
            <p:ph idx="1" type="body"/>
          </p:nvPr>
        </p:nvSpPr>
        <p:spPr>
          <a:xfrm rot="5400000">
            <a:off x="581386" y="637813"/>
            <a:ext cx="5251451" cy="5195026"/>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77"/>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77"/>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7"/>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61"/>
          <p:cNvGrpSpPr/>
          <p:nvPr/>
        </p:nvGrpSpPr>
        <p:grpSpPr>
          <a:xfrm>
            <a:off x="-8467" y="-8468"/>
            <a:ext cx="9171317" cy="6874935"/>
            <a:chOff x="-8467" y="-8468"/>
            <a:chExt cx="9171317" cy="6874935"/>
          </a:xfrm>
        </p:grpSpPr>
        <p:sp>
          <p:nvSpPr>
            <p:cNvPr id="11" name="Google Shape;11;p61"/>
            <p:cNvSpPr/>
            <p:nvPr/>
          </p:nvSpPr>
          <p:spPr>
            <a:xfrm>
              <a:off x="-8467" y="4013200"/>
              <a:ext cx="457200" cy="285326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61"/>
            <p:cNvCxnSpPr/>
            <p:nvPr/>
          </p:nvCxnSpPr>
          <p:spPr>
            <a:xfrm flipH="1" rot="10800000">
              <a:off x="5130830" y="4175605"/>
              <a:ext cx="4022475" cy="2682396"/>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3" name="Google Shape;13;p61"/>
            <p:cNvCxnSpPr/>
            <p:nvPr/>
          </p:nvCxnSpPr>
          <p:spPr>
            <a:xfrm>
              <a:off x="7042707"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4" name="Google Shape;14;p61"/>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568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61"/>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61"/>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61"/>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0B5394">
                <a:alpha val="49803"/>
              </a:srgbClr>
            </a:solidFill>
            <a:ln>
              <a:noFill/>
            </a:ln>
          </p:spPr>
        </p:sp>
        <p:sp>
          <p:nvSpPr>
            <p:cNvPr id="18" name="Google Shape;18;p61"/>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61"/>
            <p:cNvSpPr/>
            <p:nvPr/>
          </p:nvSpPr>
          <p:spPr>
            <a:xfrm>
              <a:off x="8094165"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0075A2">
                <a:alpha val="8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61"/>
            <p:cNvSpPr/>
            <p:nvPr/>
          </p:nvSpPr>
          <p:spPr>
            <a:xfrm>
              <a:off x="8068764"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61"/>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61"/>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61"/>
          <p:cNvSpPr txBox="1"/>
          <p:nvPr>
            <p:ph idx="10" type="dt"/>
          </p:nvPr>
        </p:nvSpPr>
        <p:spPr>
          <a:xfrm>
            <a:off x="5405258" y="6041363"/>
            <a:ext cx="68413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61"/>
          <p:cNvSpPr txBox="1"/>
          <p:nvPr>
            <p:ph idx="11" type="ftr"/>
          </p:nvPr>
        </p:nvSpPr>
        <p:spPr>
          <a:xfrm>
            <a:off x="609599" y="6041363"/>
            <a:ext cx="462297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61"/>
          <p:cNvSpPr txBox="1"/>
          <p:nvPr>
            <p:ph idx="12" type="sldNum"/>
          </p:nvPr>
        </p:nvSpPr>
        <p:spPr>
          <a:xfrm>
            <a:off x="6444676" y="6041363"/>
            <a:ext cx="51263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jpg"/><Relationship Id="rId4" Type="http://schemas.openxmlformats.org/officeDocument/2006/relationships/image" Target="../media/image1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17.jpg"/><Relationship Id="rId6" Type="http://schemas.openxmlformats.org/officeDocument/2006/relationships/image" Target="../media/image1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www.lifewire.com/definition-of-edge-578669"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8.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8.png"/><Relationship Id="rId4" Type="http://schemas.openxmlformats.org/officeDocument/2006/relationships/image" Target="../media/image2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3.jpg"/><Relationship Id="rId4" Type="http://schemas.openxmlformats.org/officeDocument/2006/relationships/image" Target="../media/image32.jpg"/><Relationship Id="rId5" Type="http://schemas.openxmlformats.org/officeDocument/2006/relationships/image" Target="../media/image3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1285920" y="2870484"/>
            <a:ext cx="5826600" cy="1646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n-US"/>
              <a:t>Mobile Computing</a:t>
            </a:r>
            <a:endParaRPr/>
          </a:p>
        </p:txBody>
      </p:sp>
      <p:sp>
        <p:nvSpPr>
          <p:cNvPr id="149" name="Google Shape;149;p1"/>
          <p:cNvSpPr txBox="1"/>
          <p:nvPr>
            <p:ph idx="1" type="subTitle"/>
          </p:nvPr>
        </p:nvSpPr>
        <p:spPr>
          <a:xfrm>
            <a:off x="1130595" y="4050834"/>
            <a:ext cx="5826719" cy="172216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960"/>
              <a:buNone/>
            </a:pPr>
            <a:r>
              <a:rPr b="1" lang="en-US" sz="1200">
                <a:solidFill>
                  <a:schemeClr val="dk1"/>
                </a:solidFill>
              </a:rPr>
              <a:t>CS 325 – Mobile Computing</a:t>
            </a:r>
            <a:endParaRPr/>
          </a:p>
          <a:p>
            <a:pPr indent="0" lvl="0" marL="0" rtl="0" algn="ctr">
              <a:spcBef>
                <a:spcPts val="1000"/>
              </a:spcBef>
              <a:spcAft>
                <a:spcPts val="0"/>
              </a:spcAft>
              <a:buSzPts val="960"/>
              <a:buNone/>
            </a:pPr>
            <a:r>
              <a:t/>
            </a:r>
            <a:endParaRPr b="1" sz="1200">
              <a:solidFill>
                <a:schemeClr val="dk1"/>
              </a:solidFill>
            </a:endParaRPr>
          </a:p>
          <a:p>
            <a:pPr indent="0" lvl="0" marL="0" rtl="0" algn="ctr">
              <a:spcBef>
                <a:spcPts val="1000"/>
              </a:spcBef>
              <a:spcAft>
                <a:spcPts val="0"/>
              </a:spcAft>
              <a:buSzPts val="960"/>
              <a:buNone/>
            </a:pPr>
            <a:r>
              <a:rPr b="1" lang="en-US" sz="1200">
                <a:solidFill>
                  <a:schemeClr val="dk1"/>
                </a:solidFill>
              </a:rPr>
              <a:t>Prepared by Michael L. Estal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Objectives</a:t>
            </a:r>
            <a:endParaRPr/>
          </a:p>
        </p:txBody>
      </p:sp>
      <p:sp>
        <p:nvSpPr>
          <p:cNvPr id="155" name="Google Shape;155;p2"/>
          <p:cNvSpPr txBox="1"/>
          <p:nvPr>
            <p:ph idx="1" type="body"/>
          </p:nvPr>
        </p:nvSpPr>
        <p:spPr>
          <a:xfrm>
            <a:off x="609599" y="1678330"/>
            <a:ext cx="6347714" cy="436303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At the end of this lesson, the student should able to:</a:t>
            </a:r>
            <a:endParaRPr/>
          </a:p>
          <a:p>
            <a:pPr indent="-342900" lvl="0" marL="342900" rtl="0" algn="l">
              <a:spcBef>
                <a:spcPts val="1000"/>
              </a:spcBef>
              <a:spcAft>
                <a:spcPts val="0"/>
              </a:spcAft>
              <a:buSzPts val="1440"/>
              <a:buChar char="►"/>
            </a:pPr>
            <a:r>
              <a:rPr lang="en-US"/>
              <a:t>Define mobile technologies in terms of hardware, software, and communications.</a:t>
            </a:r>
            <a:endParaRPr/>
          </a:p>
          <a:p>
            <a:pPr indent="-342900" lvl="0" marL="342900" rtl="0" algn="l">
              <a:spcBef>
                <a:spcPts val="1000"/>
              </a:spcBef>
              <a:spcAft>
                <a:spcPts val="0"/>
              </a:spcAft>
              <a:buSzPts val="1440"/>
              <a:buChar char="►"/>
            </a:pPr>
            <a:r>
              <a:rPr lang="en-US"/>
              <a:t>Utilize the mobile computing nomenclature tor describe and analyze existing mobile computing frameworks and architectures.</a:t>
            </a:r>
            <a:endParaRPr/>
          </a:p>
          <a:p>
            <a:pPr indent="-342900" lvl="0" marL="342900" rtl="0" algn="l">
              <a:spcBef>
                <a:spcPts val="1000"/>
              </a:spcBef>
              <a:spcAft>
                <a:spcPts val="0"/>
              </a:spcAft>
              <a:buSzPts val="1440"/>
              <a:buChar char="►"/>
            </a:pPr>
            <a:r>
              <a:rPr lang="en-US"/>
              <a:t>Evaluate the effectiveness of different mobile computing frameworks.</a:t>
            </a:r>
            <a:endParaRPr/>
          </a:p>
          <a:p>
            <a:pPr indent="-342900" lvl="0" marL="342900" rtl="0" algn="l">
              <a:spcBef>
                <a:spcPts val="1000"/>
              </a:spcBef>
              <a:spcAft>
                <a:spcPts val="0"/>
              </a:spcAft>
              <a:buSzPts val="1440"/>
              <a:buChar char="►"/>
            </a:pPr>
            <a:r>
              <a:rPr lang="en-US"/>
              <a:t>Describe how mobile technology functions to enable other computing technologies.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Definition of Terms</a:t>
            </a:r>
            <a:endParaRPr/>
          </a:p>
        </p:txBody>
      </p:sp>
      <p:sp>
        <p:nvSpPr>
          <p:cNvPr id="161" name="Google Shape;161;p3"/>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b="1" lang="en-US" sz="2800"/>
              <a:t>Computing – </a:t>
            </a:r>
            <a:r>
              <a:rPr lang="en-US" sz="2800"/>
              <a:t>is any goal-oriented activity requiring, benefiting from, or creating computers. It includes development of both hardware and software.</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Definition of Terms</a:t>
            </a:r>
            <a:endParaRPr/>
          </a:p>
        </p:txBody>
      </p:sp>
      <p:sp>
        <p:nvSpPr>
          <p:cNvPr id="167" name="Google Shape;167;p4"/>
          <p:cNvSpPr txBox="1"/>
          <p:nvPr>
            <p:ph idx="1" type="body"/>
          </p:nvPr>
        </p:nvSpPr>
        <p:spPr>
          <a:xfrm>
            <a:off x="609599" y="1817226"/>
            <a:ext cx="7191600" cy="4224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SzPct val="80000"/>
              <a:buNone/>
            </a:pPr>
            <a:r>
              <a:rPr b="1" lang="en-US" sz="2800"/>
              <a:t>There are 2 aspects of mobile computing</a:t>
            </a:r>
            <a:endParaRPr/>
          </a:p>
          <a:p>
            <a:pPr indent="0" lvl="0" marL="0" rtl="0" algn="just">
              <a:spcBef>
                <a:spcPts val="1000"/>
              </a:spcBef>
              <a:spcAft>
                <a:spcPts val="0"/>
              </a:spcAft>
              <a:buSzPct val="80000"/>
              <a:buNone/>
            </a:pPr>
            <a:r>
              <a:t/>
            </a:r>
            <a:endParaRPr b="1" sz="2800"/>
          </a:p>
          <a:p>
            <a:pPr indent="0" lvl="0" marL="0" rtl="0" algn="just">
              <a:spcBef>
                <a:spcPts val="1000"/>
              </a:spcBef>
              <a:spcAft>
                <a:spcPts val="0"/>
              </a:spcAft>
              <a:buSzPct val="80000"/>
              <a:buNone/>
            </a:pPr>
            <a:r>
              <a:rPr b="1" lang="en-US" sz="2800"/>
              <a:t>Mobility – </a:t>
            </a:r>
            <a:r>
              <a:rPr lang="en-US" sz="2800"/>
              <a:t>refers to</a:t>
            </a:r>
            <a:r>
              <a:rPr lang="en-US" sz="2800"/>
              <a:t> as </a:t>
            </a:r>
            <a:r>
              <a:rPr lang="en-US" sz="2800"/>
              <a:t>users who have access to similar communication services at different places. </a:t>
            </a:r>
            <a:endParaRPr/>
          </a:p>
          <a:p>
            <a:pPr indent="0" lvl="0" marL="0" rtl="0" algn="just">
              <a:spcBef>
                <a:spcPts val="1000"/>
              </a:spcBef>
              <a:spcAft>
                <a:spcPts val="0"/>
              </a:spcAft>
              <a:buSzPct val="80000"/>
              <a:buNone/>
            </a:pPr>
            <a:r>
              <a:rPr lang="en-US" sz="2800"/>
              <a:t>Example: User can have a mobile and he can login to his mail account from any desktop to check or compose emails.</a:t>
            </a:r>
            <a:endParaRPr/>
          </a:p>
          <a:p>
            <a:pPr indent="0" lvl="0" marL="0" rtl="0" algn="just">
              <a:spcBef>
                <a:spcPts val="1000"/>
              </a:spcBef>
              <a:spcAft>
                <a:spcPts val="0"/>
              </a:spcAft>
              <a:buSzPct val="80000"/>
              <a:buNone/>
            </a:pPr>
            <a:r>
              <a:rPr b="1" lang="en-US" sz="2800"/>
              <a:t>Device Portability – </a:t>
            </a:r>
            <a:r>
              <a:rPr lang="en-US" sz="2800"/>
              <a:t>refers to</a:t>
            </a:r>
            <a:r>
              <a:rPr lang="en-US" sz="2800"/>
              <a:t> the movement of a communication device with or without a user.</a:t>
            </a:r>
            <a:endParaRPr/>
          </a:p>
          <a:p>
            <a:pPr indent="0" lvl="0" marL="0" rtl="0" algn="just">
              <a:spcBef>
                <a:spcPts val="1000"/>
              </a:spcBef>
              <a:spcAft>
                <a:spcPts val="0"/>
              </a:spcAft>
              <a:buSzPct val="80000"/>
              <a:buNone/>
            </a:pPr>
            <a:r>
              <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Definition of Terms</a:t>
            </a:r>
            <a:endParaRPr/>
          </a:p>
        </p:txBody>
      </p:sp>
      <p:sp>
        <p:nvSpPr>
          <p:cNvPr id="173" name="Google Shape;173;p5"/>
          <p:cNvSpPr txBox="1"/>
          <p:nvPr>
            <p:ph idx="1" type="body"/>
          </p:nvPr>
        </p:nvSpPr>
        <p:spPr>
          <a:xfrm>
            <a:off x="609599" y="1817226"/>
            <a:ext cx="7191600" cy="4224000"/>
          </a:xfrm>
          <a:prstGeom prst="rect">
            <a:avLst/>
          </a:prstGeom>
          <a:noFill/>
          <a:ln>
            <a:noFill/>
          </a:ln>
        </p:spPr>
        <p:txBody>
          <a:bodyPr anchorCtr="0" anchor="t" bIns="45700" lIns="91425" spcFirstLastPara="1" rIns="91425" wrap="square" tIns="45700">
            <a:normAutofit fontScale="92500"/>
          </a:bodyPr>
          <a:lstStyle/>
          <a:p>
            <a:pPr indent="0" lvl="0" marL="0" rtl="0" algn="just">
              <a:spcBef>
                <a:spcPts val="0"/>
              </a:spcBef>
              <a:spcAft>
                <a:spcPts val="0"/>
              </a:spcAft>
              <a:buSzPct val="80000"/>
              <a:buNone/>
            </a:pPr>
            <a:r>
              <a:rPr b="1" lang="en-US" sz="2800"/>
              <a:t>Mobile Computing– </a:t>
            </a:r>
            <a:r>
              <a:rPr lang="en-US" sz="2800"/>
              <a:t>is a technology that allows transmission of data, voice and video via a computer or any other wireless enabled device without having to be connected to a fixed physical link.</a:t>
            </a:r>
            <a:endParaRPr/>
          </a:p>
          <a:p>
            <a:pPr indent="0" lvl="0" marL="0" rtl="0" algn="just">
              <a:spcBef>
                <a:spcPts val="1000"/>
              </a:spcBef>
              <a:spcAft>
                <a:spcPts val="0"/>
              </a:spcAft>
              <a:buSzPct val="80000"/>
              <a:buNone/>
            </a:pPr>
            <a:r>
              <a:rPr b="1" lang="en-US" sz="2800"/>
              <a:t>Mobility– </a:t>
            </a:r>
            <a:r>
              <a:rPr lang="en-US" sz="2800"/>
              <a:t>refers to as users who have access to similar communication services at different places. Example:  user can have a </a:t>
            </a:r>
            <a:r>
              <a:rPr b="1" lang="en-US" sz="2800"/>
              <a:t>mobile</a:t>
            </a:r>
            <a:r>
              <a:rPr lang="en-US" sz="2800"/>
              <a:t> and he can login to his mail account from any desktop to check or compose mails.</a:t>
            </a:r>
            <a:endParaRPr/>
          </a:p>
          <a:p>
            <a:pPr indent="0" lvl="0" marL="0" rtl="0" algn="just">
              <a:spcBef>
                <a:spcPts val="1000"/>
              </a:spcBef>
              <a:spcAft>
                <a:spcPts val="0"/>
              </a:spcAft>
              <a:buSzPct val="80000"/>
              <a:buNone/>
            </a:pPr>
            <a:r>
              <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Components of Mobile Computing</a:t>
            </a:r>
            <a:endParaRPr/>
          </a:p>
        </p:txBody>
      </p:sp>
      <p:sp>
        <p:nvSpPr>
          <p:cNvPr id="179" name="Google Shape;179;p6"/>
          <p:cNvSpPr txBox="1"/>
          <p:nvPr>
            <p:ph idx="1" type="body"/>
          </p:nvPr>
        </p:nvSpPr>
        <p:spPr>
          <a:xfrm>
            <a:off x="771740" y="1316996"/>
            <a:ext cx="7191600" cy="4224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lang="en-US" sz="2800"/>
              <a:t>The main concept involves – </a:t>
            </a:r>
            <a:endParaRPr/>
          </a:p>
          <a:p>
            <a:pPr indent="-342900" lvl="0" marL="342900" rtl="0" algn="l">
              <a:spcBef>
                <a:spcPts val="1000"/>
              </a:spcBef>
              <a:spcAft>
                <a:spcPts val="0"/>
              </a:spcAft>
              <a:buSzPts val="2240"/>
              <a:buChar char="►"/>
            </a:pPr>
            <a:r>
              <a:rPr lang="en-US" sz="2800"/>
              <a:t>Mobile Communication</a:t>
            </a:r>
            <a:endParaRPr/>
          </a:p>
          <a:p>
            <a:pPr indent="-342900" lvl="0" marL="342900" rtl="0" algn="l">
              <a:spcBef>
                <a:spcPts val="1000"/>
              </a:spcBef>
              <a:spcAft>
                <a:spcPts val="0"/>
              </a:spcAft>
              <a:buSzPts val="2240"/>
              <a:buChar char="►"/>
            </a:pPr>
            <a:r>
              <a:rPr lang="en-US" sz="2800"/>
              <a:t>Mobile Hardware</a:t>
            </a:r>
            <a:endParaRPr/>
          </a:p>
          <a:p>
            <a:pPr indent="-342900" lvl="0" marL="342900" rtl="0" algn="l">
              <a:spcBef>
                <a:spcPts val="1000"/>
              </a:spcBef>
              <a:spcAft>
                <a:spcPts val="0"/>
              </a:spcAft>
              <a:buSzPts val="2240"/>
              <a:buChar char="►"/>
            </a:pPr>
            <a:r>
              <a:rPr lang="en-US" sz="2800"/>
              <a:t>Mobile Software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Mobile Communication</a:t>
            </a:r>
            <a:endParaRPr/>
          </a:p>
        </p:txBody>
      </p:sp>
      <p:sp>
        <p:nvSpPr>
          <p:cNvPr id="185" name="Google Shape;185;p7"/>
          <p:cNvSpPr txBox="1"/>
          <p:nvPr>
            <p:ph idx="1" type="body"/>
          </p:nvPr>
        </p:nvSpPr>
        <p:spPr>
          <a:xfrm>
            <a:off x="771749" y="1930504"/>
            <a:ext cx="7191600" cy="43629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lang="en-US" sz="2800"/>
              <a:t>Mobile communications refers to a form of communications which does not depend on a physical connection between the sender and receiver and who may move from one physical location to another during communication.</a:t>
            </a:r>
            <a:endParaRPr/>
          </a:p>
          <a:p>
            <a:pPr indent="0" lvl="0" marL="0" rtl="0" algn="just">
              <a:spcBef>
                <a:spcPts val="1000"/>
              </a:spcBef>
              <a:spcAft>
                <a:spcPts val="0"/>
              </a:spcAft>
              <a:buSzPts val="2240"/>
              <a:buNone/>
            </a:pPr>
            <a:r>
              <a:rPr lang="en-US" sz="2800">
                <a:solidFill>
                  <a:srgbClr val="FF0000"/>
                </a:solidFill>
              </a:rPr>
              <a:t>* The infrastructure put in place to ensure that seamless and reliable communication goes 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Characteristics of Communication Device</a:t>
            </a:r>
            <a:endParaRPr/>
          </a:p>
        </p:txBody>
      </p:sp>
      <p:sp>
        <p:nvSpPr>
          <p:cNvPr id="191" name="Google Shape;191;p8"/>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SzPts val="1440"/>
              <a:buChar char="►"/>
            </a:pPr>
            <a:r>
              <a:rPr b="1" lang="en-US"/>
              <a:t>Fixed and wired</a:t>
            </a:r>
            <a:r>
              <a:rPr lang="en-US"/>
              <a:t>: the devices are fixed at a position, and they are connected through a physical link to communicate with other devices.</a:t>
            </a:r>
            <a:endParaRPr/>
          </a:p>
          <a:p>
            <a:pPr indent="-342900" lvl="0" marL="342900" rtl="0" algn="just">
              <a:spcBef>
                <a:spcPts val="1000"/>
              </a:spcBef>
              <a:spcAft>
                <a:spcPts val="0"/>
              </a:spcAft>
              <a:buSzPts val="1440"/>
              <a:buChar char="►"/>
            </a:pPr>
            <a:r>
              <a:rPr b="1" lang="en-US"/>
              <a:t>Fixed and wireless</a:t>
            </a:r>
            <a:r>
              <a:rPr lang="en-US"/>
              <a:t>: the devices are fixed at a position, and they are connected through a wireless link to make communication with other devices.</a:t>
            </a:r>
            <a:endParaRPr/>
          </a:p>
          <a:p>
            <a:pPr indent="-342900" lvl="0" marL="342900" rtl="0" algn="just">
              <a:spcBef>
                <a:spcPts val="1000"/>
              </a:spcBef>
              <a:spcAft>
                <a:spcPts val="0"/>
              </a:spcAft>
              <a:buSzPts val="1440"/>
              <a:buChar char="►"/>
            </a:pPr>
            <a:r>
              <a:rPr b="1" lang="en-US"/>
              <a:t>Mobile and wired</a:t>
            </a:r>
            <a:r>
              <a:rPr lang="en-US"/>
              <a:t>: some devices are wired, and some are mobile. They altogether make communication with other devices.</a:t>
            </a:r>
            <a:endParaRPr/>
          </a:p>
          <a:p>
            <a:pPr indent="-342900" lvl="0" marL="342900" rtl="0" algn="just">
              <a:spcBef>
                <a:spcPts val="1000"/>
              </a:spcBef>
              <a:spcAft>
                <a:spcPts val="0"/>
              </a:spcAft>
              <a:buSzPts val="1440"/>
              <a:buChar char="►"/>
            </a:pPr>
            <a:r>
              <a:rPr b="1" lang="en-US"/>
              <a:t>Mobile and wireless</a:t>
            </a:r>
            <a:r>
              <a:rPr lang="en-US"/>
              <a:t>: the devices can communicate with each other irrespective of their position. They can also connect to any network without the use of any wired device.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609600" y="609600"/>
            <a:ext cx="6347714"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Wired vs Wireless</a:t>
            </a:r>
            <a:endParaRPr/>
          </a:p>
        </p:txBody>
      </p:sp>
      <p:sp>
        <p:nvSpPr>
          <p:cNvPr id="197" name="Google Shape;197;p9"/>
          <p:cNvSpPr txBox="1"/>
          <p:nvPr>
            <p:ph idx="1" type="body"/>
          </p:nvPr>
        </p:nvSpPr>
        <p:spPr>
          <a:xfrm>
            <a:off x="609600" y="2160589"/>
            <a:ext cx="3088109" cy="388077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440"/>
              <a:buChar char="►"/>
            </a:pPr>
            <a:r>
              <a:rPr b="1" lang="en-US"/>
              <a:t>Wired Networks</a:t>
            </a:r>
            <a:endParaRPr/>
          </a:p>
          <a:p>
            <a:pPr indent="-285750" lvl="1" marL="742950" rtl="0" algn="l">
              <a:lnSpc>
                <a:spcPct val="90000"/>
              </a:lnSpc>
              <a:spcBef>
                <a:spcPts val="1000"/>
              </a:spcBef>
              <a:spcAft>
                <a:spcPts val="0"/>
              </a:spcAft>
              <a:buSzPts val="1280"/>
              <a:buChar char="►"/>
            </a:pPr>
            <a:r>
              <a:rPr lang="en-US"/>
              <a:t>high bandwidth</a:t>
            </a:r>
            <a:endParaRPr/>
          </a:p>
          <a:p>
            <a:pPr indent="-285750" lvl="1" marL="742950" rtl="0" algn="l">
              <a:lnSpc>
                <a:spcPct val="90000"/>
              </a:lnSpc>
              <a:spcBef>
                <a:spcPts val="1000"/>
              </a:spcBef>
              <a:spcAft>
                <a:spcPts val="0"/>
              </a:spcAft>
              <a:buSzPts val="1280"/>
              <a:buChar char="►"/>
            </a:pPr>
            <a:r>
              <a:rPr lang="en-US"/>
              <a:t>low bandwidth variability</a:t>
            </a:r>
            <a:endParaRPr/>
          </a:p>
          <a:p>
            <a:pPr indent="-285750" lvl="1" marL="742950" rtl="0" algn="l">
              <a:lnSpc>
                <a:spcPct val="90000"/>
              </a:lnSpc>
              <a:spcBef>
                <a:spcPts val="1000"/>
              </a:spcBef>
              <a:spcAft>
                <a:spcPts val="0"/>
              </a:spcAft>
              <a:buSzPts val="1280"/>
              <a:buChar char="►"/>
            </a:pPr>
            <a:r>
              <a:rPr lang="en-US"/>
              <a:t>can listen on wire</a:t>
            </a:r>
            <a:endParaRPr/>
          </a:p>
          <a:p>
            <a:pPr indent="-285750" lvl="1" marL="742950" rtl="0" algn="l">
              <a:lnSpc>
                <a:spcPct val="90000"/>
              </a:lnSpc>
              <a:spcBef>
                <a:spcPts val="1000"/>
              </a:spcBef>
              <a:spcAft>
                <a:spcPts val="0"/>
              </a:spcAft>
              <a:buSzPts val="1280"/>
              <a:buChar char="►"/>
            </a:pPr>
            <a:r>
              <a:rPr lang="en-US"/>
              <a:t>high power machines</a:t>
            </a:r>
            <a:endParaRPr/>
          </a:p>
          <a:p>
            <a:pPr indent="-285750" lvl="1" marL="742950" rtl="0" algn="l">
              <a:lnSpc>
                <a:spcPct val="90000"/>
              </a:lnSpc>
              <a:spcBef>
                <a:spcPts val="1000"/>
              </a:spcBef>
              <a:spcAft>
                <a:spcPts val="0"/>
              </a:spcAft>
              <a:buSzPts val="1280"/>
              <a:buChar char="►"/>
            </a:pPr>
            <a:r>
              <a:rPr lang="en-US"/>
              <a:t>high resource machines</a:t>
            </a:r>
            <a:endParaRPr/>
          </a:p>
          <a:p>
            <a:pPr indent="-285750" lvl="1" marL="742950" rtl="0" algn="l">
              <a:lnSpc>
                <a:spcPct val="90000"/>
              </a:lnSpc>
              <a:spcBef>
                <a:spcPts val="1000"/>
              </a:spcBef>
              <a:spcAft>
                <a:spcPts val="0"/>
              </a:spcAft>
              <a:buSzPts val="1280"/>
              <a:buChar char="►"/>
            </a:pPr>
            <a:r>
              <a:rPr lang="en-US"/>
              <a:t>need physical access (security)</a:t>
            </a:r>
            <a:endParaRPr/>
          </a:p>
          <a:p>
            <a:pPr indent="-285750" lvl="1" marL="742950" rtl="0" algn="l">
              <a:lnSpc>
                <a:spcPct val="90000"/>
              </a:lnSpc>
              <a:spcBef>
                <a:spcPts val="1000"/>
              </a:spcBef>
              <a:spcAft>
                <a:spcPts val="0"/>
              </a:spcAft>
              <a:buSzPts val="1280"/>
              <a:buChar char="►"/>
            </a:pPr>
            <a:r>
              <a:rPr lang="en-US"/>
              <a:t>low delay</a:t>
            </a:r>
            <a:endParaRPr/>
          </a:p>
          <a:p>
            <a:pPr indent="-285750" lvl="1" marL="742950" rtl="0" algn="l">
              <a:lnSpc>
                <a:spcPct val="90000"/>
              </a:lnSpc>
              <a:spcBef>
                <a:spcPts val="1000"/>
              </a:spcBef>
              <a:spcAft>
                <a:spcPts val="0"/>
              </a:spcAft>
              <a:buSzPts val="1280"/>
              <a:buChar char="►"/>
            </a:pPr>
            <a:r>
              <a:rPr lang="en-US"/>
              <a:t>connected operation </a:t>
            </a:r>
            <a:endParaRPr/>
          </a:p>
          <a:p>
            <a:pPr indent="-251459" lvl="0" marL="342900" rtl="0" algn="l">
              <a:spcBef>
                <a:spcPts val="1000"/>
              </a:spcBef>
              <a:spcAft>
                <a:spcPts val="0"/>
              </a:spcAft>
              <a:buSzPts val="1440"/>
              <a:buNone/>
            </a:pPr>
            <a:r>
              <a:t/>
            </a:r>
            <a:endParaRPr/>
          </a:p>
        </p:txBody>
      </p:sp>
      <p:sp>
        <p:nvSpPr>
          <p:cNvPr id="198" name="Google Shape;198;p9"/>
          <p:cNvSpPr txBox="1"/>
          <p:nvPr>
            <p:ph idx="2" type="body"/>
          </p:nvPr>
        </p:nvSpPr>
        <p:spPr>
          <a:xfrm>
            <a:off x="3869204" y="2160590"/>
            <a:ext cx="3088110" cy="388077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440"/>
              <a:buChar char="►"/>
            </a:pPr>
            <a:r>
              <a:rPr b="1" lang="en-US"/>
              <a:t>Wireless Networks</a:t>
            </a:r>
            <a:endParaRPr/>
          </a:p>
          <a:p>
            <a:pPr indent="-285750" lvl="1" marL="742950" rtl="0" algn="l">
              <a:lnSpc>
                <a:spcPct val="90000"/>
              </a:lnSpc>
              <a:spcBef>
                <a:spcPts val="1000"/>
              </a:spcBef>
              <a:spcAft>
                <a:spcPts val="0"/>
              </a:spcAft>
              <a:buSzPts val="1280"/>
              <a:buChar char="►"/>
            </a:pPr>
            <a:r>
              <a:rPr lang="en-US"/>
              <a:t>low bandwidth</a:t>
            </a:r>
            <a:endParaRPr/>
          </a:p>
          <a:p>
            <a:pPr indent="-285750" lvl="1" marL="742950" rtl="0" algn="l">
              <a:lnSpc>
                <a:spcPct val="90000"/>
              </a:lnSpc>
              <a:spcBef>
                <a:spcPts val="1000"/>
              </a:spcBef>
              <a:spcAft>
                <a:spcPts val="0"/>
              </a:spcAft>
              <a:buSzPts val="1280"/>
              <a:buChar char="►"/>
            </a:pPr>
            <a:r>
              <a:rPr lang="en-US"/>
              <a:t>high bandwidth variability</a:t>
            </a:r>
            <a:endParaRPr/>
          </a:p>
          <a:p>
            <a:pPr indent="-285750" lvl="1" marL="742950" rtl="0" algn="l">
              <a:lnSpc>
                <a:spcPct val="90000"/>
              </a:lnSpc>
              <a:spcBef>
                <a:spcPts val="1000"/>
              </a:spcBef>
              <a:spcAft>
                <a:spcPts val="0"/>
              </a:spcAft>
              <a:buSzPts val="1280"/>
              <a:buChar char="►"/>
            </a:pPr>
            <a:r>
              <a:rPr lang="en-US"/>
              <a:t>hidden terminal problem</a:t>
            </a:r>
            <a:endParaRPr/>
          </a:p>
          <a:p>
            <a:pPr indent="-285750" lvl="1" marL="742950" rtl="0" algn="l">
              <a:lnSpc>
                <a:spcPct val="90000"/>
              </a:lnSpc>
              <a:spcBef>
                <a:spcPts val="1000"/>
              </a:spcBef>
              <a:spcAft>
                <a:spcPts val="0"/>
              </a:spcAft>
              <a:buSzPts val="1280"/>
              <a:buChar char="►"/>
            </a:pPr>
            <a:r>
              <a:rPr lang="en-US"/>
              <a:t>low power machines</a:t>
            </a:r>
            <a:endParaRPr/>
          </a:p>
          <a:p>
            <a:pPr indent="-285750" lvl="1" marL="742950" rtl="0" algn="l">
              <a:lnSpc>
                <a:spcPct val="90000"/>
              </a:lnSpc>
              <a:spcBef>
                <a:spcPts val="1000"/>
              </a:spcBef>
              <a:spcAft>
                <a:spcPts val="0"/>
              </a:spcAft>
              <a:buSzPts val="1280"/>
              <a:buChar char="►"/>
            </a:pPr>
            <a:r>
              <a:rPr lang="en-US"/>
              <a:t>low resource machines</a:t>
            </a:r>
            <a:endParaRPr/>
          </a:p>
          <a:p>
            <a:pPr indent="-285750" lvl="1" marL="742950" rtl="0" algn="l">
              <a:lnSpc>
                <a:spcPct val="90000"/>
              </a:lnSpc>
              <a:spcBef>
                <a:spcPts val="1000"/>
              </a:spcBef>
              <a:spcAft>
                <a:spcPts val="0"/>
              </a:spcAft>
              <a:buSzPts val="1280"/>
              <a:buChar char="►"/>
            </a:pPr>
            <a:r>
              <a:rPr lang="en-US"/>
              <a:t>need proximity</a:t>
            </a:r>
            <a:endParaRPr/>
          </a:p>
          <a:p>
            <a:pPr indent="-285750" lvl="1" marL="742950" rtl="0" algn="l">
              <a:lnSpc>
                <a:spcPct val="90000"/>
              </a:lnSpc>
              <a:spcBef>
                <a:spcPts val="1000"/>
              </a:spcBef>
              <a:spcAft>
                <a:spcPts val="0"/>
              </a:spcAft>
              <a:buSzPts val="1280"/>
              <a:buChar char="►"/>
            </a:pPr>
            <a:r>
              <a:rPr lang="en-US"/>
              <a:t>higher delay</a:t>
            </a:r>
            <a:endParaRPr/>
          </a:p>
          <a:p>
            <a:pPr indent="-285750" lvl="1" marL="742950" rtl="0" algn="l">
              <a:lnSpc>
                <a:spcPct val="90000"/>
              </a:lnSpc>
              <a:spcBef>
                <a:spcPts val="1000"/>
              </a:spcBef>
              <a:spcAft>
                <a:spcPts val="0"/>
              </a:spcAft>
              <a:buSzPts val="1280"/>
              <a:buChar char="►"/>
            </a:pPr>
            <a:r>
              <a:rPr lang="en-US"/>
              <a:t>disconnected operation </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Mobile Hardware</a:t>
            </a:r>
            <a:endParaRPr/>
          </a:p>
        </p:txBody>
      </p:sp>
      <p:sp>
        <p:nvSpPr>
          <p:cNvPr id="204" name="Google Shape;204;p10"/>
          <p:cNvSpPr txBox="1"/>
          <p:nvPr>
            <p:ph idx="1" type="body"/>
          </p:nvPr>
        </p:nvSpPr>
        <p:spPr>
          <a:xfrm>
            <a:off x="609599" y="1678329"/>
            <a:ext cx="7191738" cy="4363035"/>
          </a:xfrm>
          <a:prstGeom prst="rect">
            <a:avLst/>
          </a:prstGeom>
          <a:no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SzPts val="2240"/>
              <a:buNone/>
            </a:pPr>
            <a:r>
              <a:rPr lang="en-US" sz="2800"/>
              <a:t>Mobile hardware includes mobile devices or device components that receive or access the service of mobility. They would range from portable laptops, smartphones, tablet Pc’s, Personal Digital Assistants.</a:t>
            </a:r>
            <a:endParaRPr/>
          </a:p>
          <a:p>
            <a:pPr indent="0" lvl="0" marL="0" rtl="0" algn="just">
              <a:spcBef>
                <a:spcPts val="1000"/>
              </a:spcBef>
              <a:spcAft>
                <a:spcPts val="0"/>
              </a:spcAft>
              <a:buSzPts val="2240"/>
              <a:buNone/>
            </a:pPr>
            <a:r>
              <a:rPr lang="en-US" sz="2800">
                <a:solidFill>
                  <a:srgbClr val="FF0000"/>
                </a:solidFill>
              </a:rPr>
              <a:t>* Typically hardware components of a mobile phone include display (LCD, touch screen), keypad, microphone, speaker, SIM Card, battery, USB port, antenna, memory unit (RAM,ROM), e.t.c</a:t>
            </a:r>
            <a:endParaRPr sz="280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Mobile Software</a:t>
            </a:r>
            <a:endParaRPr/>
          </a:p>
        </p:txBody>
      </p:sp>
      <p:sp>
        <p:nvSpPr>
          <p:cNvPr id="210" name="Google Shape;210;p11"/>
          <p:cNvSpPr txBox="1"/>
          <p:nvPr>
            <p:ph idx="1" type="body"/>
          </p:nvPr>
        </p:nvSpPr>
        <p:spPr>
          <a:xfrm>
            <a:off x="609599" y="1678329"/>
            <a:ext cx="7191600" cy="43629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lang="en-US" sz="2800"/>
              <a:t>A </a:t>
            </a:r>
            <a:r>
              <a:rPr b="1" lang="en-US" sz="2800"/>
              <a:t>mobile Software</a:t>
            </a:r>
            <a:r>
              <a:rPr lang="en-US" sz="2800"/>
              <a:t>, most commonly referred to as an app, is a type of application </a:t>
            </a:r>
            <a:r>
              <a:rPr b="1" lang="en-US" sz="2800"/>
              <a:t>software </a:t>
            </a:r>
            <a:r>
              <a:rPr lang="en-US" sz="2800"/>
              <a:t>designed to run on a </a:t>
            </a:r>
            <a:r>
              <a:rPr b="1" lang="en-US" sz="2800"/>
              <a:t>mobile </a:t>
            </a:r>
            <a:r>
              <a:rPr lang="en-US" sz="2800"/>
              <a:t>device, such as a smartphone or tablet computer. </a:t>
            </a:r>
            <a:r>
              <a:rPr b="1" lang="en-US" sz="2800"/>
              <a:t>Mobile</a:t>
            </a:r>
            <a:endParaRPr/>
          </a:p>
          <a:p>
            <a:pPr indent="0" lvl="0" marL="0" rtl="0" algn="just">
              <a:spcBef>
                <a:spcPts val="1000"/>
              </a:spcBef>
              <a:spcAft>
                <a:spcPts val="0"/>
              </a:spcAft>
              <a:buSzPts val="2240"/>
              <a:buNone/>
            </a:pPr>
            <a:r>
              <a:rPr lang="en-US" sz="2800">
                <a:solidFill>
                  <a:srgbClr val="FF0000"/>
                </a:solidFill>
              </a:rPr>
              <a:t>* Software frequently serve to provide users with similar services to those accessed 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type="title"/>
          </p:nvPr>
        </p:nvSpPr>
        <p:spPr>
          <a:xfrm>
            <a:off x="609599" y="609600"/>
            <a:ext cx="6347713" cy="97613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Different Forms of Computing</a:t>
            </a:r>
            <a:endParaRPr/>
          </a:p>
        </p:txBody>
      </p:sp>
      <p:pic>
        <p:nvPicPr>
          <p:cNvPr id="216" name="Google Shape;216;p12"/>
          <p:cNvPicPr preferRelativeResize="0"/>
          <p:nvPr>
            <p:ph idx="1" type="body"/>
          </p:nvPr>
        </p:nvPicPr>
        <p:blipFill rotWithShape="1">
          <a:blip r:embed="rId3">
            <a:alphaModFix/>
          </a:blip>
          <a:srcRect b="0" l="0" r="0" t="0"/>
          <a:stretch/>
        </p:blipFill>
        <p:spPr>
          <a:xfrm>
            <a:off x="609600" y="1585800"/>
            <a:ext cx="7460100" cy="4201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Supportive Technologies</a:t>
            </a:r>
            <a:endParaRPr/>
          </a:p>
        </p:txBody>
      </p:sp>
      <p:sp>
        <p:nvSpPr>
          <p:cNvPr id="222" name="Google Shape;222;p13"/>
          <p:cNvSpPr txBox="1"/>
          <p:nvPr>
            <p:ph idx="1" type="body"/>
          </p:nvPr>
        </p:nvSpPr>
        <p:spPr>
          <a:xfrm>
            <a:off x="609599" y="1678329"/>
            <a:ext cx="7191738" cy="4363035"/>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SzPct val="80000"/>
              <a:buChar char="►"/>
            </a:pPr>
            <a:r>
              <a:rPr lang="en-US" sz="2800"/>
              <a:t>Wireless Communication networks</a:t>
            </a:r>
            <a:endParaRPr/>
          </a:p>
          <a:p>
            <a:pPr indent="-285750" lvl="1" marL="742950" rtl="0" algn="just">
              <a:spcBef>
                <a:spcPts val="1000"/>
              </a:spcBef>
              <a:spcAft>
                <a:spcPts val="0"/>
              </a:spcAft>
              <a:buSzPct val="79999"/>
              <a:buFont typeface="Noto Sans Symbols"/>
              <a:buChar char="▪"/>
            </a:pPr>
            <a:r>
              <a:rPr lang="en-US" sz="1800"/>
              <a:t>Multiple networks “covering” the globe</a:t>
            </a:r>
            <a:endParaRPr/>
          </a:p>
          <a:p>
            <a:pPr indent="-285750" lvl="1" marL="742950" rtl="0" algn="just">
              <a:spcBef>
                <a:spcPts val="1000"/>
              </a:spcBef>
              <a:spcAft>
                <a:spcPts val="0"/>
              </a:spcAft>
              <a:buSzPct val="79999"/>
              <a:buFont typeface="Noto Sans Symbols"/>
              <a:buChar char="▪"/>
            </a:pPr>
            <a:r>
              <a:rPr lang="en-US" sz="1800">
                <a:solidFill>
                  <a:schemeClr val="dk1"/>
                </a:solidFill>
              </a:rPr>
              <a:t>World-wide deregulation and spectrum actions</a:t>
            </a:r>
            <a:endParaRPr/>
          </a:p>
          <a:p>
            <a:pPr indent="-285750" lvl="1" marL="742950" rtl="0" algn="just">
              <a:spcBef>
                <a:spcPts val="1000"/>
              </a:spcBef>
              <a:spcAft>
                <a:spcPts val="0"/>
              </a:spcAft>
              <a:buSzPct val="79999"/>
              <a:buFont typeface="Noto Sans Symbols"/>
              <a:buChar char="▪"/>
            </a:pPr>
            <a:r>
              <a:rPr lang="en-US" sz="1800">
                <a:solidFill>
                  <a:schemeClr val="dk1"/>
                </a:solidFill>
              </a:rPr>
              <a:t>Standard communication system and air link interfaces</a:t>
            </a:r>
            <a:endParaRPr/>
          </a:p>
          <a:p>
            <a:pPr indent="-342900" lvl="0" marL="342900" rtl="0" algn="just">
              <a:spcBef>
                <a:spcPts val="1000"/>
              </a:spcBef>
              <a:spcAft>
                <a:spcPts val="0"/>
              </a:spcAft>
              <a:buSzPct val="80000"/>
              <a:buChar char="►"/>
            </a:pPr>
            <a:r>
              <a:rPr lang="en-US" sz="2800"/>
              <a:t>Portable information appliances</a:t>
            </a:r>
            <a:endParaRPr/>
          </a:p>
          <a:p>
            <a:pPr indent="-285750" lvl="1" marL="742950" rtl="0" algn="just">
              <a:spcBef>
                <a:spcPts val="1000"/>
              </a:spcBef>
              <a:spcAft>
                <a:spcPts val="0"/>
              </a:spcAft>
              <a:buSzPct val="79999"/>
              <a:buFont typeface="Noto Sans Symbols"/>
              <a:buChar char="▪"/>
            </a:pPr>
            <a:r>
              <a:rPr lang="en-US" sz="1800"/>
              <a:t>Laptops, notebooks, sub-notebooks, and MNCs</a:t>
            </a:r>
            <a:endParaRPr/>
          </a:p>
          <a:p>
            <a:pPr indent="-285750" lvl="1" marL="742950" rtl="0" algn="just">
              <a:spcBef>
                <a:spcPts val="1000"/>
              </a:spcBef>
              <a:spcAft>
                <a:spcPts val="0"/>
              </a:spcAft>
              <a:buSzPct val="79999"/>
              <a:buFont typeface="Noto Sans Symbols"/>
              <a:buChar char="▪"/>
            </a:pPr>
            <a:r>
              <a:rPr lang="en-US" sz="1800">
                <a:solidFill>
                  <a:schemeClr val="dk1"/>
                </a:solidFill>
              </a:rPr>
              <a:t>Hand-held computers</a:t>
            </a:r>
            <a:endParaRPr/>
          </a:p>
          <a:p>
            <a:pPr indent="-285750" lvl="1" marL="742950" rtl="0" algn="just">
              <a:spcBef>
                <a:spcPts val="1000"/>
              </a:spcBef>
              <a:spcAft>
                <a:spcPts val="0"/>
              </a:spcAft>
              <a:buSzPct val="79999"/>
              <a:buFont typeface="Noto Sans Symbols"/>
              <a:buChar char="▪"/>
            </a:pPr>
            <a:r>
              <a:rPr lang="en-US" sz="1800">
                <a:solidFill>
                  <a:schemeClr val="dk1"/>
                </a:solidFill>
              </a:rPr>
              <a:t>PDAs and Smartphones</a:t>
            </a:r>
            <a:endParaRPr/>
          </a:p>
          <a:p>
            <a:pPr indent="-342900" lvl="0" marL="342900" rtl="0" algn="just">
              <a:spcBef>
                <a:spcPts val="1000"/>
              </a:spcBef>
              <a:spcAft>
                <a:spcPts val="0"/>
              </a:spcAft>
              <a:buSzPct val="80000"/>
              <a:buChar char="►"/>
            </a:pPr>
            <a:r>
              <a:rPr lang="en-US" sz="2800"/>
              <a:t>Internet:</a:t>
            </a:r>
            <a:endParaRPr/>
          </a:p>
          <a:p>
            <a:pPr indent="-285750" lvl="1" marL="742950" rtl="0" algn="just">
              <a:spcBef>
                <a:spcPts val="1000"/>
              </a:spcBef>
              <a:spcAft>
                <a:spcPts val="0"/>
              </a:spcAft>
              <a:buSzPct val="79999"/>
              <a:buFont typeface="Noto Sans Symbols"/>
              <a:buChar char="▪"/>
            </a:pPr>
            <a:r>
              <a:rPr lang="en-US" sz="1800"/>
              <a:t>TCP/IP &amp; de-facto application protocols</a:t>
            </a:r>
            <a:endParaRPr/>
          </a:p>
          <a:p>
            <a:pPr indent="-285750" lvl="1" marL="742950" rtl="0" algn="just">
              <a:spcBef>
                <a:spcPts val="1000"/>
              </a:spcBef>
              <a:spcAft>
                <a:spcPts val="0"/>
              </a:spcAft>
              <a:buSzPct val="79999"/>
              <a:buFont typeface="Noto Sans Symbols"/>
              <a:buChar char="▪"/>
            </a:pPr>
            <a:r>
              <a:rPr lang="en-US" sz="1800">
                <a:solidFill>
                  <a:schemeClr val="dk1"/>
                </a:solidFill>
              </a:rPr>
              <a:t>Ubiquitous web content</a:t>
            </a:r>
            <a:endParaRPr/>
          </a:p>
          <a:p>
            <a:pPr indent="-201168" lvl="1" marL="742950" rtl="0" algn="just">
              <a:spcBef>
                <a:spcPts val="1000"/>
              </a:spcBef>
              <a:spcAft>
                <a:spcPts val="0"/>
              </a:spcAft>
              <a:buSzPct val="79999"/>
              <a:buFont typeface="Noto Sans Symbols"/>
              <a:buNone/>
            </a:pPr>
            <a:r>
              <a:t/>
            </a:r>
            <a:endParaRPr sz="1800">
              <a:solidFill>
                <a:schemeClr val="dk1"/>
              </a:solidFill>
            </a:endParaRPr>
          </a:p>
          <a:p>
            <a:pPr indent="-172973" lvl="1" marL="742950" rtl="0" algn="just">
              <a:spcBef>
                <a:spcPts val="1000"/>
              </a:spcBef>
              <a:spcAft>
                <a:spcPts val="0"/>
              </a:spcAft>
              <a:buSzPct val="80000"/>
              <a:buFont typeface="Noto Sans Symbols"/>
              <a:buNone/>
            </a:pPr>
            <a:r>
              <a:t/>
            </a:r>
            <a:endParaRPr sz="2400">
              <a:solidFill>
                <a:schemeClr val="dk1"/>
              </a:solidFill>
            </a:endParaRPr>
          </a:p>
          <a:p>
            <a:pPr indent="-163576" lvl="1" marL="742950" rtl="0" algn="just">
              <a:spcBef>
                <a:spcPts val="1000"/>
              </a:spcBef>
              <a:spcAft>
                <a:spcPts val="0"/>
              </a:spcAft>
              <a:buSzPct val="79999"/>
              <a:buFont typeface="Noto Sans Symbols"/>
              <a:buNone/>
            </a:pPr>
            <a:r>
              <a:t/>
            </a:r>
            <a:endParaRPr sz="2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Mobile Computing</a:t>
            </a:r>
            <a:endParaRPr/>
          </a:p>
        </p:txBody>
      </p:sp>
      <p:sp>
        <p:nvSpPr>
          <p:cNvPr id="228" name="Google Shape;228;p14"/>
          <p:cNvSpPr txBox="1"/>
          <p:nvPr>
            <p:ph idx="1" type="body"/>
          </p:nvPr>
        </p:nvSpPr>
        <p:spPr>
          <a:xfrm>
            <a:off x="609599" y="1678329"/>
            <a:ext cx="7191738" cy="4363035"/>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2240"/>
              <a:buChar char="►"/>
            </a:pPr>
            <a:r>
              <a:rPr lang="en-US" sz="2800"/>
              <a:t>Using:</a:t>
            </a:r>
            <a:endParaRPr/>
          </a:p>
          <a:p>
            <a:pPr indent="-285750" lvl="1" marL="742950" rtl="0" algn="just">
              <a:spcBef>
                <a:spcPts val="1000"/>
              </a:spcBef>
              <a:spcAft>
                <a:spcPts val="0"/>
              </a:spcAft>
              <a:buSzPts val="1440"/>
              <a:buFont typeface="Noto Sans Symbols"/>
              <a:buChar char="▪"/>
            </a:pPr>
            <a:r>
              <a:rPr lang="en-US" sz="1800"/>
              <a:t>Small size portable computers, hand-helds MNC, and other small wearable devices,</a:t>
            </a:r>
            <a:endParaRPr sz="1800">
              <a:solidFill>
                <a:schemeClr val="dk1"/>
              </a:solidFill>
            </a:endParaRPr>
          </a:p>
          <a:p>
            <a:pPr indent="-342900" lvl="0" marL="342900" rtl="0" algn="just">
              <a:spcBef>
                <a:spcPts val="1000"/>
              </a:spcBef>
              <a:spcAft>
                <a:spcPts val="0"/>
              </a:spcAft>
              <a:buSzPts val="2240"/>
              <a:buChar char="►"/>
            </a:pPr>
            <a:r>
              <a:rPr lang="en-US" sz="2800"/>
              <a:t>To run stand-alone applications (or access remote applications) via:</a:t>
            </a:r>
            <a:endParaRPr/>
          </a:p>
          <a:p>
            <a:pPr indent="-285750" lvl="1" marL="742950" rtl="0" algn="just">
              <a:spcBef>
                <a:spcPts val="1000"/>
              </a:spcBef>
              <a:spcAft>
                <a:spcPts val="0"/>
              </a:spcAft>
              <a:buSzPts val="1440"/>
              <a:buFont typeface="Noto Sans Symbols"/>
              <a:buChar char="▪"/>
            </a:pPr>
            <a:r>
              <a:rPr lang="en-US" sz="1800"/>
              <a:t>Wireless networks: IR, Bluetooth, W-LANs, Cellular, W-Packet Data networks, SAT. etc.</a:t>
            </a:r>
            <a:endParaRPr sz="1800">
              <a:solidFill>
                <a:schemeClr val="dk1"/>
              </a:solidFill>
            </a:endParaRPr>
          </a:p>
          <a:p>
            <a:pPr indent="-342900" lvl="0" marL="342900" rtl="0" algn="just">
              <a:spcBef>
                <a:spcPts val="1000"/>
              </a:spcBef>
              <a:spcAft>
                <a:spcPts val="0"/>
              </a:spcAft>
              <a:buSzPts val="2240"/>
              <a:buChar char="►"/>
            </a:pPr>
            <a:r>
              <a:rPr lang="en-US" sz="2800"/>
              <a:t>By:</a:t>
            </a:r>
            <a:endParaRPr/>
          </a:p>
          <a:p>
            <a:pPr indent="-285750" lvl="1" marL="742950" rtl="0" algn="just">
              <a:spcBef>
                <a:spcPts val="1000"/>
              </a:spcBef>
              <a:spcAft>
                <a:spcPts val="0"/>
              </a:spcAft>
              <a:buSzPts val="1440"/>
              <a:buFont typeface="Noto Sans Symbols"/>
              <a:buChar char="▪"/>
            </a:pPr>
            <a:r>
              <a:rPr lang="en-US" sz="1800"/>
              <a:t>Nomadic and mobile users (animals, agents, trains, cars, cell phones, …)</a:t>
            </a:r>
            <a:endParaRPr sz="1800">
              <a:solidFill>
                <a:schemeClr val="dk1"/>
              </a:solidFill>
            </a:endParaRPr>
          </a:p>
          <a:p>
            <a:pPr indent="-194309" lvl="1" marL="742950" rtl="0" algn="just">
              <a:spcBef>
                <a:spcPts val="1000"/>
              </a:spcBef>
              <a:spcAft>
                <a:spcPts val="0"/>
              </a:spcAft>
              <a:buSzPts val="1440"/>
              <a:buFont typeface="Noto Sans Symbols"/>
              <a:buNone/>
            </a:pPr>
            <a:r>
              <a:t/>
            </a:r>
            <a:endParaRPr sz="1800">
              <a:solidFill>
                <a:schemeClr val="dk1"/>
              </a:solidFill>
            </a:endParaRPr>
          </a:p>
          <a:p>
            <a:pPr indent="-163830" lvl="1" marL="742950" rtl="0" algn="just">
              <a:spcBef>
                <a:spcPts val="1000"/>
              </a:spcBef>
              <a:spcAft>
                <a:spcPts val="0"/>
              </a:spcAft>
              <a:buSzPts val="1920"/>
              <a:buFont typeface="Noto Sans Symbols"/>
              <a:buNone/>
            </a:pPr>
            <a:r>
              <a:t/>
            </a:r>
            <a:endParaRPr sz="2400">
              <a:solidFill>
                <a:schemeClr val="dk1"/>
              </a:solidFill>
            </a:endParaRPr>
          </a:p>
          <a:p>
            <a:pPr indent="-153669" lvl="1" marL="742950" rtl="0" algn="just">
              <a:spcBef>
                <a:spcPts val="1000"/>
              </a:spcBef>
              <a:spcAft>
                <a:spcPts val="0"/>
              </a:spcAft>
              <a:buSzPts val="2080"/>
              <a:buFont typeface="Noto Sans Symbols"/>
              <a:buNone/>
            </a:pPr>
            <a:r>
              <a:t/>
            </a:r>
            <a:endParaRPr sz="2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type="title"/>
          </p:nvPr>
        </p:nvSpPr>
        <p:spPr>
          <a:xfrm>
            <a:off x="609598" y="609600"/>
            <a:ext cx="7515829"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Nomadic, Mobile &amp; Ubiquitous</a:t>
            </a:r>
            <a:endParaRPr/>
          </a:p>
        </p:txBody>
      </p:sp>
      <p:pic>
        <p:nvPicPr>
          <p:cNvPr id="234" name="Google Shape;234;p15"/>
          <p:cNvPicPr preferRelativeResize="0"/>
          <p:nvPr>
            <p:ph idx="1" type="body"/>
          </p:nvPr>
        </p:nvPicPr>
        <p:blipFill rotWithShape="1">
          <a:blip r:embed="rId3">
            <a:alphaModFix/>
          </a:blip>
          <a:srcRect b="0" l="0" r="0" t="0"/>
          <a:stretch/>
        </p:blipFill>
        <p:spPr>
          <a:xfrm>
            <a:off x="610842" y="1677988"/>
            <a:ext cx="7188890" cy="43640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ph type="title"/>
          </p:nvPr>
        </p:nvSpPr>
        <p:spPr>
          <a:xfrm>
            <a:off x="609598" y="609600"/>
            <a:ext cx="7515829" cy="8256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Nomadic, Ubiquitous</a:t>
            </a:r>
            <a:endParaRPr/>
          </a:p>
        </p:txBody>
      </p:sp>
      <p:sp>
        <p:nvSpPr>
          <p:cNvPr id="240" name="Google Shape;240;p16"/>
          <p:cNvSpPr txBox="1"/>
          <p:nvPr>
            <p:ph idx="1" type="body"/>
          </p:nvPr>
        </p:nvSpPr>
        <p:spPr>
          <a:xfrm>
            <a:off x="609599" y="1770928"/>
            <a:ext cx="6347714" cy="427043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2240"/>
              <a:buChar char="►"/>
            </a:pPr>
            <a:r>
              <a:rPr b="1" lang="en-US" sz="2800"/>
              <a:t>Nomadic computing </a:t>
            </a:r>
            <a:r>
              <a:rPr lang="en-US" sz="2800"/>
              <a:t>is the use of mobile computing technology to connect to the global internet or use specific data resources from a stored location while moving around from one place to another.</a:t>
            </a:r>
            <a:endParaRPr/>
          </a:p>
          <a:p>
            <a:pPr indent="-342900" lvl="0" marL="342900" rtl="0" algn="just">
              <a:spcBef>
                <a:spcPts val="1000"/>
              </a:spcBef>
              <a:spcAft>
                <a:spcPts val="0"/>
              </a:spcAft>
              <a:buSzPts val="2240"/>
              <a:buChar char="►"/>
            </a:pPr>
            <a:r>
              <a:rPr b="1" lang="en-US" sz="2800"/>
              <a:t>Nomadic computing </a:t>
            </a:r>
            <a:r>
              <a:rPr lang="en-US" sz="2800"/>
              <a:t>is also known as </a:t>
            </a:r>
            <a:r>
              <a:rPr b="1" lang="en-US" sz="2800"/>
              <a:t>mobile computing</a:t>
            </a:r>
            <a:r>
              <a:rPr lang="en-US" sz="2800"/>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txBox="1"/>
          <p:nvPr>
            <p:ph type="title"/>
          </p:nvPr>
        </p:nvSpPr>
        <p:spPr>
          <a:xfrm>
            <a:off x="609598" y="609600"/>
            <a:ext cx="7515829" cy="8256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Nomadic, Ubiquitous</a:t>
            </a:r>
            <a:endParaRPr/>
          </a:p>
        </p:txBody>
      </p:sp>
      <p:sp>
        <p:nvSpPr>
          <p:cNvPr id="246" name="Google Shape;246;p17"/>
          <p:cNvSpPr txBox="1"/>
          <p:nvPr>
            <p:ph idx="1" type="body"/>
          </p:nvPr>
        </p:nvSpPr>
        <p:spPr>
          <a:xfrm>
            <a:off x="609599" y="1770928"/>
            <a:ext cx="6347714" cy="4270436"/>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2240"/>
              <a:buChar char="►"/>
            </a:pPr>
            <a:r>
              <a:rPr b="1" lang="en-US" sz="2800"/>
              <a:t>Ubiquitous computing </a:t>
            </a:r>
            <a:r>
              <a:rPr lang="en-US" sz="2800"/>
              <a:t>is not a specific technology, but a scenario in which computers become more numerous and fade into the background, providing information to human users and embedding intelligence and computing capabilities in seemingly everyday objects.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txBox="1"/>
          <p:nvPr>
            <p:ph type="title"/>
          </p:nvPr>
        </p:nvSpPr>
        <p:spPr>
          <a:xfrm>
            <a:off x="609598" y="609600"/>
            <a:ext cx="7515829" cy="8256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Nomadic vs. Mobile</a:t>
            </a:r>
            <a:endParaRPr/>
          </a:p>
        </p:txBody>
      </p:sp>
      <p:sp>
        <p:nvSpPr>
          <p:cNvPr id="252" name="Google Shape;252;p18"/>
          <p:cNvSpPr txBox="1"/>
          <p:nvPr>
            <p:ph idx="1" type="body"/>
          </p:nvPr>
        </p:nvSpPr>
        <p:spPr>
          <a:xfrm>
            <a:off x="609599" y="1534602"/>
            <a:ext cx="6347714" cy="450676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2240"/>
              <a:buChar char="►"/>
            </a:pPr>
            <a:r>
              <a:rPr b="1" lang="en-US" sz="2800"/>
              <a:t>Mobile </a:t>
            </a:r>
            <a:r>
              <a:rPr lang="en-US" sz="2800"/>
              <a:t>most commonly refers to access in motion and is therefore unrestricted to a given geographic location. </a:t>
            </a:r>
            <a:r>
              <a:rPr b="1" lang="en-US" sz="2800"/>
              <a:t>Mobile </a:t>
            </a:r>
            <a:r>
              <a:rPr lang="en-US" sz="2800"/>
              <a:t>may also, however, refer to access in a fixed location via equipment that users can relocate as required, but is stationary while in operation. This mode of operation is often called </a:t>
            </a:r>
            <a:r>
              <a:rPr b="1" lang="en-US" sz="2800"/>
              <a:t>nomadic computing</a:t>
            </a:r>
            <a:r>
              <a:rPr lang="en-US" sz="2800"/>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9"/>
          <p:cNvSpPr txBox="1"/>
          <p:nvPr>
            <p:ph type="title"/>
          </p:nvPr>
        </p:nvSpPr>
        <p:spPr>
          <a:xfrm>
            <a:off x="609599" y="609600"/>
            <a:ext cx="6761260"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Trebuchet MS"/>
              <a:buNone/>
            </a:pPr>
            <a:r>
              <a:rPr lang="en-US" sz="3200"/>
              <a:t>Wireless Infrastructure at a glance</a:t>
            </a:r>
            <a:endParaRPr/>
          </a:p>
        </p:txBody>
      </p:sp>
      <p:sp>
        <p:nvSpPr>
          <p:cNvPr id="258" name="Google Shape;258;p19"/>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id="259" name="Google Shape;259;p19"/>
          <p:cNvPicPr preferRelativeResize="0"/>
          <p:nvPr/>
        </p:nvPicPr>
        <p:blipFill rotWithShape="1">
          <a:blip r:embed="rId3">
            <a:alphaModFix/>
          </a:blip>
          <a:srcRect b="0" l="0" r="0" t="0"/>
          <a:stretch/>
        </p:blipFill>
        <p:spPr>
          <a:xfrm>
            <a:off x="504452" y="1930400"/>
            <a:ext cx="7705725" cy="4133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609599" y="609600"/>
            <a:ext cx="6761260"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Trebuchet MS"/>
              <a:buNone/>
            </a:pPr>
            <a:r>
              <a:rPr lang="en-US" sz="3200"/>
              <a:t>Wireless Network Overlay</a:t>
            </a:r>
            <a:endParaRPr/>
          </a:p>
        </p:txBody>
      </p:sp>
      <p:sp>
        <p:nvSpPr>
          <p:cNvPr id="265" name="Google Shape;265;p20"/>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id="266" name="Google Shape;266;p20"/>
          <p:cNvPicPr preferRelativeResize="0"/>
          <p:nvPr/>
        </p:nvPicPr>
        <p:blipFill rotWithShape="1">
          <a:blip r:embed="rId3">
            <a:alphaModFix/>
          </a:blip>
          <a:srcRect b="0" l="0" r="0" t="0"/>
          <a:stretch/>
        </p:blipFill>
        <p:spPr>
          <a:xfrm>
            <a:off x="345497" y="1576387"/>
            <a:ext cx="8647428" cy="46720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609599" y="609600"/>
            <a:ext cx="6761260"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Trebuchet MS"/>
              <a:buNone/>
            </a:pPr>
            <a:r>
              <a:t/>
            </a:r>
            <a:endParaRPr sz="3200"/>
          </a:p>
        </p:txBody>
      </p:sp>
      <p:sp>
        <p:nvSpPr>
          <p:cNvPr id="272" name="Google Shape;272;p21"/>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id="273" name="Google Shape;273;p21"/>
          <p:cNvPicPr preferRelativeResize="0"/>
          <p:nvPr/>
        </p:nvPicPr>
        <p:blipFill rotWithShape="1">
          <a:blip r:embed="rId3">
            <a:alphaModFix/>
          </a:blip>
          <a:srcRect b="0" l="0" r="0" t="0"/>
          <a:stretch/>
        </p:blipFill>
        <p:spPr>
          <a:xfrm>
            <a:off x="538037" y="678934"/>
            <a:ext cx="7629525" cy="5715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type="title"/>
          </p:nvPr>
        </p:nvSpPr>
        <p:spPr>
          <a:xfrm>
            <a:off x="609599" y="609600"/>
            <a:ext cx="6761260"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Trebuchet MS"/>
              <a:buNone/>
            </a:pPr>
            <a:r>
              <a:rPr lang="en-US" sz="3200"/>
              <a:t>Mobile Softwares</a:t>
            </a:r>
            <a:endParaRPr sz="3200"/>
          </a:p>
        </p:txBody>
      </p:sp>
      <p:sp>
        <p:nvSpPr>
          <p:cNvPr id="279" name="Google Shape;279;p22"/>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descr="MOBILE SOFTWARE SOLUTIONS - Foreign Electronics" id="280" name="Google Shape;280;p22"/>
          <p:cNvPicPr preferRelativeResize="0"/>
          <p:nvPr/>
        </p:nvPicPr>
        <p:blipFill rotWithShape="1">
          <a:blip r:embed="rId3">
            <a:alphaModFix/>
          </a:blip>
          <a:srcRect b="0" l="0" r="0" t="0"/>
          <a:stretch/>
        </p:blipFill>
        <p:spPr>
          <a:xfrm>
            <a:off x="609599" y="1497441"/>
            <a:ext cx="6208139" cy="46250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type="title"/>
          </p:nvPr>
        </p:nvSpPr>
        <p:spPr>
          <a:xfrm>
            <a:off x="609599" y="609600"/>
            <a:ext cx="6761260"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200"/>
              <a:buFont typeface="Trebuchet MS"/>
              <a:buNone/>
            </a:pPr>
            <a:r>
              <a:rPr lang="en-US" sz="3200"/>
              <a:t>Applications of Mobile Computing</a:t>
            </a:r>
            <a:endParaRPr/>
          </a:p>
        </p:txBody>
      </p:sp>
      <p:sp>
        <p:nvSpPr>
          <p:cNvPr id="286" name="Google Shape;286;p23"/>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251459" lvl="0" marL="342900" rtl="0" algn="l">
              <a:spcBef>
                <a:spcPts val="0"/>
              </a:spcBef>
              <a:spcAft>
                <a:spcPts val="0"/>
              </a:spcAft>
              <a:buSzPts val="1440"/>
              <a:buNone/>
            </a:pPr>
            <a:r>
              <a:t/>
            </a:r>
            <a:endParaRPr/>
          </a:p>
        </p:txBody>
      </p:sp>
      <p:pic>
        <p:nvPicPr>
          <p:cNvPr id="287" name="Google Shape;287;p23"/>
          <p:cNvPicPr preferRelativeResize="0"/>
          <p:nvPr/>
        </p:nvPicPr>
        <p:blipFill rotWithShape="1">
          <a:blip r:embed="rId3">
            <a:alphaModFix/>
          </a:blip>
          <a:srcRect b="0" l="0" r="0" t="0"/>
          <a:stretch/>
        </p:blipFill>
        <p:spPr>
          <a:xfrm>
            <a:off x="461177" y="1770489"/>
            <a:ext cx="7471782" cy="440163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1170149" y="776025"/>
            <a:ext cx="6347700" cy="1320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Advantages of Mobile Computing</a:t>
            </a:r>
            <a:endParaRPr/>
          </a:p>
        </p:txBody>
      </p:sp>
      <p:sp>
        <p:nvSpPr>
          <p:cNvPr id="293" name="Google Shape;293;p24"/>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920"/>
              <a:buChar char="►"/>
            </a:pPr>
            <a:r>
              <a:rPr lang="en-US" sz="2400"/>
              <a:t>Location Flexibility. This has enabled users to work from anywhere as long as there is a connection established…</a:t>
            </a:r>
            <a:endParaRPr/>
          </a:p>
          <a:p>
            <a:pPr indent="-342900" lvl="0" marL="342900" rtl="0" algn="just">
              <a:spcBef>
                <a:spcPts val="1000"/>
              </a:spcBef>
              <a:spcAft>
                <a:spcPts val="0"/>
              </a:spcAft>
              <a:buSzPts val="1920"/>
              <a:buChar char="►"/>
            </a:pPr>
            <a:r>
              <a:rPr lang="en-US" sz="2400"/>
              <a:t>Saves Time…</a:t>
            </a:r>
            <a:endParaRPr/>
          </a:p>
          <a:p>
            <a:pPr indent="-342900" lvl="0" marL="342900" rtl="0" algn="just">
              <a:spcBef>
                <a:spcPts val="1000"/>
              </a:spcBef>
              <a:spcAft>
                <a:spcPts val="0"/>
              </a:spcAft>
              <a:buSzPts val="1920"/>
              <a:buChar char="►"/>
            </a:pPr>
            <a:r>
              <a:rPr lang="en-US" sz="2400"/>
              <a:t>Enhanced Productivity…</a:t>
            </a:r>
            <a:endParaRPr/>
          </a:p>
          <a:p>
            <a:pPr indent="-342900" lvl="0" marL="342900" rtl="0" algn="just">
              <a:spcBef>
                <a:spcPts val="1000"/>
              </a:spcBef>
              <a:spcAft>
                <a:spcPts val="0"/>
              </a:spcAft>
              <a:buSzPts val="1920"/>
              <a:buChar char="►"/>
            </a:pPr>
            <a:r>
              <a:rPr lang="en-US" sz="2400"/>
              <a:t>Ease of Research…</a:t>
            </a:r>
            <a:endParaRPr/>
          </a:p>
          <a:p>
            <a:pPr indent="-342900" lvl="0" marL="342900" rtl="0" algn="just">
              <a:spcBef>
                <a:spcPts val="1000"/>
              </a:spcBef>
              <a:spcAft>
                <a:spcPts val="0"/>
              </a:spcAft>
              <a:buSzPts val="1920"/>
              <a:buChar char="►"/>
            </a:pPr>
            <a:r>
              <a:rPr lang="en-US" sz="2400"/>
              <a:t>Entertainment…</a:t>
            </a:r>
            <a:endParaRPr/>
          </a:p>
          <a:p>
            <a:pPr indent="-342900" lvl="0" marL="342900" rtl="0" algn="just">
              <a:spcBef>
                <a:spcPts val="1000"/>
              </a:spcBef>
              <a:spcAft>
                <a:spcPts val="0"/>
              </a:spcAft>
              <a:buSzPts val="1920"/>
              <a:buChar char="►"/>
            </a:pPr>
            <a:r>
              <a:rPr lang="en-US" sz="2400"/>
              <a:t>Streamlining of Business Processes.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609624" y="653400"/>
            <a:ext cx="6347700" cy="1320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LIMITATIONS OF MOBILE COMPUTING</a:t>
            </a:r>
            <a:endParaRPr/>
          </a:p>
        </p:txBody>
      </p:sp>
      <p:sp>
        <p:nvSpPr>
          <p:cNvPr id="299" name="Google Shape;299;p25"/>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SzPts val="1440"/>
              <a:buChar char="►"/>
            </a:pPr>
            <a:r>
              <a:rPr lang="en-US"/>
              <a:t>Resource constraints: Battery.</a:t>
            </a:r>
            <a:endParaRPr/>
          </a:p>
          <a:p>
            <a:pPr indent="-342900" lvl="0" marL="342900" rtl="0" algn="just">
              <a:spcBef>
                <a:spcPts val="1000"/>
              </a:spcBef>
              <a:spcAft>
                <a:spcPts val="0"/>
              </a:spcAft>
              <a:buSzPts val="1440"/>
              <a:buChar char="►"/>
            </a:pPr>
            <a:r>
              <a:rPr lang="en-US"/>
              <a:t>Interference: Radio transmission cannot be protected against interference using shielding and result in higher loss rates for transmitted data or higher bit error rates respectively.</a:t>
            </a:r>
            <a:endParaRPr/>
          </a:p>
          <a:p>
            <a:pPr indent="-342900" lvl="0" marL="342900" rtl="0" algn="just">
              <a:spcBef>
                <a:spcPts val="1000"/>
              </a:spcBef>
              <a:spcAft>
                <a:spcPts val="0"/>
              </a:spcAft>
              <a:buSzPts val="1440"/>
              <a:buChar char="►"/>
            </a:pPr>
            <a:r>
              <a:rPr lang="en-US"/>
              <a:t>Bandwidth: Although they are continuously increasing, transmission rates are still very low for wireless devices compared to desktop systems. Researchers look for more efficient communication protocols with low overhead.</a:t>
            </a:r>
            <a:endParaRPr/>
          </a:p>
          <a:p>
            <a:pPr indent="-342900" lvl="0" marL="342900" rtl="0" algn="just">
              <a:spcBef>
                <a:spcPts val="1000"/>
              </a:spcBef>
              <a:spcAft>
                <a:spcPts val="0"/>
              </a:spcAft>
              <a:buSzPts val="1440"/>
              <a:buChar char="►"/>
            </a:pPr>
            <a:r>
              <a:rPr lang="en-US"/>
              <a:t>Dynamic changes in communication environment: variations in signal power within a region, thus link delays and connection losses.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LIMITATIONS OF MOBILE COMPUTING (cont.)</a:t>
            </a:r>
            <a:endParaRPr/>
          </a:p>
        </p:txBody>
      </p:sp>
      <p:sp>
        <p:nvSpPr>
          <p:cNvPr id="305" name="Google Shape;305;p26"/>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US"/>
              <a:t>Network Issues: discovery of the connection-service to destination and connection stability.</a:t>
            </a:r>
            <a:endParaRPr/>
          </a:p>
          <a:p>
            <a:pPr indent="-342900" lvl="0" marL="342900" rtl="0" algn="just">
              <a:spcBef>
                <a:spcPts val="1000"/>
              </a:spcBef>
              <a:spcAft>
                <a:spcPts val="0"/>
              </a:spcAft>
              <a:buSzPts val="1440"/>
              <a:buChar char="►"/>
            </a:pPr>
            <a:r>
              <a:rPr lang="en-US"/>
              <a:t>Interoperability issues: the varying protocol standards.</a:t>
            </a:r>
            <a:endParaRPr/>
          </a:p>
          <a:p>
            <a:pPr indent="-342900" lvl="0" marL="342900" rtl="0" algn="just">
              <a:spcBef>
                <a:spcPts val="1000"/>
              </a:spcBef>
              <a:spcAft>
                <a:spcPts val="0"/>
              </a:spcAft>
              <a:buSzPts val="1440"/>
              <a:buChar char="►"/>
            </a:pPr>
            <a:r>
              <a:rPr lang="en-US"/>
              <a:t>Security constraints: Not only can portable devices be stolen more easily, but the radio interface is also prone to the dangers of eavesdropping. Wireless access must always include encryption, authentication, and other security mechanisms that must be efficient and simple to use.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 Simplified Reference Model</a:t>
            </a:r>
            <a:endParaRPr/>
          </a:p>
        </p:txBody>
      </p:sp>
      <p:pic>
        <p:nvPicPr>
          <p:cNvPr id="311" name="Google Shape;311;p27"/>
          <p:cNvPicPr preferRelativeResize="0"/>
          <p:nvPr>
            <p:ph idx="1" type="body"/>
          </p:nvPr>
        </p:nvPicPr>
        <p:blipFill rotWithShape="1">
          <a:blip r:embed="rId3">
            <a:alphaModFix/>
          </a:blip>
          <a:srcRect b="0" l="0" r="0" t="0"/>
          <a:stretch/>
        </p:blipFill>
        <p:spPr>
          <a:xfrm>
            <a:off x="1286330" y="1502771"/>
            <a:ext cx="7024800" cy="443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 Simplified Reference Model</a:t>
            </a:r>
            <a:endParaRPr/>
          </a:p>
        </p:txBody>
      </p:sp>
      <p:sp>
        <p:nvSpPr>
          <p:cNvPr id="317" name="Google Shape;317;p28"/>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Physical layer</a:t>
            </a:r>
            <a:r>
              <a:rPr lang="en-US"/>
              <a:t>: This is the lowest layer in a communication system and is responsible for the conversion of a stream of bits into signals that can be transmitted on the sender side. The physical layer of the receiver then transforms the signals back into a bit stream. For wireless communication, the physical layer is responsible for frequency selection, generation of the carrier frequency, signal detection (although heavy interference may disturb the signal), modulation of data onto a carrier frequency and (depending on the transmission scheme) encryption.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9"/>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 Simplified Reference Model (cont.)</a:t>
            </a:r>
            <a:endParaRPr/>
          </a:p>
        </p:txBody>
      </p:sp>
      <p:sp>
        <p:nvSpPr>
          <p:cNvPr id="323" name="Google Shape;323;p29"/>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Data link layer</a:t>
            </a:r>
            <a:r>
              <a:rPr lang="en-US"/>
              <a:t>: The main tasks of this layer include accessing the medium, multiplexing of different data streams, correction of transmission errors, and synchronization (i.e., detection of a data frame). Altogether, the data link layer is responsible for a reliable point-to-point connection between two devices or a point-to-multipoint connection between one sender and several receivers.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0"/>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 Simplified Reference Model (cont.)</a:t>
            </a:r>
            <a:endParaRPr/>
          </a:p>
        </p:txBody>
      </p:sp>
      <p:sp>
        <p:nvSpPr>
          <p:cNvPr id="329" name="Google Shape;329;p30"/>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Network layer</a:t>
            </a:r>
            <a:r>
              <a:rPr lang="en-US"/>
              <a:t>: This </a:t>
            </a:r>
            <a:r>
              <a:rPr lang="en-US"/>
              <a:t>third layer is responsible for routing packets through a network or</a:t>
            </a:r>
            <a:r>
              <a:rPr lang="en-US"/>
              <a:t> establishing a connection between two entities over many other intermediate systems. Important functions are addressing, routing, device location, and handover between different networks.</a:t>
            </a:r>
            <a:endParaRPr/>
          </a:p>
          <a:p>
            <a:pPr indent="-342900" lvl="0" marL="342900" rtl="0" algn="just">
              <a:spcBef>
                <a:spcPts val="1000"/>
              </a:spcBef>
              <a:spcAft>
                <a:spcPts val="0"/>
              </a:spcAft>
              <a:buSzPts val="1440"/>
              <a:buChar char="►"/>
            </a:pPr>
            <a:r>
              <a:rPr b="1" lang="en-US"/>
              <a:t>Transport layer</a:t>
            </a:r>
            <a:r>
              <a:rPr lang="en-US"/>
              <a:t>: This layer is used in the reference model to establish an end-to-end connection. Quality of service, flow and congestion control are relevant, especially if the transport protocols known from the Internet, TCP and UDP, are to be used over a wireless link.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1"/>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A Simplified Reference Model (cont.)</a:t>
            </a:r>
            <a:endParaRPr/>
          </a:p>
        </p:txBody>
      </p:sp>
      <p:sp>
        <p:nvSpPr>
          <p:cNvPr id="335" name="Google Shape;335;p31"/>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Application layer</a:t>
            </a:r>
            <a:r>
              <a:rPr lang="en-US"/>
              <a:t>: Finally, the applications (complemented by additional layers that can support applications) are situated on top of all transmission oriented layers. Functions are service location, support for multimedia applications, adaptive applications that can handle the large variations in transmission characteristics, and wireless access to the world-wide web using a portable device.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609600" y="609600"/>
            <a:ext cx="6610200" cy="1320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GLOBAL SYSTEM FOR MOBILE COMMUNICATIONS (GSM)</a:t>
            </a:r>
            <a:endParaRPr/>
          </a:p>
        </p:txBody>
      </p:sp>
      <p:sp>
        <p:nvSpPr>
          <p:cNvPr id="341" name="Google Shape;341;p32"/>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US"/>
              <a:t>GSM is the most successful digital mobile telecommunication system in the world today. It is used by over 800 million people in more than 190 countries. GSM permits the integration of different voice and data services and the interworking with existing networks. Services make a network interesting for customers. </a:t>
            </a:r>
            <a:r>
              <a:rPr lang="en-US"/>
              <a:t>The primary goal of GSM was to provide a mobile phone system that allows users to roam throughout Europe and provides voice services compatible to ISDN and other PSTN systems.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Why Go Mobile?</a:t>
            </a:r>
            <a:endParaRPr/>
          </a:p>
        </p:txBody>
      </p:sp>
      <p:sp>
        <p:nvSpPr>
          <p:cNvPr id="347" name="Google Shape;347;p33"/>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Enable anywhere/anytime connectivity </a:t>
            </a:r>
            <a:endParaRPr/>
          </a:p>
          <a:p>
            <a:pPr indent="-342900" lvl="0" marL="342900" rtl="0" algn="l">
              <a:spcBef>
                <a:spcPts val="1000"/>
              </a:spcBef>
              <a:spcAft>
                <a:spcPts val="0"/>
              </a:spcAft>
              <a:buSzPts val="1440"/>
              <a:buChar char="►"/>
            </a:pPr>
            <a:r>
              <a:rPr lang="en-US"/>
              <a:t>Bring computer communications to areas without pre-existing infrastructure </a:t>
            </a:r>
            <a:endParaRPr/>
          </a:p>
          <a:p>
            <a:pPr indent="-342900" lvl="0" marL="342900" rtl="0" algn="l">
              <a:spcBef>
                <a:spcPts val="1000"/>
              </a:spcBef>
              <a:spcAft>
                <a:spcPts val="0"/>
              </a:spcAft>
              <a:buSzPts val="1440"/>
              <a:buChar char="►"/>
            </a:pPr>
            <a:r>
              <a:rPr lang="en-US"/>
              <a:t>Enable mobility </a:t>
            </a:r>
            <a:endParaRPr/>
          </a:p>
          <a:p>
            <a:pPr indent="-342900" lvl="0" marL="342900" rtl="0" algn="l">
              <a:spcBef>
                <a:spcPts val="1000"/>
              </a:spcBef>
              <a:spcAft>
                <a:spcPts val="0"/>
              </a:spcAft>
              <a:buSzPts val="1440"/>
              <a:buChar char="►"/>
            </a:pPr>
            <a:r>
              <a:rPr lang="en-US"/>
              <a:t>Enable new applications </a:t>
            </a:r>
            <a:endParaRPr/>
          </a:p>
          <a:p>
            <a:pPr indent="-342900" lvl="0" marL="342900" rtl="0" algn="l">
              <a:spcBef>
                <a:spcPts val="1000"/>
              </a:spcBef>
              <a:spcAft>
                <a:spcPts val="0"/>
              </a:spcAft>
              <a:buSzPts val="1440"/>
              <a:buChar char="►"/>
            </a:pPr>
            <a:r>
              <a:rPr lang="en-US"/>
              <a:t>An exciting new research area </a:t>
            </a:r>
            <a:endParaRPr/>
          </a:p>
          <a:p>
            <a:pPr indent="-251459" lvl="0" marL="342900" rtl="0" algn="l">
              <a:spcBef>
                <a:spcPts val="1000"/>
              </a:spcBef>
              <a:spcAft>
                <a:spcPts val="0"/>
              </a:spcAft>
              <a:buSzPts val="1440"/>
              <a:buNone/>
            </a:pPr>
            <a:r>
              <a:rPr lang="en-US"/>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4"/>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Evolution</a:t>
            </a:r>
            <a:endParaRPr/>
          </a:p>
        </p:txBody>
      </p:sp>
      <p:sp>
        <p:nvSpPr>
          <p:cNvPr id="353" name="Google Shape;353;p34"/>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Mobile computing can be categorized into </a:t>
            </a:r>
            <a:r>
              <a:rPr b="1" lang="en-US"/>
              <a:t>seven major categories of focus</a:t>
            </a:r>
            <a:endParaRPr/>
          </a:p>
          <a:p>
            <a:pPr indent="-342900" lvl="0" marL="342900" rtl="0" algn="l">
              <a:spcBef>
                <a:spcPts val="600"/>
              </a:spcBef>
              <a:spcAft>
                <a:spcPts val="0"/>
              </a:spcAft>
              <a:buSzPts val="1440"/>
              <a:buChar char="►"/>
            </a:pPr>
            <a:r>
              <a:rPr lang="en-US"/>
              <a:t>These categories are the basis for the technology that is used today in research and design of mobile computing</a:t>
            </a:r>
            <a:endParaRPr/>
          </a:p>
          <a:p>
            <a:pPr indent="-342900" lvl="0" marL="342900" rtl="0" algn="l">
              <a:spcBef>
                <a:spcPts val="600"/>
              </a:spcBef>
              <a:spcAft>
                <a:spcPts val="0"/>
              </a:spcAft>
              <a:buSzPts val="1440"/>
              <a:buChar char="►"/>
            </a:pPr>
            <a:r>
              <a:rPr lang="en-US"/>
              <a:t>Each category or section is a different area that was focused on making mobile computing what it is today</a:t>
            </a:r>
            <a:endParaRPr/>
          </a:p>
          <a:p>
            <a:pPr indent="-342900" lvl="0" marL="342900" rtl="0" algn="l">
              <a:spcBef>
                <a:spcPts val="600"/>
              </a:spcBef>
              <a:spcAft>
                <a:spcPts val="0"/>
              </a:spcAft>
              <a:buSzPts val="1440"/>
              <a:buChar char="►"/>
            </a:pPr>
            <a:r>
              <a:rPr lang="en-US"/>
              <a:t>These seven categories are: Portability, Miniaturization, Connectivity, Convergence, Divergence, Apps, Digital Ecosystems</a:t>
            </a:r>
            <a:endParaRPr/>
          </a:p>
          <a:p>
            <a:pPr indent="-251459" lvl="0" marL="342900" rtl="0" algn="l">
              <a:spcBef>
                <a:spcPts val="1000"/>
              </a:spcBef>
              <a:spcAft>
                <a:spcPts val="0"/>
              </a:spcAft>
              <a:buSzPts val="144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Portability</a:t>
            </a:r>
            <a:endParaRPr/>
          </a:p>
        </p:txBody>
      </p:sp>
      <p:sp>
        <p:nvSpPr>
          <p:cNvPr id="360" name="Google Shape;360;p35"/>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Reducing the size of hardware to enable the creation of computers that could be physically moved around relatively easily</a:t>
            </a:r>
            <a:endParaRPr/>
          </a:p>
          <a:p>
            <a:pPr indent="-251459" lvl="0" marL="342900" rtl="0" algn="l">
              <a:spcBef>
                <a:spcPts val="1000"/>
              </a:spcBef>
              <a:spcAft>
                <a:spcPts val="0"/>
              </a:spcAft>
              <a:buSzPts val="1440"/>
              <a:buNone/>
            </a:pPr>
            <a:r>
              <a:t/>
            </a:r>
            <a:endParaRPr/>
          </a:p>
        </p:txBody>
      </p:sp>
      <p:pic>
        <p:nvPicPr>
          <p:cNvPr descr="pic1.jpeg" id="361" name="Google Shape;361;p35"/>
          <p:cNvPicPr preferRelativeResize="0"/>
          <p:nvPr/>
        </p:nvPicPr>
        <p:blipFill rotWithShape="1">
          <a:blip r:embed="rId3">
            <a:alphaModFix/>
          </a:blip>
          <a:srcRect b="0" l="0" r="0" t="0"/>
          <a:stretch/>
        </p:blipFill>
        <p:spPr>
          <a:xfrm>
            <a:off x="457200" y="3103797"/>
            <a:ext cx="4186172" cy="2459467"/>
          </a:xfrm>
          <a:prstGeom prst="rect">
            <a:avLst/>
          </a:prstGeom>
          <a:noFill/>
          <a:ln>
            <a:noFill/>
          </a:ln>
        </p:spPr>
      </p:pic>
      <p:pic>
        <p:nvPicPr>
          <p:cNvPr descr="pic2.jpeg" id="362" name="Google Shape;362;p35"/>
          <p:cNvPicPr preferRelativeResize="0"/>
          <p:nvPr/>
        </p:nvPicPr>
        <p:blipFill rotWithShape="1">
          <a:blip r:embed="rId4">
            <a:alphaModFix/>
          </a:blip>
          <a:srcRect b="0" l="0" r="0" t="0"/>
          <a:stretch/>
        </p:blipFill>
        <p:spPr>
          <a:xfrm>
            <a:off x="5162342" y="3103797"/>
            <a:ext cx="3251200" cy="243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Miniaturization</a:t>
            </a:r>
            <a:endParaRPr/>
          </a:p>
        </p:txBody>
      </p:sp>
      <p:sp>
        <p:nvSpPr>
          <p:cNvPr id="368" name="Google Shape;368;p36"/>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Creating new and significantly smaller mobile form factors that allowed the use of personal mobile devices while on the move</a:t>
            </a:r>
            <a:endParaRPr/>
          </a:p>
          <a:p>
            <a:pPr indent="-251459" lvl="0" marL="342900" rtl="0" algn="l">
              <a:spcBef>
                <a:spcPts val="1000"/>
              </a:spcBef>
              <a:spcAft>
                <a:spcPts val="0"/>
              </a:spcAft>
              <a:buSzPts val="1440"/>
              <a:buNone/>
            </a:pPr>
            <a:r>
              <a:t/>
            </a:r>
            <a:endParaRPr/>
          </a:p>
        </p:txBody>
      </p:sp>
      <p:pic>
        <p:nvPicPr>
          <p:cNvPr descr="pic4.jpeg" id="369" name="Google Shape;369;p36"/>
          <p:cNvPicPr preferRelativeResize="0"/>
          <p:nvPr/>
        </p:nvPicPr>
        <p:blipFill rotWithShape="1">
          <a:blip r:embed="rId3">
            <a:alphaModFix/>
          </a:blip>
          <a:srcRect b="0" l="0" r="0" t="0"/>
          <a:stretch/>
        </p:blipFill>
        <p:spPr>
          <a:xfrm>
            <a:off x="1606881" y="3394822"/>
            <a:ext cx="6273114" cy="21932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Connectivity</a:t>
            </a:r>
            <a:endParaRPr/>
          </a:p>
        </p:txBody>
      </p:sp>
      <p:sp>
        <p:nvSpPr>
          <p:cNvPr id="375" name="Google Shape;375;p37"/>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Developing devices and applications that allowed users to be online and communicate via wireless data networks while on the move </a:t>
            </a:r>
            <a:endParaRPr/>
          </a:p>
          <a:p>
            <a:pPr indent="-251459" lvl="0" marL="342900" rtl="0" algn="l">
              <a:spcBef>
                <a:spcPts val="1000"/>
              </a:spcBef>
              <a:spcAft>
                <a:spcPts val="0"/>
              </a:spcAft>
              <a:buSzPts val="1440"/>
              <a:buNone/>
            </a:pPr>
            <a:r>
              <a:t/>
            </a:r>
            <a:endParaRPr/>
          </a:p>
        </p:txBody>
      </p:sp>
      <p:pic>
        <p:nvPicPr>
          <p:cNvPr descr="pic5.png" id="376" name="Google Shape;376;p37"/>
          <p:cNvPicPr preferRelativeResize="0"/>
          <p:nvPr/>
        </p:nvPicPr>
        <p:blipFill rotWithShape="1">
          <a:blip r:embed="rId3">
            <a:alphaModFix/>
          </a:blip>
          <a:srcRect b="0" l="0" r="0" t="0"/>
          <a:stretch/>
        </p:blipFill>
        <p:spPr>
          <a:xfrm>
            <a:off x="916020" y="3123238"/>
            <a:ext cx="2821416" cy="2821416"/>
          </a:xfrm>
          <a:prstGeom prst="rect">
            <a:avLst/>
          </a:prstGeom>
          <a:noFill/>
          <a:ln>
            <a:noFill/>
          </a:ln>
        </p:spPr>
      </p:pic>
      <p:pic>
        <p:nvPicPr>
          <p:cNvPr descr="pic6.png" id="377" name="Google Shape;377;p37"/>
          <p:cNvPicPr preferRelativeResize="0"/>
          <p:nvPr/>
        </p:nvPicPr>
        <p:blipFill rotWithShape="1">
          <a:blip r:embed="rId4">
            <a:alphaModFix/>
          </a:blip>
          <a:srcRect b="0" l="0" r="0" t="0"/>
          <a:stretch/>
        </p:blipFill>
        <p:spPr>
          <a:xfrm>
            <a:off x="3479418" y="2676134"/>
            <a:ext cx="2942332" cy="2119399"/>
          </a:xfrm>
          <a:prstGeom prst="rect">
            <a:avLst/>
          </a:prstGeom>
          <a:noFill/>
          <a:ln>
            <a:noFill/>
          </a:ln>
        </p:spPr>
      </p:pic>
      <p:pic>
        <p:nvPicPr>
          <p:cNvPr descr="pic7.jpeg" id="378" name="Google Shape;378;p37"/>
          <p:cNvPicPr preferRelativeResize="0"/>
          <p:nvPr/>
        </p:nvPicPr>
        <p:blipFill rotWithShape="1">
          <a:blip r:embed="rId5">
            <a:alphaModFix/>
          </a:blip>
          <a:srcRect b="0" l="0" r="0" t="0"/>
          <a:stretch/>
        </p:blipFill>
        <p:spPr>
          <a:xfrm>
            <a:off x="6686792" y="3615697"/>
            <a:ext cx="1916580" cy="1916580"/>
          </a:xfrm>
          <a:prstGeom prst="rect">
            <a:avLst/>
          </a:prstGeom>
          <a:noFill/>
          <a:ln>
            <a:noFill/>
          </a:ln>
        </p:spPr>
      </p:pic>
      <p:pic>
        <p:nvPicPr>
          <p:cNvPr descr="pic8.jpeg" id="379" name="Google Shape;379;p37"/>
          <p:cNvPicPr preferRelativeResize="0"/>
          <p:nvPr/>
        </p:nvPicPr>
        <p:blipFill rotWithShape="1">
          <a:blip r:embed="rId6">
            <a:alphaModFix/>
          </a:blip>
          <a:srcRect b="0" l="0" r="0" t="0"/>
          <a:stretch/>
        </p:blipFill>
        <p:spPr>
          <a:xfrm>
            <a:off x="3925193" y="4958754"/>
            <a:ext cx="2496557" cy="14091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ph type="title"/>
          </p:nvPr>
        </p:nvSpPr>
        <p:spPr>
          <a:xfrm>
            <a:off x="457200" y="533400"/>
            <a:ext cx="8229600" cy="78084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lang="en-US"/>
              <a:t>Mobile Evolution</a:t>
            </a:r>
            <a:endParaRPr/>
          </a:p>
        </p:txBody>
      </p:sp>
      <p:pic>
        <p:nvPicPr>
          <p:cNvPr descr="Image result for 1g 2g 3g 4g" id="385" name="Google Shape;385;p38"/>
          <p:cNvPicPr preferRelativeResize="0"/>
          <p:nvPr/>
        </p:nvPicPr>
        <p:blipFill rotWithShape="1">
          <a:blip r:embed="rId3">
            <a:alphaModFix/>
          </a:blip>
          <a:srcRect b="34429" l="0" r="0" t="0"/>
          <a:stretch/>
        </p:blipFill>
        <p:spPr>
          <a:xfrm>
            <a:off x="642257" y="1374215"/>
            <a:ext cx="7859486" cy="427274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1G: Voice Only</a:t>
            </a:r>
            <a:endParaRPr/>
          </a:p>
        </p:txBody>
      </p:sp>
      <p:sp>
        <p:nvSpPr>
          <p:cNvPr id="391" name="Google Shape;391;p39"/>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Cell phones began with 1G technology in the 1980s. 1G is the first generation of wireless cellular technology. 1G supports voice only calls.</a:t>
            </a:r>
            <a:endParaRPr/>
          </a:p>
          <a:p>
            <a:pPr indent="-342900" lvl="0" marL="342900" rtl="0" algn="l">
              <a:spcBef>
                <a:spcPts val="1000"/>
              </a:spcBef>
              <a:spcAft>
                <a:spcPts val="0"/>
              </a:spcAft>
              <a:buSzPts val="1440"/>
              <a:buChar char="►"/>
            </a:pPr>
            <a:r>
              <a:rPr lang="en-US"/>
              <a:t>1G is analog technology, and the phones using it had poor battery life and voice quality, little security, and were prone to dropped calls.</a:t>
            </a:r>
            <a:endParaRPr/>
          </a:p>
          <a:p>
            <a:pPr indent="-342900" lvl="0" marL="342900" rtl="0" algn="l">
              <a:spcBef>
                <a:spcPts val="1000"/>
              </a:spcBef>
              <a:spcAft>
                <a:spcPts val="0"/>
              </a:spcAft>
              <a:buSzPts val="1440"/>
              <a:buChar char="►"/>
            </a:pPr>
            <a:r>
              <a:rPr lang="en-US"/>
              <a:t>The maximum speed of 1G technology is 2.4 Kbps.</a:t>
            </a:r>
            <a:endParaRPr/>
          </a:p>
          <a:p>
            <a:pPr indent="0" lvl="0" marL="0" rtl="0" algn="l">
              <a:spcBef>
                <a:spcPts val="1000"/>
              </a:spcBef>
              <a:spcAft>
                <a:spcPts val="0"/>
              </a:spcAft>
              <a:buSzPts val="144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0"/>
          <p:cNvSpPr txBox="1"/>
          <p:nvPr>
            <p:ph type="title"/>
          </p:nvPr>
        </p:nvSpPr>
        <p:spPr>
          <a:xfrm>
            <a:off x="609599" y="609600"/>
            <a:ext cx="6347700" cy="1320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2G: SMS and MMS</a:t>
            </a:r>
            <a:endParaRPr/>
          </a:p>
        </p:txBody>
      </p:sp>
      <p:sp>
        <p:nvSpPr>
          <p:cNvPr id="397" name="Google Shape;397;p40"/>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n-US"/>
              <a:t>Cell phones received their first major upgrade when their technology went from 1G to 2G. This leap took place in Finland in 1991 on GSM networks and effectively took cell phones from analog to digital communications.</a:t>
            </a:r>
            <a:endParaRPr/>
          </a:p>
          <a:p>
            <a:pPr indent="-342900" lvl="0" marL="342900" rtl="0" algn="l">
              <a:spcBef>
                <a:spcPts val="1000"/>
              </a:spcBef>
              <a:spcAft>
                <a:spcPts val="0"/>
              </a:spcAft>
              <a:buSzPts val="1440"/>
              <a:buChar char="►"/>
            </a:pPr>
            <a:r>
              <a:rPr lang="en-US"/>
              <a:t>The 2G telephone technology introduced call and text encryption, along with data services such as SMS, picture messages, and MMS.</a:t>
            </a:r>
            <a:endParaRPr/>
          </a:p>
          <a:p>
            <a:pPr indent="-342900" lvl="0" marL="342900" rtl="0" algn="l">
              <a:spcBef>
                <a:spcPts val="1000"/>
              </a:spcBef>
              <a:spcAft>
                <a:spcPts val="0"/>
              </a:spcAft>
              <a:buSzPts val="1440"/>
              <a:buChar char="►"/>
            </a:pPr>
            <a:r>
              <a:rPr lang="en-US"/>
              <a:t>Although 2G replaced 1G and is superseded by later technology versions, it's still used around the world.</a:t>
            </a:r>
            <a:endParaRPr/>
          </a:p>
          <a:p>
            <a:pPr indent="-342900" lvl="0" marL="342900" rtl="0" algn="l">
              <a:spcBef>
                <a:spcPts val="1000"/>
              </a:spcBef>
              <a:spcAft>
                <a:spcPts val="0"/>
              </a:spcAft>
              <a:buSzPts val="1440"/>
              <a:buChar char="►"/>
            </a:pPr>
            <a:r>
              <a:rPr lang="en-US"/>
              <a:t>The maximum speed of 2G with General Packet Radio Service (GPRS) is 50 Kbps. The speed is 1 Mbps with Enhanced Data Rates for </a:t>
            </a:r>
            <a:r>
              <a:rPr lang="en-US" u="sng">
                <a:solidFill>
                  <a:schemeClr val="hlink"/>
                </a:solidFill>
                <a:hlinkClick r:id="rId3"/>
              </a:rPr>
              <a:t>GSM Evolution (EDGE)</a:t>
            </a:r>
            <a:r>
              <a:rPr lang="en-US"/>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1"/>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accent1"/>
              </a:buClr>
              <a:buSzPct val="100000"/>
              <a:buFont typeface="Trebuchet MS"/>
              <a:buNone/>
            </a:pPr>
            <a:r>
              <a:rPr b="1" lang="en-US"/>
              <a:t>2.5G and 2.75G: Data, Finally</a:t>
            </a:r>
            <a:br>
              <a:rPr lang="en-US"/>
            </a:br>
            <a:endParaRPr/>
          </a:p>
        </p:txBody>
      </p:sp>
      <p:sp>
        <p:nvSpPr>
          <p:cNvPr id="403" name="Google Shape;403;p41"/>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2.5G introduced a new packet-switching technique that was more efficient than 2G technology. This led to 2.75G, which provided a theoretical threefold speed increase. AT&amp;T was the first GSM network to support 2.75G with EDGE in the U.S. </a:t>
            </a:r>
            <a:endParaRPr/>
          </a:p>
          <a:p>
            <a:pPr indent="-342900" lvl="0" marL="342900" rtl="0" algn="l">
              <a:spcBef>
                <a:spcPts val="1000"/>
              </a:spcBef>
              <a:spcAft>
                <a:spcPts val="0"/>
              </a:spcAft>
              <a:buSzPts val="1440"/>
              <a:buChar char="►"/>
            </a:pPr>
            <a:r>
              <a:rPr lang="en-US"/>
              <a:t>2.5G and 2.75G were not defined formally as wireless standards. They served mostly as marketing tools to promote new cell phone features to the public.</a:t>
            </a:r>
            <a:endParaRPr/>
          </a:p>
          <a:p>
            <a:pPr indent="0" lvl="0" marL="0" rtl="0" algn="l">
              <a:spcBef>
                <a:spcPts val="1000"/>
              </a:spcBef>
              <a:spcAft>
                <a:spcPts val="0"/>
              </a:spcAft>
              <a:buSzPts val="144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2"/>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3G: More Data, Video Calling, and Mobile Internet</a:t>
            </a:r>
            <a:endParaRPr/>
          </a:p>
        </p:txBody>
      </p:sp>
      <p:sp>
        <p:nvSpPr>
          <p:cNvPr id="409" name="Google Shape;409;p42"/>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 introduction of 3G networks in 1998 ushered in faster data-transmission speeds, so you could use your cell phone in more data-demanding ways such as for video calling and mobile internet access. The term "mobile broadband" was first applied to 3G cellular technology.</a:t>
            </a:r>
            <a:endParaRPr/>
          </a:p>
          <a:p>
            <a:pPr indent="-342900" lvl="0" marL="342900" rtl="0" algn="l">
              <a:spcBef>
                <a:spcPts val="1000"/>
              </a:spcBef>
              <a:spcAft>
                <a:spcPts val="0"/>
              </a:spcAft>
              <a:buSzPts val="1440"/>
              <a:buChar char="►"/>
            </a:pPr>
            <a:r>
              <a:rPr lang="en-US"/>
              <a:t>Like 2G, 3G evolved into the much faster 3.5G and 3.75G as more features were introduced to bring about 4G.</a:t>
            </a:r>
            <a:endParaRPr/>
          </a:p>
          <a:p>
            <a:pPr indent="-342900" lvl="0" marL="342900" rtl="0" algn="l">
              <a:spcBef>
                <a:spcPts val="1000"/>
              </a:spcBef>
              <a:spcAft>
                <a:spcPts val="0"/>
              </a:spcAft>
              <a:buSzPts val="1440"/>
              <a:buChar char="►"/>
            </a:pPr>
            <a:r>
              <a:rPr lang="en-US"/>
              <a:t>The maximum speed of 3G is estimated to be around 2 Mbps for non-moving devices and 384 Kbps in moving vehicles. </a:t>
            </a:r>
            <a:endParaRPr/>
          </a:p>
          <a:p>
            <a:pPr indent="0" lvl="0" marL="0" rtl="0" algn="l">
              <a:spcBef>
                <a:spcPts val="1000"/>
              </a:spcBef>
              <a:spcAft>
                <a:spcPts val="0"/>
              </a:spcAft>
              <a:buSzPts val="144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4G LTE: The Current Standard</a:t>
            </a:r>
            <a:endParaRPr/>
          </a:p>
        </p:txBody>
      </p:sp>
      <p:sp>
        <p:nvSpPr>
          <p:cNvPr id="415" name="Google Shape;415;p43"/>
          <p:cNvSpPr txBox="1"/>
          <p:nvPr>
            <p:ph idx="1" type="body"/>
          </p:nvPr>
        </p:nvSpPr>
        <p:spPr>
          <a:xfrm>
            <a:off x="609599" y="2160590"/>
            <a:ext cx="6347700" cy="3880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US"/>
              <a:t>The fourth generation of networking, which was released in 2008, is 4G. It supports mobile web access like 3G does and also gaming services, HD mobile TV, video conferencing, 3D TV, and other features that demand high speeds.</a:t>
            </a:r>
            <a:endParaRPr/>
          </a:p>
          <a:p>
            <a:pPr indent="-342900" lvl="0" marL="342900" rtl="0" algn="l">
              <a:spcBef>
                <a:spcPts val="1000"/>
              </a:spcBef>
              <a:spcAft>
                <a:spcPts val="0"/>
              </a:spcAft>
              <a:buSzPts val="1440"/>
              <a:buChar char="►"/>
            </a:pPr>
            <a:r>
              <a:rPr lang="en-US"/>
              <a:t>The max speed of a 4G network when the device is moving is 100 Mbps. The speed is 1 Gbps for low-mobility communication such as when the caller is stationary or walking.</a:t>
            </a:r>
            <a:endParaRPr/>
          </a:p>
          <a:p>
            <a:pPr indent="-342900" lvl="0" marL="342900" rtl="0" algn="l">
              <a:spcBef>
                <a:spcPts val="1000"/>
              </a:spcBef>
              <a:spcAft>
                <a:spcPts val="0"/>
              </a:spcAft>
              <a:buSzPts val="1440"/>
              <a:buChar char="►"/>
            </a:pPr>
            <a:r>
              <a:rPr lang="en-US"/>
              <a:t>Most current cell phone models support both 4G and 3G technologies.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4"/>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accent1"/>
              </a:buClr>
              <a:buSzPts val="3600"/>
              <a:buFont typeface="Trebuchet MS"/>
              <a:buNone/>
            </a:pPr>
            <a:r>
              <a:rPr b="1" lang="en-US"/>
              <a:t>5G: Coming Soon</a:t>
            </a:r>
            <a:endParaRPr/>
          </a:p>
        </p:txBody>
      </p:sp>
      <p:sp>
        <p:nvSpPr>
          <p:cNvPr id="421" name="Google Shape;421;p44"/>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5G is a not-yet-implemented wireless technology that's intended to improve on 4G. </a:t>
            </a:r>
            <a:endParaRPr/>
          </a:p>
          <a:p>
            <a:pPr indent="-342900" lvl="0" marL="342900" rtl="0" algn="l">
              <a:spcBef>
                <a:spcPts val="1000"/>
              </a:spcBef>
              <a:spcAft>
                <a:spcPts val="0"/>
              </a:spcAft>
              <a:buSzPts val="1440"/>
              <a:buChar char="►"/>
            </a:pPr>
            <a:r>
              <a:rPr lang="en-US"/>
              <a:t>5G promises significantly faster data rates, higher connection density, much lower latency,  and energy savings, among other improvements.</a:t>
            </a:r>
            <a:endParaRPr/>
          </a:p>
          <a:p>
            <a:pPr indent="-342900" lvl="0" marL="342900" rtl="0" algn="l">
              <a:spcBef>
                <a:spcPts val="1000"/>
              </a:spcBef>
              <a:spcAft>
                <a:spcPts val="0"/>
              </a:spcAft>
              <a:buSzPts val="1440"/>
              <a:buChar char="►"/>
            </a:pPr>
            <a:r>
              <a:rPr lang="en-US"/>
              <a:t>The anticipated theoretical speed of 5G connections is up to 20 Gbps per second.</a:t>
            </a:r>
            <a:endParaRPr/>
          </a:p>
          <a:p>
            <a:pPr indent="0" lvl="0" marL="0" rtl="0" algn="l">
              <a:spcBef>
                <a:spcPts val="1000"/>
              </a:spcBef>
              <a:spcAft>
                <a:spcPts val="0"/>
              </a:spcAft>
              <a:buSzPts val="144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Convergence</a:t>
            </a:r>
            <a:endParaRPr/>
          </a:p>
        </p:txBody>
      </p:sp>
      <p:sp>
        <p:nvSpPr>
          <p:cNvPr id="427" name="Google Shape;427;p45"/>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Integrating emerging types of digital mobile devices, such as Personal Digital Assistants (PDAs), mobile phones, music players, cameras, games, etc., into hybrid devices</a:t>
            </a:r>
            <a:endParaRPr/>
          </a:p>
          <a:p>
            <a:pPr indent="-251459" lvl="0" marL="342900" rtl="0" algn="l">
              <a:spcBef>
                <a:spcPts val="1000"/>
              </a:spcBef>
              <a:spcAft>
                <a:spcPts val="0"/>
              </a:spcAft>
              <a:buSzPts val="1440"/>
              <a:buNone/>
            </a:pPr>
            <a:r>
              <a:t/>
            </a:r>
            <a:endParaRPr/>
          </a:p>
        </p:txBody>
      </p:sp>
      <p:pic>
        <p:nvPicPr>
          <p:cNvPr descr="pic9.jpeg" id="428" name="Google Shape;428;p45"/>
          <p:cNvPicPr preferRelativeResize="0"/>
          <p:nvPr/>
        </p:nvPicPr>
        <p:blipFill rotWithShape="1">
          <a:blip r:embed="rId3">
            <a:alphaModFix/>
          </a:blip>
          <a:srcRect b="0" l="0" r="0" t="0"/>
          <a:stretch/>
        </p:blipFill>
        <p:spPr>
          <a:xfrm>
            <a:off x="2882057" y="2974197"/>
            <a:ext cx="3292776" cy="3183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Divergence</a:t>
            </a:r>
            <a:endParaRPr/>
          </a:p>
        </p:txBody>
      </p:sp>
      <p:sp>
        <p:nvSpPr>
          <p:cNvPr id="434" name="Google Shape;434;p46"/>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Opposite approach to interaction design by promoting information appliances with specialized functionality rather than generalized ones</a:t>
            </a:r>
            <a:endParaRPr/>
          </a:p>
        </p:txBody>
      </p:sp>
      <p:pic>
        <p:nvPicPr>
          <p:cNvPr descr="pic11.jpeg" id="435" name="Google Shape;435;p46"/>
          <p:cNvPicPr preferRelativeResize="0"/>
          <p:nvPr/>
        </p:nvPicPr>
        <p:blipFill rotWithShape="1">
          <a:blip r:embed="rId3">
            <a:alphaModFix/>
          </a:blip>
          <a:srcRect b="0" l="0" r="0" t="0"/>
          <a:stretch/>
        </p:blipFill>
        <p:spPr>
          <a:xfrm>
            <a:off x="457200" y="3479622"/>
            <a:ext cx="3386132" cy="2009105"/>
          </a:xfrm>
          <a:prstGeom prst="rect">
            <a:avLst/>
          </a:prstGeom>
          <a:noFill/>
          <a:ln>
            <a:noFill/>
          </a:ln>
        </p:spPr>
      </p:pic>
      <p:pic>
        <p:nvPicPr>
          <p:cNvPr descr="pic12.jpeg" id="436" name="Google Shape;436;p46"/>
          <p:cNvPicPr preferRelativeResize="0"/>
          <p:nvPr/>
        </p:nvPicPr>
        <p:blipFill rotWithShape="1">
          <a:blip r:embed="rId4">
            <a:alphaModFix/>
          </a:blip>
          <a:srcRect b="0" l="0" r="0" t="0"/>
          <a:stretch/>
        </p:blipFill>
        <p:spPr>
          <a:xfrm>
            <a:off x="3870320" y="3004661"/>
            <a:ext cx="1673385" cy="1299334"/>
          </a:xfrm>
          <a:prstGeom prst="rect">
            <a:avLst/>
          </a:prstGeom>
          <a:noFill/>
          <a:ln>
            <a:noFill/>
          </a:ln>
        </p:spPr>
      </p:pic>
      <p:pic>
        <p:nvPicPr>
          <p:cNvPr descr="pic13.jpeg" id="437" name="Google Shape;437;p46"/>
          <p:cNvPicPr preferRelativeResize="0"/>
          <p:nvPr/>
        </p:nvPicPr>
        <p:blipFill rotWithShape="1">
          <a:blip r:embed="rId5">
            <a:alphaModFix/>
          </a:blip>
          <a:srcRect b="0" l="0" r="0" t="0"/>
          <a:stretch/>
        </p:blipFill>
        <p:spPr>
          <a:xfrm>
            <a:off x="4095846" y="4802838"/>
            <a:ext cx="1371778" cy="1371778"/>
          </a:xfrm>
          <a:prstGeom prst="rect">
            <a:avLst/>
          </a:prstGeom>
          <a:noFill/>
          <a:ln>
            <a:noFill/>
          </a:ln>
        </p:spPr>
      </p:pic>
      <p:pic>
        <p:nvPicPr>
          <p:cNvPr descr="pic14.jpeg" id="438" name="Google Shape;438;p46"/>
          <p:cNvPicPr preferRelativeResize="0"/>
          <p:nvPr/>
        </p:nvPicPr>
        <p:blipFill rotWithShape="1">
          <a:blip r:embed="rId6">
            <a:alphaModFix/>
          </a:blip>
          <a:srcRect b="0" l="0" r="0" t="0"/>
          <a:stretch/>
        </p:blipFill>
        <p:spPr>
          <a:xfrm>
            <a:off x="6136068" y="3542479"/>
            <a:ext cx="1794695" cy="18848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7"/>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Applications (Apps)</a:t>
            </a:r>
            <a:endParaRPr/>
          </a:p>
        </p:txBody>
      </p:sp>
      <p:sp>
        <p:nvSpPr>
          <p:cNvPr id="444" name="Google Shape;444;p47"/>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lang="en-US"/>
              <a:t>The latest wave of applications (</a:t>
            </a:r>
            <a:r>
              <a:rPr i="1" lang="en-US"/>
              <a:t>apps</a:t>
            </a:r>
            <a:r>
              <a:rPr lang="en-US"/>
              <a:t>) is about developing matter and substance for use and consumption on mobile devices, and making access to this fun or functional interactive application content easy and enjoyable</a:t>
            </a:r>
            <a:endParaRPr/>
          </a:p>
          <a:p>
            <a:pPr indent="0" lvl="0" marL="0" rtl="0" algn="l">
              <a:spcBef>
                <a:spcPts val="1000"/>
              </a:spcBef>
              <a:spcAft>
                <a:spcPts val="0"/>
              </a:spcAft>
              <a:buSzPts val="1440"/>
              <a:buNone/>
            </a:pPr>
            <a:r>
              <a:t/>
            </a:r>
            <a:endParaRPr/>
          </a:p>
        </p:txBody>
      </p:sp>
      <p:pic>
        <p:nvPicPr>
          <p:cNvPr descr="pic15.jpeg" id="445" name="Google Shape;445;p47"/>
          <p:cNvPicPr preferRelativeResize="0"/>
          <p:nvPr/>
        </p:nvPicPr>
        <p:blipFill rotWithShape="1">
          <a:blip r:embed="rId3">
            <a:alphaModFix/>
          </a:blip>
          <a:srcRect b="0" l="0" r="0" t="0"/>
          <a:stretch/>
        </p:blipFill>
        <p:spPr>
          <a:xfrm>
            <a:off x="1754385" y="3664135"/>
            <a:ext cx="5202928" cy="30404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8"/>
          <p:cNvSpPr txBox="1"/>
          <p:nvPr>
            <p:ph type="title"/>
          </p:nvPr>
        </p:nvSpPr>
        <p:spPr>
          <a:xfrm>
            <a:off x="539524" y="583325"/>
            <a:ext cx="63477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Digital Ecosystems</a:t>
            </a:r>
            <a:endParaRPr/>
          </a:p>
        </p:txBody>
      </p:sp>
      <p:sp>
        <p:nvSpPr>
          <p:cNvPr id="451" name="Google Shape;451;p48"/>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The emerging wave of </a:t>
            </a:r>
            <a:r>
              <a:rPr i="1" lang="en-US"/>
              <a:t>digital ecosystems</a:t>
            </a:r>
            <a:r>
              <a:rPr lang="en-US"/>
              <a:t> is about the larger wholes of pervasive and interrelated technologies that interactive mobile systems are increasingly becoming a part of</a:t>
            </a:r>
            <a:endParaRPr/>
          </a:p>
        </p:txBody>
      </p:sp>
      <p:pic>
        <p:nvPicPr>
          <p:cNvPr descr="pic16.jpeg" id="452" name="Google Shape;452;p48"/>
          <p:cNvPicPr preferRelativeResize="0"/>
          <p:nvPr/>
        </p:nvPicPr>
        <p:blipFill rotWithShape="1">
          <a:blip r:embed="rId3">
            <a:alphaModFix/>
          </a:blip>
          <a:srcRect b="0" l="0" r="0" t="0"/>
          <a:stretch/>
        </p:blipFill>
        <p:spPr>
          <a:xfrm>
            <a:off x="2223738" y="4039305"/>
            <a:ext cx="4741577" cy="20245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9"/>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Example: Smartphone</a:t>
            </a:r>
            <a:endParaRPr/>
          </a:p>
        </p:txBody>
      </p:sp>
      <p:sp>
        <p:nvSpPr>
          <p:cNvPr id="458" name="Google Shape;458;p49"/>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Portability: carry it anywhere you want</a:t>
            </a:r>
            <a:endParaRPr/>
          </a:p>
          <a:p>
            <a:pPr indent="-342900" lvl="0" marL="342900" rtl="0" algn="l">
              <a:spcBef>
                <a:spcPts val="1000"/>
              </a:spcBef>
              <a:spcAft>
                <a:spcPts val="0"/>
              </a:spcAft>
              <a:buSzPts val="1440"/>
              <a:buChar char="►"/>
            </a:pPr>
            <a:r>
              <a:rPr lang="en-US"/>
              <a:t>Miniaturization: make it possible to build device to fit in your pocket</a:t>
            </a:r>
            <a:endParaRPr/>
          </a:p>
          <a:p>
            <a:pPr indent="-342900" lvl="0" marL="342900" rtl="0" algn="l">
              <a:spcBef>
                <a:spcPts val="1000"/>
              </a:spcBef>
              <a:spcAft>
                <a:spcPts val="0"/>
              </a:spcAft>
              <a:buSzPts val="1440"/>
              <a:buChar char="►"/>
            </a:pPr>
            <a:r>
              <a:rPr lang="en-US"/>
              <a:t>Connectivity: Wi-Fi, LTE/4G, cellular, Bluetooth</a:t>
            </a:r>
            <a:endParaRPr/>
          </a:p>
          <a:p>
            <a:pPr indent="-342900" lvl="0" marL="342900" rtl="0" algn="l">
              <a:spcBef>
                <a:spcPts val="1000"/>
              </a:spcBef>
              <a:spcAft>
                <a:spcPts val="0"/>
              </a:spcAft>
              <a:buSzPts val="1440"/>
              <a:buChar char="►"/>
            </a:pPr>
            <a:r>
              <a:rPr lang="en-US"/>
              <a:t>Convergence: phone, camera, gaming device, movie streaming, music player, …</a:t>
            </a:r>
            <a:endParaRPr/>
          </a:p>
          <a:p>
            <a:pPr indent="-342900" lvl="0" marL="342900" rtl="0" algn="l">
              <a:spcBef>
                <a:spcPts val="1000"/>
              </a:spcBef>
              <a:spcAft>
                <a:spcPts val="0"/>
              </a:spcAft>
              <a:buSzPts val="1440"/>
              <a:buChar char="►"/>
            </a:pPr>
            <a:r>
              <a:rPr lang="en-US"/>
              <a:t>Applications: “Rise of the Apps”</a:t>
            </a:r>
            <a:endParaRPr/>
          </a:p>
          <a:p>
            <a:pPr indent="-342900" lvl="0" marL="342900" rtl="0" algn="l">
              <a:spcBef>
                <a:spcPts val="1000"/>
              </a:spcBef>
              <a:spcAft>
                <a:spcPts val="0"/>
              </a:spcAft>
              <a:buSzPts val="1440"/>
              <a:buChar char="►"/>
            </a:pPr>
            <a:r>
              <a:rPr lang="en-US"/>
              <a:t>Digital Ecosystem: social networks, distributed gaming, video streaming, work apps,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0"/>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 Store (iOS)</a:t>
            </a:r>
            <a:endParaRPr/>
          </a:p>
        </p:txBody>
      </p:sp>
      <p:sp>
        <p:nvSpPr>
          <p:cNvPr id="464" name="Google Shape;464;p50"/>
          <p:cNvSpPr txBox="1"/>
          <p:nvPr>
            <p:ph idx="1" type="body"/>
          </p:nvPr>
        </p:nvSpPr>
        <p:spPr>
          <a:xfrm>
            <a:off x="609599" y="2160590"/>
            <a:ext cx="634771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2003: iTunes Music Store</a:t>
            </a:r>
            <a:endParaRPr/>
          </a:p>
          <a:p>
            <a:pPr indent="-342900" lvl="0" marL="342900" rtl="0" algn="l">
              <a:spcBef>
                <a:spcPts val="1000"/>
              </a:spcBef>
              <a:spcAft>
                <a:spcPts val="0"/>
              </a:spcAft>
              <a:buSzPts val="1440"/>
              <a:buChar char="►"/>
            </a:pPr>
            <a:r>
              <a:rPr lang="en-US"/>
              <a:t>2008: iPhone App Store (iPhone 3G with App Store support)</a:t>
            </a:r>
            <a:endParaRPr/>
          </a:p>
          <a:p>
            <a:pPr indent="-342900" lvl="0" marL="342900" rtl="0" algn="l">
              <a:spcBef>
                <a:spcPts val="1000"/>
              </a:spcBef>
              <a:spcAft>
                <a:spcPts val="0"/>
              </a:spcAft>
              <a:buSzPts val="1440"/>
              <a:buChar char="►"/>
            </a:pPr>
            <a:r>
              <a:rPr lang="en-US"/>
              <a:t>2015: &gt; 100 billion app downloads</a:t>
            </a:r>
            <a:endParaRPr/>
          </a:p>
          <a:p>
            <a:pPr indent="-342900" lvl="0" marL="342900" rtl="0" algn="l">
              <a:spcBef>
                <a:spcPts val="1000"/>
              </a:spcBef>
              <a:spcAft>
                <a:spcPts val="0"/>
              </a:spcAft>
              <a:buSzPts val="1440"/>
              <a:buChar char="►"/>
            </a:pPr>
            <a:r>
              <a:rPr lang="en-US"/>
              <a:t>2016: &gt; 2 million apps</a:t>
            </a:r>
            <a:endParaRPr/>
          </a:p>
          <a:p>
            <a:pPr indent="-342900" lvl="0" marL="342900" rtl="0" algn="l">
              <a:spcBef>
                <a:spcPts val="1000"/>
              </a:spcBef>
              <a:spcAft>
                <a:spcPts val="0"/>
              </a:spcAft>
              <a:buSzPts val="1440"/>
              <a:buChar char="►"/>
            </a:pPr>
            <a:r>
              <a:rPr lang="en-US"/>
              <a:t>2016: China biggest App Store market</a:t>
            </a:r>
            <a:endParaRPr/>
          </a:p>
          <a:p>
            <a:pPr indent="-342900" lvl="0" marL="342900" rtl="0" algn="l">
              <a:spcBef>
                <a:spcPts val="1000"/>
              </a:spcBef>
              <a:spcAft>
                <a:spcPts val="0"/>
              </a:spcAft>
              <a:buSzPts val="1440"/>
              <a:buChar char="►"/>
            </a:pPr>
            <a:r>
              <a:rPr lang="en-US"/>
              <a:t>2016: App developers earned $20 billions</a:t>
            </a:r>
            <a:endParaRPr/>
          </a:p>
          <a:p>
            <a:pPr indent="-342900" lvl="0" marL="342900" rtl="0" algn="l">
              <a:spcBef>
                <a:spcPts val="1000"/>
              </a:spcBef>
              <a:spcAft>
                <a:spcPts val="0"/>
              </a:spcAft>
              <a:buSzPts val="1440"/>
              <a:buChar char="►"/>
            </a:pPr>
            <a:r>
              <a:rPr lang="en-US"/>
              <a:t>Most downloaded app: Minecraft Pocket Edition (paid) and Pokemon GO (free)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1"/>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Phone Subscribers</a:t>
            </a:r>
            <a:endParaRPr/>
          </a:p>
        </p:txBody>
      </p:sp>
      <p:pic>
        <p:nvPicPr>
          <p:cNvPr descr="GSMA-3.jpg" id="471" name="Google Shape;471;p51"/>
          <p:cNvPicPr preferRelativeResize="0"/>
          <p:nvPr/>
        </p:nvPicPr>
        <p:blipFill rotWithShape="1">
          <a:blip r:embed="rId3">
            <a:alphaModFix/>
          </a:blip>
          <a:srcRect b="0" l="0" r="0" t="0"/>
          <a:stretch/>
        </p:blipFill>
        <p:spPr>
          <a:xfrm>
            <a:off x="1354925" y="2071825"/>
            <a:ext cx="6125974" cy="46877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2"/>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Shopping</a:t>
            </a:r>
            <a:endParaRPr/>
          </a:p>
        </p:txBody>
      </p:sp>
      <p:pic>
        <p:nvPicPr>
          <p:cNvPr descr="smartphone-users-in-store.png" id="477" name="Google Shape;477;p52"/>
          <p:cNvPicPr preferRelativeResize="0"/>
          <p:nvPr/>
        </p:nvPicPr>
        <p:blipFill rotWithShape="1">
          <a:blip r:embed="rId3">
            <a:alphaModFix/>
          </a:blip>
          <a:srcRect b="0" l="0" r="0" t="0"/>
          <a:stretch/>
        </p:blipFill>
        <p:spPr>
          <a:xfrm>
            <a:off x="523880" y="1613292"/>
            <a:ext cx="5101669" cy="2550835"/>
          </a:xfrm>
          <a:prstGeom prst="rect">
            <a:avLst/>
          </a:prstGeom>
          <a:noFill/>
          <a:ln>
            <a:noFill/>
          </a:ln>
        </p:spPr>
      </p:pic>
      <p:pic>
        <p:nvPicPr>
          <p:cNvPr descr="b2b-mobile-research.jpg" id="478" name="Google Shape;478;p52"/>
          <p:cNvPicPr preferRelativeResize="0"/>
          <p:nvPr/>
        </p:nvPicPr>
        <p:blipFill rotWithShape="1">
          <a:blip r:embed="rId4">
            <a:alphaModFix/>
          </a:blip>
          <a:srcRect b="0" l="0" r="0" t="0"/>
          <a:stretch/>
        </p:blipFill>
        <p:spPr>
          <a:xfrm>
            <a:off x="4347786" y="4164126"/>
            <a:ext cx="4796213" cy="269387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3"/>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Wearables</a:t>
            </a:r>
            <a:endParaRPr/>
          </a:p>
        </p:txBody>
      </p:sp>
      <p:pic>
        <p:nvPicPr>
          <p:cNvPr descr="wearablesmarketforecast.png" id="484" name="Google Shape;484;p53"/>
          <p:cNvPicPr preferRelativeResize="0"/>
          <p:nvPr/>
        </p:nvPicPr>
        <p:blipFill rotWithShape="1">
          <a:blip r:embed="rId3">
            <a:alphaModFix/>
          </a:blip>
          <a:srcRect b="0" l="0" r="0" t="0"/>
          <a:stretch/>
        </p:blipFill>
        <p:spPr>
          <a:xfrm>
            <a:off x="1524000" y="1887088"/>
            <a:ext cx="6096000" cy="4572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4"/>
          <p:cNvSpPr txBox="1"/>
          <p:nvPr>
            <p:ph type="title"/>
          </p:nvPr>
        </p:nvSpPr>
        <p:spPr>
          <a:xfrm>
            <a:off x="609599" y="202400"/>
            <a:ext cx="63477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Smartwatches</a:t>
            </a:r>
            <a:endParaRPr/>
          </a:p>
        </p:txBody>
      </p:sp>
      <p:pic>
        <p:nvPicPr>
          <p:cNvPr descr="whynotbuythewatch.png" id="490" name="Google Shape;490;p54"/>
          <p:cNvPicPr preferRelativeResize="0"/>
          <p:nvPr/>
        </p:nvPicPr>
        <p:blipFill rotWithShape="1">
          <a:blip r:embed="rId3">
            <a:alphaModFix/>
          </a:blip>
          <a:srcRect b="0" l="0" r="0" t="0"/>
          <a:stretch/>
        </p:blipFill>
        <p:spPr>
          <a:xfrm>
            <a:off x="1881999" y="1631579"/>
            <a:ext cx="7112001" cy="53340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5"/>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Healthcare</a:t>
            </a:r>
            <a:endParaRPr/>
          </a:p>
        </p:txBody>
      </p:sp>
      <p:pic>
        <p:nvPicPr>
          <p:cNvPr descr="018adcb.jpg" id="496" name="Google Shape;496;p55"/>
          <p:cNvPicPr preferRelativeResize="0"/>
          <p:nvPr/>
        </p:nvPicPr>
        <p:blipFill rotWithShape="1">
          <a:blip r:embed="rId3">
            <a:alphaModFix/>
          </a:blip>
          <a:srcRect b="0" l="0" r="0" t="0"/>
          <a:stretch/>
        </p:blipFill>
        <p:spPr>
          <a:xfrm>
            <a:off x="1264868" y="1359199"/>
            <a:ext cx="7084542" cy="543927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Apps</a:t>
            </a:r>
            <a:endParaRPr/>
          </a:p>
        </p:txBody>
      </p:sp>
      <p:pic>
        <p:nvPicPr>
          <p:cNvPr descr="how-apps-are-used-crispycodes-graph.jpg" id="502" name="Google Shape;502;p56"/>
          <p:cNvPicPr preferRelativeResize="0"/>
          <p:nvPr/>
        </p:nvPicPr>
        <p:blipFill rotWithShape="1">
          <a:blip r:embed="rId3">
            <a:alphaModFix/>
          </a:blip>
          <a:srcRect b="0" l="0" r="0" t="0"/>
          <a:stretch/>
        </p:blipFill>
        <p:spPr>
          <a:xfrm>
            <a:off x="2087028" y="1357174"/>
            <a:ext cx="4969923" cy="496992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7"/>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Smartphone OS</a:t>
            </a:r>
            <a:endParaRPr/>
          </a:p>
        </p:txBody>
      </p:sp>
      <p:pic>
        <p:nvPicPr>
          <p:cNvPr descr="Smartphone-OS-market-share.png" id="508" name="Google Shape;508;p57"/>
          <p:cNvPicPr preferRelativeResize="0"/>
          <p:nvPr/>
        </p:nvPicPr>
        <p:blipFill rotWithShape="1">
          <a:blip r:embed="rId3">
            <a:alphaModFix/>
          </a:blip>
          <a:srcRect b="0" l="0" r="0" t="0"/>
          <a:stretch/>
        </p:blipFill>
        <p:spPr>
          <a:xfrm>
            <a:off x="635000" y="2217329"/>
            <a:ext cx="7874000" cy="37211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8"/>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Apps</a:t>
            </a:r>
            <a:endParaRPr/>
          </a:p>
        </p:txBody>
      </p:sp>
      <p:pic>
        <p:nvPicPr>
          <p:cNvPr descr="iOS_infographic.png" id="515" name="Google Shape;515;p58"/>
          <p:cNvPicPr preferRelativeResize="0"/>
          <p:nvPr/>
        </p:nvPicPr>
        <p:blipFill rotWithShape="1">
          <a:blip r:embed="rId3">
            <a:alphaModFix/>
          </a:blip>
          <a:srcRect b="0" l="0" r="0" t="0"/>
          <a:stretch/>
        </p:blipFill>
        <p:spPr>
          <a:xfrm>
            <a:off x="1258196" y="1414869"/>
            <a:ext cx="6709432" cy="533399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9"/>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Students</a:t>
            </a:r>
            <a:endParaRPr/>
          </a:p>
        </p:txBody>
      </p:sp>
      <p:pic>
        <p:nvPicPr>
          <p:cNvPr descr="stfig1.jpg" id="521" name="Google Shape;521;p59"/>
          <p:cNvPicPr preferRelativeResize="0"/>
          <p:nvPr/>
        </p:nvPicPr>
        <p:blipFill rotWithShape="1">
          <a:blip r:embed="rId3">
            <a:alphaModFix/>
          </a:blip>
          <a:srcRect b="0" l="0" r="0" t="0"/>
          <a:stretch/>
        </p:blipFill>
        <p:spPr>
          <a:xfrm>
            <a:off x="307540" y="1989047"/>
            <a:ext cx="8521700" cy="44577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0"/>
          <p:cNvSpPr txBox="1"/>
          <p:nvPr>
            <p:ph type="title"/>
          </p:nvPr>
        </p:nvSpPr>
        <p:spPr>
          <a:xfrm>
            <a:off x="609599" y="609600"/>
            <a:ext cx="6347713"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Trends in Mobile: Students</a:t>
            </a:r>
            <a:endParaRPr/>
          </a:p>
        </p:txBody>
      </p:sp>
      <p:pic>
        <p:nvPicPr>
          <p:cNvPr descr="stfig2.jpg" id="527" name="Google Shape;527;p60"/>
          <p:cNvPicPr preferRelativeResize="0"/>
          <p:nvPr/>
        </p:nvPicPr>
        <p:blipFill rotWithShape="1">
          <a:blip r:embed="rId3">
            <a:alphaModFix/>
          </a:blip>
          <a:srcRect b="0" l="0" r="0" t="0"/>
          <a:stretch/>
        </p:blipFill>
        <p:spPr>
          <a:xfrm>
            <a:off x="0" y="1441112"/>
            <a:ext cx="6255414" cy="5156366"/>
          </a:xfrm>
          <a:prstGeom prst="rect">
            <a:avLst/>
          </a:prstGeom>
          <a:noFill/>
          <a:ln>
            <a:noFill/>
          </a:ln>
        </p:spPr>
      </p:pic>
      <p:pic>
        <p:nvPicPr>
          <p:cNvPr descr="stfig3.jpg" id="528" name="Google Shape;528;p60"/>
          <p:cNvPicPr preferRelativeResize="0"/>
          <p:nvPr/>
        </p:nvPicPr>
        <p:blipFill rotWithShape="1">
          <a:blip r:embed="rId4">
            <a:alphaModFix/>
          </a:blip>
          <a:srcRect b="0" l="0" r="0" t="0"/>
          <a:stretch/>
        </p:blipFill>
        <p:spPr>
          <a:xfrm>
            <a:off x="6255414" y="1315160"/>
            <a:ext cx="2882508" cy="1291935"/>
          </a:xfrm>
          <a:prstGeom prst="rect">
            <a:avLst/>
          </a:prstGeom>
          <a:noFill/>
          <a:ln>
            <a:noFill/>
          </a:ln>
        </p:spPr>
      </p:pic>
      <p:pic>
        <p:nvPicPr>
          <p:cNvPr descr="stfig4.jpg" id="529" name="Google Shape;529;p60"/>
          <p:cNvPicPr preferRelativeResize="0"/>
          <p:nvPr/>
        </p:nvPicPr>
        <p:blipFill rotWithShape="1">
          <a:blip r:embed="rId5">
            <a:alphaModFix/>
          </a:blip>
          <a:srcRect b="0" l="0" r="0" t="0"/>
          <a:stretch/>
        </p:blipFill>
        <p:spPr>
          <a:xfrm>
            <a:off x="6583452" y="3175267"/>
            <a:ext cx="2269522" cy="35594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2014-03-08T16:06:28Z</dcterms:created>
  <dc:creator>Christian Poellabauer</dc:creator>
</cp:coreProperties>
</file>