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6" roundtripDataSignature="AMtx7mjUW5w1ul1+J+VIgweZoDf4AnerW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A92B287-9402-450F-9BE6-3FBAE5D3E32A}">
  <a:tblStyle styleId="{3A92B287-9402-450F-9BE6-3FBAE5D3E32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customschemas.google.com/relationships/presentationmetadata" Target="metadata"/><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2" name="Shape 22"/>
        <p:cNvGrpSpPr/>
        <p:nvPr/>
      </p:nvGrpSpPr>
      <p:grpSpPr>
        <a:xfrm>
          <a:off x="0" y="0"/>
          <a:ext cx="0" cy="0"/>
          <a:chOff x="0" y="0"/>
          <a:chExt cx="0" cy="0"/>
        </a:xfrm>
      </p:grpSpPr>
      <p:grpSp>
        <p:nvGrpSpPr>
          <p:cNvPr id="23" name="Google Shape;23;p42"/>
          <p:cNvGrpSpPr/>
          <p:nvPr/>
        </p:nvGrpSpPr>
        <p:grpSpPr>
          <a:xfrm>
            <a:off x="0" y="-8467"/>
            <a:ext cx="12192000" cy="6866467"/>
            <a:chOff x="0" y="-8467"/>
            <a:chExt cx="12192000" cy="6866467"/>
          </a:xfrm>
        </p:grpSpPr>
        <p:sp>
          <p:nvSpPr>
            <p:cNvPr id="24" name="Google Shape;24;p42"/>
            <p:cNvSpPr/>
            <p:nvPr/>
          </p:nvSpPr>
          <p:spPr>
            <a:xfrm>
              <a:off x="0" y="-7862"/>
              <a:ext cx="863600" cy="5698067"/>
            </a:xfrm>
            <a:custGeom>
              <a:rect b="b" l="l" r="r" t="t"/>
              <a:pathLst>
                <a:path extrusionOk="0" h="5698067" w="863600">
                  <a:moveTo>
                    <a:pt x="0" y="8467"/>
                  </a:moveTo>
                  <a:lnTo>
                    <a:pt x="863600" y="0"/>
                  </a:lnTo>
                  <a:lnTo>
                    <a:pt x="863600" y="16934"/>
                  </a:lnTo>
                  <a:lnTo>
                    <a:pt x="0" y="5698067"/>
                  </a:lnTo>
                  <a:lnTo>
                    <a:pt x="0" y="8467"/>
                  </a:lnTo>
                  <a:close/>
                </a:path>
              </a:pathLst>
            </a:custGeom>
            <a:solidFill>
              <a:schemeClr val="accent1">
                <a:alpha val="69803"/>
              </a:schemeClr>
            </a:solidFill>
            <a:ln>
              <a:noFill/>
            </a:ln>
          </p:spPr>
        </p:sp>
        <p:cxnSp>
          <p:nvCxnSpPr>
            <p:cNvPr id="25" name="Google Shape;25;p42"/>
            <p:cNvCxnSpPr/>
            <p:nvPr/>
          </p:nvCxnSpPr>
          <p:spPr>
            <a:xfrm>
              <a:off x="9371012" y="0"/>
              <a:ext cx="1219200" cy="6858000"/>
            </a:xfrm>
            <a:prstGeom prst="straightConnector1">
              <a:avLst/>
            </a:prstGeom>
            <a:noFill/>
            <a:ln cap="flat" cmpd="sng" w="9525">
              <a:solidFill>
                <a:schemeClr val="accent1">
                  <a:alpha val="69803"/>
                </a:schemeClr>
              </a:solidFill>
              <a:prstDash val="solid"/>
              <a:round/>
              <a:headEnd len="sm" w="sm" type="none"/>
              <a:tailEnd len="sm" w="sm" type="none"/>
            </a:ln>
          </p:spPr>
        </p:cxnSp>
        <p:cxnSp>
          <p:nvCxnSpPr>
            <p:cNvPr id="26" name="Google Shape;26;p42"/>
            <p:cNvCxnSpPr/>
            <p:nvPr/>
          </p:nvCxnSpPr>
          <p:spPr>
            <a:xfrm flipH="1">
              <a:off x="7425267" y="3681413"/>
              <a:ext cx="4763558" cy="3176587"/>
            </a:xfrm>
            <a:prstGeom prst="straightConnector1">
              <a:avLst/>
            </a:prstGeom>
            <a:noFill/>
            <a:ln cap="flat" cmpd="sng" w="9525">
              <a:solidFill>
                <a:schemeClr val="accent1">
                  <a:alpha val="69803"/>
                </a:schemeClr>
              </a:solidFill>
              <a:prstDash val="solid"/>
              <a:round/>
              <a:headEnd len="sm" w="sm" type="none"/>
              <a:tailEnd len="sm" w="sm" type="none"/>
            </a:ln>
          </p:spPr>
        </p:cxnSp>
        <p:sp>
          <p:nvSpPr>
            <p:cNvPr id="27" name="Google Shape;27;p42"/>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5686"/>
              </a:schemeClr>
            </a:solidFill>
            <a:ln>
              <a:noFill/>
            </a:ln>
          </p:spPr>
        </p:sp>
        <p:sp>
          <p:nvSpPr>
            <p:cNvPr id="28" name="Google Shape;28;p42"/>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29" name="Google Shape;29;p42"/>
            <p:cNvSpPr/>
            <p:nvPr/>
          </p:nvSpPr>
          <p:spPr>
            <a:xfrm>
              <a:off x="8932333" y="3048000"/>
              <a:ext cx="3259667" cy="3810000"/>
            </a:xfrm>
            <a:prstGeom prst="triangle">
              <a:avLst>
                <a:gd fmla="val 100000" name="adj"/>
              </a:avLst>
            </a:prstGeom>
            <a:solidFill>
              <a:srgbClr val="0B5394">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2"/>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0B5394">
                <a:alpha val="49803"/>
              </a:srgbClr>
            </a:solidFill>
            <a:ln>
              <a:noFill/>
            </a:ln>
          </p:spPr>
        </p:sp>
        <p:sp>
          <p:nvSpPr>
            <p:cNvPr id="31" name="Google Shape;31;p42"/>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69803"/>
              </a:schemeClr>
            </a:solidFill>
            <a:ln>
              <a:noFill/>
            </a:ln>
          </p:spPr>
        </p:sp>
        <p:sp>
          <p:nvSpPr>
            <p:cNvPr id="32" name="Google Shape;32;p42"/>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0075A2">
                <a:alpha val="80000"/>
              </a:srgbClr>
            </a:solidFill>
            <a:ln>
              <a:noFill/>
            </a:ln>
          </p:spPr>
        </p:sp>
        <p:sp>
          <p:nvSpPr>
            <p:cNvPr id="33" name="Google Shape;33;p42"/>
            <p:cNvSpPr/>
            <p:nvPr/>
          </p:nvSpPr>
          <p:spPr>
            <a:xfrm>
              <a:off x="10371666" y="3589867"/>
              <a:ext cx="1817159" cy="3268133"/>
            </a:xfrm>
            <a:prstGeom prst="triangle">
              <a:avLst>
                <a:gd fmla="val 100000" name="adj"/>
              </a:avLst>
            </a:prstGeom>
            <a:solidFill>
              <a:srgbClr val="0B5394">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42"/>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2"/>
          <p:cNvSpPr txBox="1"/>
          <p:nvPr>
            <p:ph idx="1" type="subTitle"/>
          </p:nvPr>
        </p:nvSpPr>
        <p:spPr>
          <a:xfrm>
            <a:off x="1507067" y="4050835"/>
            <a:ext cx="7766936" cy="1096899"/>
          </a:xfrm>
          <a:prstGeom prst="rect">
            <a:avLst/>
          </a:prstGeom>
          <a:noFill/>
          <a:ln>
            <a:noFill/>
          </a:ln>
        </p:spPr>
        <p:txBody>
          <a:bodyPr anchorCtr="0" anchor="t" bIns="45700" lIns="91425" spcFirstLastPara="1" rIns="91425" wrap="square" tIns="4570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36" name="Google Shape;36;p42"/>
          <p:cNvSpPr txBox="1"/>
          <p:nvPr>
            <p:ph idx="10" type="dt"/>
          </p:nvPr>
        </p:nvSpPr>
        <p:spPr>
          <a:xfrm>
            <a:off x="7205133" y="6041364"/>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2"/>
          <p:cNvSpPr txBox="1"/>
          <p:nvPr>
            <p:ph idx="11" type="ftr"/>
          </p:nvPr>
        </p:nvSpPr>
        <p:spPr>
          <a:xfrm>
            <a:off x="677335" y="6041364"/>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2"/>
          <p:cNvSpPr txBox="1"/>
          <p:nvPr>
            <p:ph idx="12" type="sldNum"/>
          </p:nvPr>
        </p:nvSpPr>
        <p:spPr>
          <a:xfrm>
            <a:off x="8590664" y="6041364"/>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9" name="Shape 39"/>
        <p:cNvGrpSpPr/>
        <p:nvPr/>
      </p:nvGrpSpPr>
      <p:grpSpPr>
        <a:xfrm>
          <a:off x="0" y="0"/>
          <a:ext cx="0" cy="0"/>
          <a:chOff x="0" y="0"/>
          <a:chExt cx="0" cy="0"/>
        </a:xfrm>
      </p:grpSpPr>
      <p:sp>
        <p:nvSpPr>
          <p:cNvPr id="40" name="Google Shape;40;p43"/>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43"/>
          <p:cNvSpPr txBox="1"/>
          <p:nvPr>
            <p:ph idx="1" type="body"/>
          </p:nvPr>
        </p:nvSpPr>
        <p:spPr>
          <a:xfrm>
            <a:off x="677335" y="2160590"/>
            <a:ext cx="8596668"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42" name="Google Shape;42;p43"/>
          <p:cNvSpPr txBox="1"/>
          <p:nvPr>
            <p:ph idx="10" type="dt"/>
          </p:nvPr>
        </p:nvSpPr>
        <p:spPr>
          <a:xfrm>
            <a:off x="7205133" y="6041364"/>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3"/>
          <p:cNvSpPr txBox="1"/>
          <p:nvPr>
            <p:ph idx="11" type="ftr"/>
          </p:nvPr>
        </p:nvSpPr>
        <p:spPr>
          <a:xfrm>
            <a:off x="677335" y="6041364"/>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43"/>
          <p:cNvSpPr txBox="1"/>
          <p:nvPr>
            <p:ph idx="12" type="sldNum"/>
          </p:nvPr>
        </p:nvSpPr>
        <p:spPr>
          <a:xfrm>
            <a:off x="8590664" y="6041364"/>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5" name="Shape 45"/>
        <p:cNvGrpSpPr/>
        <p:nvPr/>
      </p:nvGrpSpPr>
      <p:grpSpPr>
        <a:xfrm>
          <a:off x="0" y="0"/>
          <a:ext cx="0" cy="0"/>
          <a:chOff x="0" y="0"/>
          <a:chExt cx="0" cy="0"/>
        </a:xfrm>
      </p:grpSpPr>
      <p:sp>
        <p:nvSpPr>
          <p:cNvPr id="46" name="Google Shape;46;p44"/>
          <p:cNvSpPr txBox="1"/>
          <p:nvPr>
            <p:ph type="title"/>
          </p:nvPr>
        </p:nvSpPr>
        <p:spPr>
          <a:xfrm>
            <a:off x="677335" y="2700869"/>
            <a:ext cx="8596668" cy="18265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Trebuchet MS"/>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4"/>
          <p:cNvSpPr txBox="1"/>
          <p:nvPr>
            <p:ph idx="1" type="body"/>
          </p:nvPr>
        </p:nvSpPr>
        <p:spPr>
          <a:xfrm>
            <a:off x="677335" y="4527448"/>
            <a:ext cx="85966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48" name="Google Shape;48;p44"/>
          <p:cNvSpPr txBox="1"/>
          <p:nvPr>
            <p:ph idx="10" type="dt"/>
          </p:nvPr>
        </p:nvSpPr>
        <p:spPr>
          <a:xfrm>
            <a:off x="7205133" y="6041364"/>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4"/>
          <p:cNvSpPr txBox="1"/>
          <p:nvPr>
            <p:ph idx="11" type="ftr"/>
          </p:nvPr>
        </p:nvSpPr>
        <p:spPr>
          <a:xfrm>
            <a:off x="677335" y="6041364"/>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44"/>
          <p:cNvSpPr txBox="1"/>
          <p:nvPr>
            <p:ph idx="12" type="sldNum"/>
          </p:nvPr>
        </p:nvSpPr>
        <p:spPr>
          <a:xfrm>
            <a:off x="8590664" y="6041364"/>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1" name="Shape 51"/>
        <p:cNvGrpSpPr/>
        <p:nvPr/>
      </p:nvGrpSpPr>
      <p:grpSpPr>
        <a:xfrm>
          <a:off x="0" y="0"/>
          <a:ext cx="0" cy="0"/>
          <a:chOff x="0" y="0"/>
          <a:chExt cx="0" cy="0"/>
        </a:xfrm>
      </p:grpSpPr>
      <p:sp>
        <p:nvSpPr>
          <p:cNvPr id="52" name="Google Shape;52;p45"/>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5"/>
          <p:cNvSpPr txBox="1"/>
          <p:nvPr>
            <p:ph idx="1" type="body"/>
          </p:nvPr>
        </p:nvSpPr>
        <p:spPr>
          <a:xfrm>
            <a:off x="677335" y="2160589"/>
            <a:ext cx="4184035" cy="388077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4" name="Google Shape;54;p45"/>
          <p:cNvSpPr txBox="1"/>
          <p:nvPr>
            <p:ph idx="2" type="body"/>
          </p:nvPr>
        </p:nvSpPr>
        <p:spPr>
          <a:xfrm>
            <a:off x="5089969" y="2160590"/>
            <a:ext cx="4184035"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5" name="Google Shape;55;p45"/>
          <p:cNvSpPr txBox="1"/>
          <p:nvPr>
            <p:ph idx="10" type="dt"/>
          </p:nvPr>
        </p:nvSpPr>
        <p:spPr>
          <a:xfrm>
            <a:off x="7205133" y="6041364"/>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5"/>
          <p:cNvSpPr txBox="1"/>
          <p:nvPr>
            <p:ph idx="11" type="ftr"/>
          </p:nvPr>
        </p:nvSpPr>
        <p:spPr>
          <a:xfrm>
            <a:off x="677335" y="6041364"/>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5"/>
          <p:cNvSpPr txBox="1"/>
          <p:nvPr>
            <p:ph idx="12" type="sldNum"/>
          </p:nvPr>
        </p:nvSpPr>
        <p:spPr>
          <a:xfrm>
            <a:off x="8590664" y="6041364"/>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8" name="Shape 58"/>
        <p:cNvGrpSpPr/>
        <p:nvPr/>
      </p:nvGrpSpPr>
      <p:grpSpPr>
        <a:xfrm>
          <a:off x="0" y="0"/>
          <a:ext cx="0" cy="0"/>
          <a:chOff x="0" y="0"/>
          <a:chExt cx="0" cy="0"/>
        </a:xfrm>
      </p:grpSpPr>
      <p:sp>
        <p:nvSpPr>
          <p:cNvPr id="59" name="Google Shape;59;p46"/>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6"/>
          <p:cNvSpPr txBox="1"/>
          <p:nvPr>
            <p:ph idx="1" type="body"/>
          </p:nvPr>
        </p:nvSpPr>
        <p:spPr>
          <a:xfrm>
            <a:off x="675746" y="2160983"/>
            <a:ext cx="418562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61" name="Google Shape;61;p46"/>
          <p:cNvSpPr txBox="1"/>
          <p:nvPr>
            <p:ph idx="2" type="body"/>
          </p:nvPr>
        </p:nvSpPr>
        <p:spPr>
          <a:xfrm>
            <a:off x="675746" y="2737247"/>
            <a:ext cx="4185623"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2" name="Google Shape;62;p46"/>
          <p:cNvSpPr txBox="1"/>
          <p:nvPr>
            <p:ph idx="3" type="body"/>
          </p:nvPr>
        </p:nvSpPr>
        <p:spPr>
          <a:xfrm>
            <a:off x="5088383" y="2160983"/>
            <a:ext cx="4185619"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63" name="Google Shape;63;p46"/>
          <p:cNvSpPr txBox="1"/>
          <p:nvPr>
            <p:ph idx="4" type="body"/>
          </p:nvPr>
        </p:nvSpPr>
        <p:spPr>
          <a:xfrm>
            <a:off x="5088385" y="2737247"/>
            <a:ext cx="4185617"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4" name="Google Shape;64;p46"/>
          <p:cNvSpPr txBox="1"/>
          <p:nvPr>
            <p:ph idx="10" type="dt"/>
          </p:nvPr>
        </p:nvSpPr>
        <p:spPr>
          <a:xfrm>
            <a:off x="7205133" y="6041364"/>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46"/>
          <p:cNvSpPr txBox="1"/>
          <p:nvPr>
            <p:ph idx="11" type="ftr"/>
          </p:nvPr>
        </p:nvSpPr>
        <p:spPr>
          <a:xfrm>
            <a:off x="677335" y="6041364"/>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6"/>
          <p:cNvSpPr txBox="1"/>
          <p:nvPr>
            <p:ph idx="12" type="sldNum"/>
          </p:nvPr>
        </p:nvSpPr>
        <p:spPr>
          <a:xfrm>
            <a:off x="8590664" y="6041364"/>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 name="Shape 67"/>
        <p:cNvGrpSpPr/>
        <p:nvPr/>
      </p:nvGrpSpPr>
      <p:grpSpPr>
        <a:xfrm>
          <a:off x="0" y="0"/>
          <a:ext cx="0" cy="0"/>
          <a:chOff x="0" y="0"/>
          <a:chExt cx="0" cy="0"/>
        </a:xfrm>
      </p:grpSpPr>
      <p:sp>
        <p:nvSpPr>
          <p:cNvPr id="68" name="Google Shape;68;p47"/>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47"/>
          <p:cNvSpPr txBox="1"/>
          <p:nvPr>
            <p:ph idx="10" type="dt"/>
          </p:nvPr>
        </p:nvSpPr>
        <p:spPr>
          <a:xfrm>
            <a:off x="7205133" y="6041364"/>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7"/>
          <p:cNvSpPr txBox="1"/>
          <p:nvPr>
            <p:ph idx="11" type="ftr"/>
          </p:nvPr>
        </p:nvSpPr>
        <p:spPr>
          <a:xfrm>
            <a:off x="677335" y="6041364"/>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7"/>
          <p:cNvSpPr txBox="1"/>
          <p:nvPr>
            <p:ph idx="12" type="sldNum"/>
          </p:nvPr>
        </p:nvSpPr>
        <p:spPr>
          <a:xfrm>
            <a:off x="8590664" y="6041364"/>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2" name="Shape 72"/>
        <p:cNvGrpSpPr/>
        <p:nvPr/>
      </p:nvGrpSpPr>
      <p:grpSpPr>
        <a:xfrm>
          <a:off x="0" y="0"/>
          <a:ext cx="0" cy="0"/>
          <a:chOff x="0" y="0"/>
          <a:chExt cx="0" cy="0"/>
        </a:xfrm>
      </p:grpSpPr>
      <p:sp>
        <p:nvSpPr>
          <p:cNvPr id="73" name="Google Shape;73;p48"/>
          <p:cNvSpPr txBox="1"/>
          <p:nvPr>
            <p:ph idx="10" type="dt"/>
          </p:nvPr>
        </p:nvSpPr>
        <p:spPr>
          <a:xfrm>
            <a:off x="7205133" y="6041364"/>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48"/>
          <p:cNvSpPr txBox="1"/>
          <p:nvPr>
            <p:ph idx="11" type="ftr"/>
          </p:nvPr>
        </p:nvSpPr>
        <p:spPr>
          <a:xfrm>
            <a:off x="677335" y="6041364"/>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48"/>
          <p:cNvSpPr txBox="1"/>
          <p:nvPr>
            <p:ph idx="12" type="sldNum"/>
          </p:nvPr>
        </p:nvSpPr>
        <p:spPr>
          <a:xfrm>
            <a:off x="8590664" y="6041364"/>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6" name="Shape 76"/>
        <p:cNvGrpSpPr/>
        <p:nvPr/>
      </p:nvGrpSpPr>
      <p:grpSpPr>
        <a:xfrm>
          <a:off x="0" y="0"/>
          <a:ext cx="0" cy="0"/>
          <a:chOff x="0" y="0"/>
          <a:chExt cx="0" cy="0"/>
        </a:xfrm>
      </p:grpSpPr>
      <p:sp>
        <p:nvSpPr>
          <p:cNvPr id="77" name="Google Shape;77;p49"/>
          <p:cNvSpPr txBox="1"/>
          <p:nvPr>
            <p:ph type="title"/>
          </p:nvPr>
        </p:nvSpPr>
        <p:spPr>
          <a:xfrm>
            <a:off x="677335" y="1498604"/>
            <a:ext cx="3854528" cy="12784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9"/>
          <p:cNvSpPr txBox="1"/>
          <p:nvPr>
            <p:ph idx="1" type="body"/>
          </p:nvPr>
        </p:nvSpPr>
        <p:spPr>
          <a:xfrm>
            <a:off x="4760462" y="514926"/>
            <a:ext cx="4513541" cy="552643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79" name="Google Shape;79;p49"/>
          <p:cNvSpPr txBox="1"/>
          <p:nvPr>
            <p:ph idx="2" type="body"/>
          </p:nvPr>
        </p:nvSpPr>
        <p:spPr>
          <a:xfrm>
            <a:off x="677335" y="2777069"/>
            <a:ext cx="3854528" cy="258444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1120"/>
              <a:buNone/>
              <a:defRPr sz="1400"/>
            </a:lvl2pPr>
            <a:lvl3pPr indent="-228600" lvl="2" marL="1371600" algn="l">
              <a:spcBef>
                <a:spcPts val="1000"/>
              </a:spcBef>
              <a:spcAft>
                <a:spcPts val="0"/>
              </a:spcAft>
              <a:buSzPts val="960"/>
              <a:buNone/>
              <a:defRPr sz="1200"/>
            </a:lvl3pPr>
            <a:lvl4pPr indent="-228600" lvl="3" marL="1828800" algn="l">
              <a:spcBef>
                <a:spcPts val="1000"/>
              </a:spcBef>
              <a:spcAft>
                <a:spcPts val="0"/>
              </a:spcAft>
              <a:buSzPts val="800"/>
              <a:buNone/>
              <a:defRPr sz="1000"/>
            </a:lvl4pPr>
            <a:lvl5pPr indent="-228600" lvl="4" marL="2286000" algn="l">
              <a:spcBef>
                <a:spcPts val="1000"/>
              </a:spcBef>
              <a:spcAft>
                <a:spcPts val="0"/>
              </a:spcAft>
              <a:buSzPts val="800"/>
              <a:buNone/>
              <a:defRPr sz="1000"/>
            </a:lvl5pPr>
            <a:lvl6pPr indent="-228600" lvl="5" marL="2743200" algn="l">
              <a:spcBef>
                <a:spcPts val="1000"/>
              </a:spcBef>
              <a:spcAft>
                <a:spcPts val="0"/>
              </a:spcAft>
              <a:buSzPts val="800"/>
              <a:buNone/>
              <a:defRPr sz="1000"/>
            </a:lvl6pPr>
            <a:lvl7pPr indent="-228600" lvl="6" marL="3200400" algn="l">
              <a:spcBef>
                <a:spcPts val="1000"/>
              </a:spcBef>
              <a:spcAft>
                <a:spcPts val="0"/>
              </a:spcAft>
              <a:buSzPts val="800"/>
              <a:buNone/>
              <a:defRPr sz="1000"/>
            </a:lvl7pPr>
            <a:lvl8pPr indent="-228600" lvl="7" marL="3657600" algn="l">
              <a:spcBef>
                <a:spcPts val="1000"/>
              </a:spcBef>
              <a:spcAft>
                <a:spcPts val="0"/>
              </a:spcAft>
              <a:buSzPts val="800"/>
              <a:buNone/>
              <a:defRPr sz="1000"/>
            </a:lvl8pPr>
            <a:lvl9pPr indent="-228600" lvl="8" marL="4114800" algn="l">
              <a:spcBef>
                <a:spcPts val="1000"/>
              </a:spcBef>
              <a:spcAft>
                <a:spcPts val="0"/>
              </a:spcAft>
              <a:buSzPts val="800"/>
              <a:buNone/>
              <a:defRPr sz="1000"/>
            </a:lvl9pPr>
          </a:lstStyle>
          <a:p/>
        </p:txBody>
      </p:sp>
      <p:sp>
        <p:nvSpPr>
          <p:cNvPr id="80" name="Google Shape;80;p49"/>
          <p:cNvSpPr txBox="1"/>
          <p:nvPr>
            <p:ph idx="10" type="dt"/>
          </p:nvPr>
        </p:nvSpPr>
        <p:spPr>
          <a:xfrm>
            <a:off x="7205133" y="6041364"/>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49"/>
          <p:cNvSpPr txBox="1"/>
          <p:nvPr>
            <p:ph idx="11" type="ftr"/>
          </p:nvPr>
        </p:nvSpPr>
        <p:spPr>
          <a:xfrm>
            <a:off x="677335" y="6041364"/>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9"/>
          <p:cNvSpPr txBox="1"/>
          <p:nvPr>
            <p:ph idx="12" type="sldNum"/>
          </p:nvPr>
        </p:nvSpPr>
        <p:spPr>
          <a:xfrm>
            <a:off x="8590664" y="6041364"/>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3" name="Shape 83"/>
        <p:cNvGrpSpPr/>
        <p:nvPr/>
      </p:nvGrpSpPr>
      <p:grpSpPr>
        <a:xfrm>
          <a:off x="0" y="0"/>
          <a:ext cx="0" cy="0"/>
          <a:chOff x="0" y="0"/>
          <a:chExt cx="0" cy="0"/>
        </a:xfrm>
      </p:grpSpPr>
      <p:sp>
        <p:nvSpPr>
          <p:cNvPr id="84" name="Google Shape;84;p50"/>
          <p:cNvSpPr txBox="1"/>
          <p:nvPr>
            <p:ph type="title"/>
          </p:nvPr>
        </p:nvSpPr>
        <p:spPr>
          <a:xfrm>
            <a:off x="677335" y="4800600"/>
            <a:ext cx="859666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Trebuchet MS"/>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50"/>
          <p:cNvSpPr/>
          <p:nvPr>
            <p:ph idx="2" type="pic"/>
          </p:nvPr>
        </p:nvSpPr>
        <p:spPr>
          <a:xfrm>
            <a:off x="677335" y="609600"/>
            <a:ext cx="8596668" cy="3845718"/>
          </a:xfrm>
          <a:prstGeom prst="rect">
            <a:avLst/>
          </a:prstGeom>
          <a:noFill/>
          <a:ln>
            <a:noFill/>
          </a:ln>
        </p:spPr>
      </p:sp>
      <p:sp>
        <p:nvSpPr>
          <p:cNvPr id="86" name="Google Shape;86;p50"/>
          <p:cNvSpPr txBox="1"/>
          <p:nvPr>
            <p:ph idx="1" type="body"/>
          </p:nvPr>
        </p:nvSpPr>
        <p:spPr>
          <a:xfrm>
            <a:off x="677335" y="5367338"/>
            <a:ext cx="8596667" cy="67402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87" name="Google Shape;87;p50"/>
          <p:cNvSpPr txBox="1"/>
          <p:nvPr>
            <p:ph idx="11" type="ftr"/>
          </p:nvPr>
        </p:nvSpPr>
        <p:spPr>
          <a:xfrm>
            <a:off x="677335" y="6041364"/>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50"/>
          <p:cNvSpPr txBox="1"/>
          <p:nvPr>
            <p:ph idx="12" type="sldNum"/>
          </p:nvPr>
        </p:nvSpPr>
        <p:spPr>
          <a:xfrm>
            <a:off x="8590664" y="6041364"/>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9" name="Google Shape;89;p50"/>
          <p:cNvSpPr txBox="1"/>
          <p:nvPr>
            <p:ph idx="10" type="dt"/>
          </p:nvPr>
        </p:nvSpPr>
        <p:spPr>
          <a:xfrm>
            <a:off x="7205133" y="6041364"/>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0" name="Shape 90"/>
        <p:cNvGrpSpPr/>
        <p:nvPr/>
      </p:nvGrpSpPr>
      <p:grpSpPr>
        <a:xfrm>
          <a:off x="0" y="0"/>
          <a:ext cx="0" cy="0"/>
          <a:chOff x="0" y="0"/>
          <a:chExt cx="0" cy="0"/>
        </a:xfrm>
      </p:grpSpPr>
      <p:sp>
        <p:nvSpPr>
          <p:cNvPr id="91" name="Google Shape;91;p51"/>
          <p:cNvSpPr txBox="1"/>
          <p:nvPr>
            <p:ph type="title"/>
          </p:nvPr>
        </p:nvSpPr>
        <p:spPr>
          <a:xfrm>
            <a:off x="677335" y="609600"/>
            <a:ext cx="8596668" cy="3403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51"/>
          <p:cNvSpPr txBox="1"/>
          <p:nvPr>
            <p:ph idx="1"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3" name="Google Shape;93;p51"/>
          <p:cNvSpPr txBox="1"/>
          <p:nvPr>
            <p:ph idx="10" type="dt"/>
          </p:nvPr>
        </p:nvSpPr>
        <p:spPr>
          <a:xfrm>
            <a:off x="7205133" y="6041364"/>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51"/>
          <p:cNvSpPr txBox="1"/>
          <p:nvPr>
            <p:ph idx="11" type="ftr"/>
          </p:nvPr>
        </p:nvSpPr>
        <p:spPr>
          <a:xfrm>
            <a:off x="677335" y="6041364"/>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51"/>
          <p:cNvSpPr txBox="1"/>
          <p:nvPr>
            <p:ph idx="12" type="sldNum"/>
          </p:nvPr>
        </p:nvSpPr>
        <p:spPr>
          <a:xfrm>
            <a:off x="8590664" y="6041364"/>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6" name="Shape 96"/>
        <p:cNvGrpSpPr/>
        <p:nvPr/>
      </p:nvGrpSpPr>
      <p:grpSpPr>
        <a:xfrm>
          <a:off x="0" y="0"/>
          <a:ext cx="0" cy="0"/>
          <a:chOff x="0" y="0"/>
          <a:chExt cx="0" cy="0"/>
        </a:xfrm>
      </p:grpSpPr>
      <p:sp>
        <p:nvSpPr>
          <p:cNvPr id="97" name="Google Shape;97;p52"/>
          <p:cNvSpPr txBox="1"/>
          <p:nvPr>
            <p:ph type="title"/>
          </p:nvPr>
        </p:nvSpPr>
        <p:spPr>
          <a:xfrm>
            <a:off x="931334" y="609600"/>
            <a:ext cx="8094135"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52"/>
          <p:cNvSpPr txBox="1"/>
          <p:nvPr>
            <p:ph idx="1" type="body"/>
          </p:nvPr>
        </p:nvSpPr>
        <p:spPr>
          <a:xfrm>
            <a:off x="1366139" y="3632200"/>
            <a:ext cx="722452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280"/>
              <a:buFont typeface="Trebuchet MS"/>
              <a:buNone/>
              <a:defRPr sz="1600">
                <a:solidFill>
                  <a:srgbClr val="7F7F7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99" name="Google Shape;99;p52"/>
          <p:cNvSpPr txBox="1"/>
          <p:nvPr>
            <p:ph idx="2"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00" name="Google Shape;100;p52"/>
          <p:cNvSpPr txBox="1"/>
          <p:nvPr>
            <p:ph idx="10" type="dt"/>
          </p:nvPr>
        </p:nvSpPr>
        <p:spPr>
          <a:xfrm>
            <a:off x="7205133" y="6041364"/>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52"/>
          <p:cNvSpPr txBox="1"/>
          <p:nvPr>
            <p:ph idx="11" type="ftr"/>
          </p:nvPr>
        </p:nvSpPr>
        <p:spPr>
          <a:xfrm>
            <a:off x="677335" y="6041364"/>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52"/>
          <p:cNvSpPr txBox="1"/>
          <p:nvPr>
            <p:ph idx="12" type="sldNum"/>
          </p:nvPr>
        </p:nvSpPr>
        <p:spPr>
          <a:xfrm>
            <a:off x="8590664" y="6041364"/>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3" name="Google Shape;103;p52"/>
          <p:cNvSpPr txBox="1"/>
          <p:nvPr/>
        </p:nvSpPr>
        <p:spPr>
          <a:xfrm>
            <a:off x="541871"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56A9F3"/>
                </a:solidFill>
                <a:latin typeface="Arial"/>
                <a:ea typeface="Arial"/>
                <a:cs typeface="Arial"/>
                <a:sym typeface="Arial"/>
              </a:rPr>
              <a:t>“</a:t>
            </a:r>
            <a:endParaRPr/>
          </a:p>
        </p:txBody>
      </p:sp>
      <p:sp>
        <p:nvSpPr>
          <p:cNvPr id="104" name="Google Shape;104;p52"/>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56A9F3"/>
                </a:solidFill>
                <a:latin typeface="Arial"/>
                <a:ea typeface="Arial"/>
                <a:cs typeface="Arial"/>
                <a:sym typeface="Arial"/>
              </a:rPr>
              <a:t>”</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5" name="Shape 105"/>
        <p:cNvGrpSpPr/>
        <p:nvPr/>
      </p:nvGrpSpPr>
      <p:grpSpPr>
        <a:xfrm>
          <a:off x="0" y="0"/>
          <a:ext cx="0" cy="0"/>
          <a:chOff x="0" y="0"/>
          <a:chExt cx="0" cy="0"/>
        </a:xfrm>
      </p:grpSpPr>
      <p:sp>
        <p:nvSpPr>
          <p:cNvPr id="106" name="Google Shape;106;p53"/>
          <p:cNvSpPr txBox="1"/>
          <p:nvPr>
            <p:ph type="title"/>
          </p:nvPr>
        </p:nvSpPr>
        <p:spPr>
          <a:xfrm>
            <a:off x="677335" y="1931988"/>
            <a:ext cx="8596668" cy="25954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53"/>
          <p:cNvSpPr txBox="1"/>
          <p:nvPr>
            <p:ph idx="1"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08" name="Google Shape;108;p53"/>
          <p:cNvSpPr txBox="1"/>
          <p:nvPr>
            <p:ph idx="10" type="dt"/>
          </p:nvPr>
        </p:nvSpPr>
        <p:spPr>
          <a:xfrm>
            <a:off x="7205133" y="6041364"/>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53"/>
          <p:cNvSpPr txBox="1"/>
          <p:nvPr>
            <p:ph idx="11" type="ftr"/>
          </p:nvPr>
        </p:nvSpPr>
        <p:spPr>
          <a:xfrm>
            <a:off x="677335" y="6041364"/>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53"/>
          <p:cNvSpPr txBox="1"/>
          <p:nvPr>
            <p:ph idx="12" type="sldNum"/>
          </p:nvPr>
        </p:nvSpPr>
        <p:spPr>
          <a:xfrm>
            <a:off x="8590664" y="6041364"/>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1" name="Shape 111"/>
        <p:cNvGrpSpPr/>
        <p:nvPr/>
      </p:nvGrpSpPr>
      <p:grpSpPr>
        <a:xfrm>
          <a:off x="0" y="0"/>
          <a:ext cx="0" cy="0"/>
          <a:chOff x="0" y="0"/>
          <a:chExt cx="0" cy="0"/>
        </a:xfrm>
      </p:grpSpPr>
      <p:sp>
        <p:nvSpPr>
          <p:cNvPr id="112" name="Google Shape;112;p54"/>
          <p:cNvSpPr txBox="1"/>
          <p:nvPr>
            <p:ph type="title"/>
          </p:nvPr>
        </p:nvSpPr>
        <p:spPr>
          <a:xfrm>
            <a:off x="931334" y="609600"/>
            <a:ext cx="8094135"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54"/>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rgbClr val="3F3F3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4" name="Google Shape;114;p54"/>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15" name="Google Shape;115;p54"/>
          <p:cNvSpPr txBox="1"/>
          <p:nvPr>
            <p:ph idx="10" type="dt"/>
          </p:nvPr>
        </p:nvSpPr>
        <p:spPr>
          <a:xfrm>
            <a:off x="7205133" y="6041364"/>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54"/>
          <p:cNvSpPr txBox="1"/>
          <p:nvPr>
            <p:ph idx="11" type="ftr"/>
          </p:nvPr>
        </p:nvSpPr>
        <p:spPr>
          <a:xfrm>
            <a:off x="677335" y="6041364"/>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54"/>
          <p:cNvSpPr txBox="1"/>
          <p:nvPr>
            <p:ph idx="12" type="sldNum"/>
          </p:nvPr>
        </p:nvSpPr>
        <p:spPr>
          <a:xfrm>
            <a:off x="8590664" y="6041364"/>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8" name="Google Shape;118;p54"/>
          <p:cNvSpPr txBox="1"/>
          <p:nvPr/>
        </p:nvSpPr>
        <p:spPr>
          <a:xfrm>
            <a:off x="541871"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56A9F3"/>
                </a:solidFill>
                <a:latin typeface="Arial"/>
                <a:ea typeface="Arial"/>
                <a:cs typeface="Arial"/>
                <a:sym typeface="Arial"/>
              </a:rPr>
              <a:t>“</a:t>
            </a:r>
            <a:endParaRPr/>
          </a:p>
        </p:txBody>
      </p:sp>
      <p:sp>
        <p:nvSpPr>
          <p:cNvPr id="119" name="Google Shape;119;p54"/>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56A9F3"/>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0" name="Shape 120"/>
        <p:cNvGrpSpPr/>
        <p:nvPr/>
      </p:nvGrpSpPr>
      <p:grpSpPr>
        <a:xfrm>
          <a:off x="0" y="0"/>
          <a:ext cx="0" cy="0"/>
          <a:chOff x="0" y="0"/>
          <a:chExt cx="0" cy="0"/>
        </a:xfrm>
      </p:grpSpPr>
      <p:sp>
        <p:nvSpPr>
          <p:cNvPr id="121" name="Google Shape;121;p55"/>
          <p:cNvSpPr txBox="1"/>
          <p:nvPr>
            <p:ph type="title"/>
          </p:nvPr>
        </p:nvSpPr>
        <p:spPr>
          <a:xfrm>
            <a:off x="685800" y="609600"/>
            <a:ext cx="8588203"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55"/>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chemeClr val="accent1"/>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3" name="Google Shape;123;p55"/>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24" name="Google Shape;124;p55"/>
          <p:cNvSpPr txBox="1"/>
          <p:nvPr>
            <p:ph idx="10" type="dt"/>
          </p:nvPr>
        </p:nvSpPr>
        <p:spPr>
          <a:xfrm>
            <a:off x="7205133" y="6041364"/>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55"/>
          <p:cNvSpPr txBox="1"/>
          <p:nvPr>
            <p:ph idx="11" type="ftr"/>
          </p:nvPr>
        </p:nvSpPr>
        <p:spPr>
          <a:xfrm>
            <a:off x="677335" y="6041364"/>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55"/>
          <p:cNvSpPr txBox="1"/>
          <p:nvPr>
            <p:ph idx="12" type="sldNum"/>
          </p:nvPr>
        </p:nvSpPr>
        <p:spPr>
          <a:xfrm>
            <a:off x="8590664" y="6041364"/>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7" name="Shape 127"/>
        <p:cNvGrpSpPr/>
        <p:nvPr/>
      </p:nvGrpSpPr>
      <p:grpSpPr>
        <a:xfrm>
          <a:off x="0" y="0"/>
          <a:ext cx="0" cy="0"/>
          <a:chOff x="0" y="0"/>
          <a:chExt cx="0" cy="0"/>
        </a:xfrm>
      </p:grpSpPr>
      <p:sp>
        <p:nvSpPr>
          <p:cNvPr id="128" name="Google Shape;128;p56"/>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56"/>
          <p:cNvSpPr txBox="1"/>
          <p:nvPr>
            <p:ph idx="1" type="body"/>
          </p:nvPr>
        </p:nvSpPr>
        <p:spPr>
          <a:xfrm rot="5400000">
            <a:off x="3035283" y="-197357"/>
            <a:ext cx="3880773" cy="859666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0" name="Google Shape;130;p56"/>
          <p:cNvSpPr txBox="1"/>
          <p:nvPr>
            <p:ph idx="10" type="dt"/>
          </p:nvPr>
        </p:nvSpPr>
        <p:spPr>
          <a:xfrm>
            <a:off x="7205133" y="6041364"/>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56"/>
          <p:cNvSpPr txBox="1"/>
          <p:nvPr>
            <p:ph idx="11" type="ftr"/>
          </p:nvPr>
        </p:nvSpPr>
        <p:spPr>
          <a:xfrm>
            <a:off x="677335" y="6041364"/>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56"/>
          <p:cNvSpPr txBox="1"/>
          <p:nvPr>
            <p:ph idx="12" type="sldNum"/>
          </p:nvPr>
        </p:nvSpPr>
        <p:spPr>
          <a:xfrm>
            <a:off x="8590664" y="6041364"/>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3" name="Shape 133"/>
        <p:cNvGrpSpPr/>
        <p:nvPr/>
      </p:nvGrpSpPr>
      <p:grpSpPr>
        <a:xfrm>
          <a:off x="0" y="0"/>
          <a:ext cx="0" cy="0"/>
          <a:chOff x="0" y="0"/>
          <a:chExt cx="0" cy="0"/>
        </a:xfrm>
      </p:grpSpPr>
      <p:sp>
        <p:nvSpPr>
          <p:cNvPr id="134" name="Google Shape;134;p57"/>
          <p:cNvSpPr txBox="1"/>
          <p:nvPr>
            <p:ph type="title"/>
          </p:nvPr>
        </p:nvSpPr>
        <p:spPr>
          <a:xfrm rot="5400000">
            <a:off x="5994320" y="2582955"/>
            <a:ext cx="5251451" cy="130474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57"/>
          <p:cNvSpPr txBox="1"/>
          <p:nvPr>
            <p:ph idx="1" type="body"/>
          </p:nvPr>
        </p:nvSpPr>
        <p:spPr>
          <a:xfrm rot="5400000">
            <a:off x="1581686" y="-294750"/>
            <a:ext cx="5251450" cy="706015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6" name="Google Shape;136;p57"/>
          <p:cNvSpPr txBox="1"/>
          <p:nvPr>
            <p:ph idx="10" type="dt"/>
          </p:nvPr>
        </p:nvSpPr>
        <p:spPr>
          <a:xfrm>
            <a:off x="7205133" y="6041364"/>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57"/>
          <p:cNvSpPr txBox="1"/>
          <p:nvPr>
            <p:ph idx="11" type="ftr"/>
          </p:nvPr>
        </p:nvSpPr>
        <p:spPr>
          <a:xfrm>
            <a:off x="677335" y="6041364"/>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57"/>
          <p:cNvSpPr txBox="1"/>
          <p:nvPr>
            <p:ph idx="12" type="sldNum"/>
          </p:nvPr>
        </p:nvSpPr>
        <p:spPr>
          <a:xfrm>
            <a:off x="8590664" y="6041364"/>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grpSp>
        <p:nvGrpSpPr>
          <p:cNvPr id="6" name="Google Shape;6;p41"/>
          <p:cNvGrpSpPr/>
          <p:nvPr/>
        </p:nvGrpSpPr>
        <p:grpSpPr>
          <a:xfrm>
            <a:off x="0" y="-8467"/>
            <a:ext cx="12192000" cy="6866467"/>
            <a:chOff x="0" y="-8467"/>
            <a:chExt cx="12192000" cy="6866467"/>
          </a:xfrm>
        </p:grpSpPr>
        <p:cxnSp>
          <p:nvCxnSpPr>
            <p:cNvPr id="7" name="Google Shape;7;p41"/>
            <p:cNvCxnSpPr/>
            <p:nvPr/>
          </p:nvCxnSpPr>
          <p:spPr>
            <a:xfrm>
              <a:off x="9371012" y="0"/>
              <a:ext cx="1219200" cy="6858000"/>
            </a:xfrm>
            <a:prstGeom prst="straightConnector1">
              <a:avLst/>
            </a:prstGeom>
            <a:noFill/>
            <a:ln cap="flat" cmpd="sng" w="9525">
              <a:solidFill>
                <a:schemeClr val="accent1">
                  <a:alpha val="69803"/>
                </a:schemeClr>
              </a:solidFill>
              <a:prstDash val="solid"/>
              <a:round/>
              <a:headEnd len="sm" w="sm" type="none"/>
              <a:tailEnd len="sm" w="sm" type="none"/>
            </a:ln>
          </p:spPr>
        </p:cxnSp>
        <p:cxnSp>
          <p:nvCxnSpPr>
            <p:cNvPr id="8" name="Google Shape;8;p41"/>
            <p:cNvCxnSpPr/>
            <p:nvPr/>
          </p:nvCxnSpPr>
          <p:spPr>
            <a:xfrm flipH="1">
              <a:off x="7425267" y="3681413"/>
              <a:ext cx="4763558" cy="3176587"/>
            </a:xfrm>
            <a:prstGeom prst="straightConnector1">
              <a:avLst/>
            </a:prstGeom>
            <a:noFill/>
            <a:ln cap="flat" cmpd="sng" w="9525">
              <a:solidFill>
                <a:schemeClr val="accent1">
                  <a:alpha val="69803"/>
                </a:schemeClr>
              </a:solidFill>
              <a:prstDash val="solid"/>
              <a:round/>
              <a:headEnd len="sm" w="sm" type="none"/>
              <a:tailEnd len="sm" w="sm" type="none"/>
            </a:ln>
          </p:spPr>
        </p:cxnSp>
        <p:sp>
          <p:nvSpPr>
            <p:cNvPr id="9" name="Google Shape;9;p41"/>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5686"/>
              </a:schemeClr>
            </a:solidFill>
            <a:ln>
              <a:noFill/>
            </a:ln>
          </p:spPr>
        </p:sp>
        <p:sp>
          <p:nvSpPr>
            <p:cNvPr id="10" name="Google Shape;10;p41"/>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1" name="Google Shape;11;p41"/>
            <p:cNvSpPr/>
            <p:nvPr/>
          </p:nvSpPr>
          <p:spPr>
            <a:xfrm>
              <a:off x="8932333" y="3048000"/>
              <a:ext cx="3259667" cy="3810000"/>
            </a:xfrm>
            <a:prstGeom prst="triangle">
              <a:avLst>
                <a:gd fmla="val 100000" name="adj"/>
              </a:avLst>
            </a:prstGeom>
            <a:solidFill>
              <a:srgbClr val="0B5394">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41"/>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0B5394">
                <a:alpha val="49803"/>
              </a:srgbClr>
            </a:solidFill>
            <a:ln>
              <a:noFill/>
            </a:ln>
          </p:spPr>
        </p:sp>
        <p:sp>
          <p:nvSpPr>
            <p:cNvPr id="13" name="Google Shape;13;p41"/>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69803"/>
              </a:schemeClr>
            </a:solidFill>
            <a:ln>
              <a:noFill/>
            </a:ln>
          </p:spPr>
        </p:sp>
        <p:sp>
          <p:nvSpPr>
            <p:cNvPr id="14" name="Google Shape;14;p41"/>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0075A2">
                <a:alpha val="80000"/>
              </a:srgbClr>
            </a:solidFill>
            <a:ln>
              <a:noFill/>
            </a:ln>
          </p:spPr>
        </p:sp>
        <p:sp>
          <p:nvSpPr>
            <p:cNvPr id="15" name="Google Shape;15;p41"/>
            <p:cNvSpPr/>
            <p:nvPr/>
          </p:nvSpPr>
          <p:spPr>
            <a:xfrm>
              <a:off x="10371666" y="3589867"/>
              <a:ext cx="1817159" cy="3268133"/>
            </a:xfrm>
            <a:prstGeom prst="triangle">
              <a:avLst>
                <a:gd fmla="val 100000" name="adj"/>
              </a:avLst>
            </a:prstGeom>
            <a:solidFill>
              <a:srgbClr val="0B5394">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41"/>
            <p:cNvSpPr/>
            <p:nvPr/>
          </p:nvSpPr>
          <p:spPr>
            <a:xfrm>
              <a:off x="0" y="4013200"/>
              <a:ext cx="448733" cy="2844800"/>
            </a:xfrm>
            <a:prstGeom prst="triangle">
              <a:avLst>
                <a:gd fmla="val 0" name="adj"/>
              </a:avLst>
            </a:prstGeom>
            <a:solidFill>
              <a:schemeClr val="accent1">
                <a:alpha val="6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 name="Google Shape;17;p41"/>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8" name="Google Shape;18;p41"/>
          <p:cNvSpPr txBox="1"/>
          <p:nvPr>
            <p:ph idx="1" type="body"/>
          </p:nvPr>
        </p:nvSpPr>
        <p:spPr>
          <a:xfrm>
            <a:off x="677335" y="2160590"/>
            <a:ext cx="8596668" cy="3880773"/>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19"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59"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59"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19" name="Google Shape;19;p41"/>
          <p:cNvSpPr txBox="1"/>
          <p:nvPr>
            <p:ph idx="10" type="dt"/>
          </p:nvPr>
        </p:nvSpPr>
        <p:spPr>
          <a:xfrm>
            <a:off x="7205133" y="6041364"/>
            <a:ext cx="91193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0" name="Google Shape;20;p41"/>
          <p:cNvSpPr txBox="1"/>
          <p:nvPr>
            <p:ph idx="11" type="ftr"/>
          </p:nvPr>
        </p:nvSpPr>
        <p:spPr>
          <a:xfrm>
            <a:off x="677335" y="6041364"/>
            <a:ext cx="6297612"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1" name="Google Shape;21;p41"/>
          <p:cNvSpPr txBox="1"/>
          <p:nvPr>
            <p:ph idx="12" type="sldNum"/>
          </p:nvPr>
        </p:nvSpPr>
        <p:spPr>
          <a:xfrm>
            <a:off x="8590664" y="6041364"/>
            <a:ext cx="68333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1"/>
                </a:solidFill>
                <a:latin typeface="Trebuchet MS"/>
                <a:ea typeface="Trebuchet MS"/>
                <a:cs typeface="Trebuchet MS"/>
                <a:sym typeface="Trebuchet MS"/>
              </a:defRPr>
            </a:lvl1pPr>
            <a:lvl2pPr indent="0" lvl="1" marL="0" marR="0" rtl="0" algn="r">
              <a:spcBef>
                <a:spcPts val="0"/>
              </a:spcBef>
              <a:buNone/>
              <a:defRPr b="0" i="0" sz="900" u="none" cap="none" strike="noStrike">
                <a:solidFill>
                  <a:schemeClr val="accent1"/>
                </a:solidFill>
                <a:latin typeface="Trebuchet MS"/>
                <a:ea typeface="Trebuchet MS"/>
                <a:cs typeface="Trebuchet MS"/>
                <a:sym typeface="Trebuchet MS"/>
              </a:defRPr>
            </a:lvl2pPr>
            <a:lvl3pPr indent="0" lvl="2" marL="0" marR="0" rtl="0" algn="r">
              <a:spcBef>
                <a:spcPts val="0"/>
              </a:spcBef>
              <a:buNone/>
              <a:defRPr b="0" i="0" sz="900" u="none" cap="none" strike="noStrike">
                <a:solidFill>
                  <a:schemeClr val="accent1"/>
                </a:solidFill>
                <a:latin typeface="Trebuchet MS"/>
                <a:ea typeface="Trebuchet MS"/>
                <a:cs typeface="Trebuchet MS"/>
                <a:sym typeface="Trebuchet MS"/>
              </a:defRPr>
            </a:lvl3pPr>
            <a:lvl4pPr indent="0" lvl="3" marL="0" marR="0" rtl="0" algn="r">
              <a:spcBef>
                <a:spcPts val="0"/>
              </a:spcBef>
              <a:buNone/>
              <a:defRPr b="0" i="0" sz="900" u="none" cap="none" strike="noStrike">
                <a:solidFill>
                  <a:schemeClr val="accent1"/>
                </a:solidFill>
                <a:latin typeface="Trebuchet MS"/>
                <a:ea typeface="Trebuchet MS"/>
                <a:cs typeface="Trebuchet MS"/>
                <a:sym typeface="Trebuchet MS"/>
              </a:defRPr>
            </a:lvl4pPr>
            <a:lvl5pPr indent="0" lvl="4" marL="0" marR="0" rtl="0" algn="r">
              <a:spcBef>
                <a:spcPts val="0"/>
              </a:spcBef>
              <a:buNone/>
              <a:defRPr b="0" i="0" sz="900" u="none" cap="none" strike="noStrike">
                <a:solidFill>
                  <a:schemeClr val="accent1"/>
                </a:solidFill>
                <a:latin typeface="Trebuchet MS"/>
                <a:ea typeface="Trebuchet MS"/>
                <a:cs typeface="Trebuchet MS"/>
                <a:sym typeface="Trebuchet MS"/>
              </a:defRPr>
            </a:lvl5pPr>
            <a:lvl6pPr indent="0" lvl="5" marL="0" marR="0" rtl="0" algn="r">
              <a:spcBef>
                <a:spcPts val="0"/>
              </a:spcBef>
              <a:buNone/>
              <a:defRPr b="0" i="0" sz="900" u="none" cap="none" strike="noStrike">
                <a:solidFill>
                  <a:schemeClr val="accent1"/>
                </a:solidFill>
                <a:latin typeface="Trebuchet MS"/>
                <a:ea typeface="Trebuchet MS"/>
                <a:cs typeface="Trebuchet MS"/>
                <a:sym typeface="Trebuchet MS"/>
              </a:defRPr>
            </a:lvl6pPr>
            <a:lvl7pPr indent="0" lvl="6" marL="0" marR="0" rtl="0" algn="r">
              <a:spcBef>
                <a:spcPts val="0"/>
              </a:spcBef>
              <a:buNone/>
              <a:defRPr b="0" i="0" sz="900" u="none" cap="none" strike="noStrike">
                <a:solidFill>
                  <a:schemeClr val="accent1"/>
                </a:solidFill>
                <a:latin typeface="Trebuchet MS"/>
                <a:ea typeface="Trebuchet MS"/>
                <a:cs typeface="Trebuchet MS"/>
                <a:sym typeface="Trebuchet MS"/>
              </a:defRPr>
            </a:lvl7pPr>
            <a:lvl8pPr indent="0" lvl="7" marL="0" marR="0" rtl="0" algn="r">
              <a:spcBef>
                <a:spcPts val="0"/>
              </a:spcBef>
              <a:buNone/>
              <a:defRPr b="0" i="0" sz="900" u="none" cap="none" strike="noStrike">
                <a:solidFill>
                  <a:schemeClr val="accent1"/>
                </a:solidFill>
                <a:latin typeface="Trebuchet MS"/>
                <a:ea typeface="Trebuchet MS"/>
                <a:cs typeface="Trebuchet MS"/>
                <a:sym typeface="Trebuchet MS"/>
              </a:defRPr>
            </a:lvl8pPr>
            <a:lvl9pPr indent="0" lvl="8" marL="0" marR="0" rtl="0" algn="r">
              <a:spcBef>
                <a:spcPts val="0"/>
              </a:spcBef>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hyperlink" Target="http://en.wikipedia.org/wiki/Digital_signature"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hyperlink" Target="https://source.android.com/security/features"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hyperlink" Target="http://www.businessweek.com/technology/content/oct2010/tc20101020_639668.htm" TargetMode="External"/><Relationship Id="rId4" Type="http://schemas.openxmlformats.org/officeDocument/2006/relationships/hyperlink" Target="http://it-jobs.fins.com/Articles/SB129606993144879991/Mobile-App-Developers-Wanted-at-Ad-Agencies" TargetMode="External"/><Relationship Id="rId9" Type="http://schemas.openxmlformats.org/officeDocument/2006/relationships/hyperlink" Target="https://www.tutorialspoint.com/android/android_hello_world_example.htm" TargetMode="External"/><Relationship Id="rId5" Type="http://schemas.openxmlformats.org/officeDocument/2006/relationships/hyperlink" Target="http://www.gartner.com/it/page.jsp?id=1466313" TargetMode="External"/><Relationship Id="rId6" Type="http://schemas.openxmlformats.org/officeDocument/2006/relationships/hyperlink" Target="http://developer.android.com/guide/developing/index.html" TargetMode="External"/><Relationship Id="rId7" Type="http://schemas.openxmlformats.org/officeDocument/2006/relationships/hyperlink" Target="http://developer.android.com/guide/developing/index.html" TargetMode="External"/><Relationship Id="rId8" Type="http://schemas.openxmlformats.org/officeDocument/2006/relationships/hyperlink" Target="http://www.google.com/url?sa=t&amp;rct=j&amp;q=&amp;esrc=s&amp;source=web&amp;cd=7&amp;ved=0CEcQFjAG&amp;url=http%3A%2F%2Fai.arizona.edu%2Fmis510%2Fslides%2FAndroid%2520Overview.ppt&amp;ei=4HBXUNPvMuPe0QGm3oCYCg&amp;usg=AFQjCNE2Li9vyh34rECKYDuOjKjI5pjyzw&amp;sig2=E-wfIL1bPNJacCi6ZaAWCA"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accent1"/>
              </a:buClr>
              <a:buSzPts val="5400"/>
              <a:buFont typeface="Trebuchet MS"/>
              <a:buNone/>
            </a:pPr>
            <a:r>
              <a:rPr lang="en-US"/>
              <a:t>Android Overview</a:t>
            </a:r>
            <a:endParaRPr/>
          </a:p>
        </p:txBody>
      </p:sp>
      <p:sp>
        <p:nvSpPr>
          <p:cNvPr id="144" name="Google Shape;144;p1"/>
          <p:cNvSpPr txBox="1"/>
          <p:nvPr>
            <p:ph idx="1" type="subTitle"/>
          </p:nvPr>
        </p:nvSpPr>
        <p:spPr>
          <a:xfrm>
            <a:off x="1507067" y="4050835"/>
            <a:ext cx="7766936" cy="1096899"/>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SzPts val="144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Objectives</a:t>
            </a:r>
            <a:endParaRPr/>
          </a:p>
        </p:txBody>
      </p:sp>
      <p:sp>
        <p:nvSpPr>
          <p:cNvPr id="150" name="Google Shape;150;p2"/>
          <p:cNvSpPr txBox="1"/>
          <p:nvPr>
            <p:ph idx="1" type="body"/>
          </p:nvPr>
        </p:nvSpPr>
        <p:spPr>
          <a:xfrm>
            <a:off x="677335" y="1469572"/>
            <a:ext cx="8596668" cy="457179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en-US"/>
              <a:t>At the end of this lesson, the student should able to:</a:t>
            </a:r>
            <a:endParaRPr/>
          </a:p>
          <a:p>
            <a:pPr indent="-342891" lvl="0" marL="342891" rtl="0" algn="l">
              <a:spcBef>
                <a:spcPts val="1000"/>
              </a:spcBef>
              <a:spcAft>
                <a:spcPts val="0"/>
              </a:spcAft>
              <a:buSzPts val="1440"/>
              <a:buChar char="►"/>
            </a:pPr>
            <a:r>
              <a:rPr lang="en-US"/>
              <a:t>Define what is android</a:t>
            </a:r>
            <a:endParaRPr/>
          </a:p>
          <a:p>
            <a:pPr indent="-342891" lvl="0" marL="342891" rtl="0" algn="l">
              <a:spcBef>
                <a:spcPts val="1000"/>
              </a:spcBef>
              <a:spcAft>
                <a:spcPts val="0"/>
              </a:spcAft>
              <a:buSzPts val="1440"/>
              <a:buChar char="►"/>
            </a:pPr>
            <a:r>
              <a:rPr lang="en-US"/>
              <a:t>Distinguish  the different android API levels and categories</a:t>
            </a:r>
            <a:endParaRPr/>
          </a:p>
          <a:p>
            <a:pPr indent="-342891" lvl="0" marL="342891" rtl="0" algn="l">
              <a:spcBef>
                <a:spcPts val="1000"/>
              </a:spcBef>
              <a:spcAft>
                <a:spcPts val="0"/>
              </a:spcAft>
              <a:buSzPts val="1440"/>
              <a:buChar char="►"/>
            </a:pPr>
            <a:r>
              <a:rPr lang="en-US"/>
              <a:t>Classify the four main layers in the android architecture</a:t>
            </a:r>
            <a:endParaRPr/>
          </a:p>
          <a:p>
            <a:pPr indent="-342891" lvl="0" marL="342891" rtl="0" algn="l">
              <a:spcBef>
                <a:spcPts val="1000"/>
              </a:spcBef>
              <a:spcAft>
                <a:spcPts val="0"/>
              </a:spcAft>
              <a:buSzPts val="1440"/>
              <a:buChar char="►"/>
            </a:pPr>
            <a:r>
              <a:rPr lang="en-US"/>
              <a:t>Use the different android application components</a:t>
            </a:r>
            <a:endParaRPr/>
          </a:p>
          <a:p>
            <a:pPr indent="-251450" lvl="0" marL="342891" rtl="0" algn="l">
              <a:spcBef>
                <a:spcPts val="1000"/>
              </a:spcBef>
              <a:spcAft>
                <a:spcPts val="0"/>
              </a:spcAft>
              <a:buSzPts val="144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
          <p:cNvSpPr txBox="1"/>
          <p:nvPr>
            <p:ph type="title"/>
          </p:nvPr>
        </p:nvSpPr>
        <p:spPr>
          <a:xfrm>
            <a:off x="1028335" y="812100"/>
            <a:ext cx="8596800" cy="13209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What is Android?</a:t>
            </a:r>
            <a:endParaRPr/>
          </a:p>
        </p:txBody>
      </p:sp>
      <p:sp>
        <p:nvSpPr>
          <p:cNvPr id="156" name="Google Shape;156;p3"/>
          <p:cNvSpPr txBox="1"/>
          <p:nvPr>
            <p:ph idx="1" type="body"/>
          </p:nvPr>
        </p:nvSpPr>
        <p:spPr>
          <a:xfrm>
            <a:off x="677335" y="1485902"/>
            <a:ext cx="8596668" cy="4555463"/>
          </a:xfrm>
          <a:prstGeom prst="rect">
            <a:avLst/>
          </a:prstGeom>
          <a:noFill/>
          <a:ln>
            <a:noFill/>
          </a:ln>
        </p:spPr>
        <p:txBody>
          <a:bodyPr anchorCtr="0" anchor="t" bIns="45700" lIns="91425" spcFirstLastPara="1" rIns="91425" wrap="square" tIns="45700">
            <a:normAutofit/>
          </a:bodyPr>
          <a:lstStyle/>
          <a:p>
            <a:pPr indent="-342891" lvl="0" marL="342891" rtl="0" algn="just">
              <a:spcBef>
                <a:spcPts val="0"/>
              </a:spcBef>
              <a:spcAft>
                <a:spcPts val="0"/>
              </a:spcAft>
              <a:buSzPts val="2240"/>
              <a:buChar char="►"/>
            </a:pPr>
            <a:r>
              <a:rPr lang="en-US" sz="2800"/>
              <a:t>Android is an open source and Linux-based </a:t>
            </a:r>
            <a:r>
              <a:rPr b="1" lang="en-US" sz="2800"/>
              <a:t>Operating System</a:t>
            </a:r>
            <a:r>
              <a:rPr lang="en-US" sz="2800"/>
              <a:t> for mobile devices such as smartphones and tablet computers. Android was developed by the </a:t>
            </a:r>
            <a:r>
              <a:rPr i="1" lang="en-US" sz="2800"/>
              <a:t>Open Handset Alliance</a:t>
            </a:r>
            <a:r>
              <a:rPr lang="en-US" sz="2800"/>
              <a:t>, led by Google, and other companies.</a:t>
            </a:r>
            <a:endParaRPr/>
          </a:p>
          <a:p>
            <a:pPr indent="-342891" lvl="0" marL="342891" rtl="0" algn="just">
              <a:spcBef>
                <a:spcPts val="1000"/>
              </a:spcBef>
              <a:spcAft>
                <a:spcPts val="0"/>
              </a:spcAft>
              <a:buSzPts val="2240"/>
              <a:buChar char="►"/>
            </a:pPr>
            <a:r>
              <a:rPr lang="en-US" sz="2800"/>
              <a:t>Android offers a unified approach to application development for mobile devices which means developers need only develop for Android, and their applications should be able to run on different devices powered by Android.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4"/>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Why Android?</a:t>
            </a:r>
            <a:endParaRPr/>
          </a:p>
        </p:txBody>
      </p:sp>
      <p:sp>
        <p:nvSpPr>
          <p:cNvPr id="162" name="Google Shape;162;p4"/>
          <p:cNvSpPr txBox="1"/>
          <p:nvPr>
            <p:ph idx="1" type="body"/>
          </p:nvPr>
        </p:nvSpPr>
        <p:spPr>
          <a:xfrm>
            <a:off x="677335" y="2160590"/>
            <a:ext cx="8596668" cy="3880773"/>
          </a:xfrm>
          <a:prstGeom prst="rect">
            <a:avLst/>
          </a:prstGeom>
          <a:noFill/>
          <a:ln>
            <a:noFill/>
          </a:ln>
        </p:spPr>
        <p:txBody>
          <a:bodyPr anchorCtr="0" anchor="t" bIns="45700" lIns="91425" spcFirstLastPara="1" rIns="91425" wrap="square" tIns="45700">
            <a:normAutofit/>
          </a:bodyPr>
          <a:lstStyle/>
          <a:p>
            <a:pPr indent="-251450" lvl="0" marL="342891" rtl="0" algn="l">
              <a:spcBef>
                <a:spcPts val="0"/>
              </a:spcBef>
              <a:spcAft>
                <a:spcPts val="0"/>
              </a:spcAft>
              <a:buSzPts val="1440"/>
              <a:buNone/>
            </a:pPr>
            <a:r>
              <a:t/>
            </a:r>
            <a:endParaRPr/>
          </a:p>
        </p:txBody>
      </p:sp>
      <p:pic>
        <p:nvPicPr>
          <p:cNvPr id="163" name="Google Shape;163;p4"/>
          <p:cNvPicPr preferRelativeResize="0"/>
          <p:nvPr/>
        </p:nvPicPr>
        <p:blipFill rotWithShape="1">
          <a:blip r:embed="rId3">
            <a:alphaModFix/>
          </a:blip>
          <a:srcRect b="0" l="0" r="0" t="0"/>
          <a:stretch/>
        </p:blipFill>
        <p:spPr>
          <a:xfrm>
            <a:off x="2849338" y="1409701"/>
            <a:ext cx="5270727" cy="52583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5"/>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Features of Android</a:t>
            </a:r>
            <a:endParaRPr/>
          </a:p>
        </p:txBody>
      </p:sp>
      <p:sp>
        <p:nvSpPr>
          <p:cNvPr id="169" name="Google Shape;169;p5"/>
          <p:cNvSpPr txBox="1"/>
          <p:nvPr>
            <p:ph idx="1" type="body"/>
          </p:nvPr>
        </p:nvSpPr>
        <p:spPr>
          <a:xfrm>
            <a:off x="677335" y="1485902"/>
            <a:ext cx="8596668" cy="4555463"/>
          </a:xfrm>
          <a:prstGeom prst="rect">
            <a:avLst/>
          </a:prstGeom>
          <a:noFill/>
          <a:ln>
            <a:noFill/>
          </a:ln>
        </p:spPr>
        <p:txBody>
          <a:bodyPr anchorCtr="0" anchor="t" bIns="45700" lIns="91425" spcFirstLastPara="1" rIns="91425" wrap="square" tIns="45700">
            <a:normAutofit fontScale="70000" lnSpcReduction="20000"/>
          </a:bodyPr>
          <a:lstStyle/>
          <a:p>
            <a:pPr indent="-342891" lvl="0" marL="342891" rtl="0" algn="just">
              <a:spcBef>
                <a:spcPts val="0"/>
              </a:spcBef>
              <a:spcAft>
                <a:spcPts val="0"/>
              </a:spcAft>
              <a:buSzPct val="80000"/>
              <a:buChar char="►"/>
            </a:pPr>
            <a:r>
              <a:rPr b="1" lang="en-US" sz="2800"/>
              <a:t>Beautiful UI </a:t>
            </a:r>
            <a:r>
              <a:rPr lang="en-US" sz="2800"/>
              <a:t>- Android OS basic screen provides a beautiful and intuitive user interface.</a:t>
            </a:r>
            <a:endParaRPr/>
          </a:p>
          <a:p>
            <a:pPr indent="-342891" lvl="0" marL="342891" rtl="0" algn="just">
              <a:spcBef>
                <a:spcPts val="1000"/>
              </a:spcBef>
              <a:spcAft>
                <a:spcPts val="0"/>
              </a:spcAft>
              <a:buSzPct val="80000"/>
              <a:buChar char="►"/>
            </a:pPr>
            <a:r>
              <a:rPr b="1" lang="en-US" sz="2800"/>
              <a:t>Connectivity</a:t>
            </a:r>
            <a:r>
              <a:rPr lang="en-US" sz="2800"/>
              <a:t> - GSM/EDGE, IDEN, CDMA, EV-DO, UMTS, Bluetooth, Wi-Fi, LTE, NFC and WiMAX.</a:t>
            </a:r>
            <a:endParaRPr/>
          </a:p>
          <a:p>
            <a:pPr indent="-342891" lvl="0" marL="342891" rtl="0" algn="just">
              <a:spcBef>
                <a:spcPts val="1000"/>
              </a:spcBef>
              <a:spcAft>
                <a:spcPts val="0"/>
              </a:spcAft>
              <a:buSzPct val="80000"/>
              <a:buChar char="►"/>
            </a:pPr>
            <a:r>
              <a:rPr b="1" lang="en-US" sz="2800"/>
              <a:t>Storage</a:t>
            </a:r>
            <a:r>
              <a:rPr lang="en-US" sz="2800"/>
              <a:t> - SQLite, a lightweight relational database, is used for data storage purposes.</a:t>
            </a:r>
            <a:endParaRPr/>
          </a:p>
          <a:p>
            <a:pPr indent="-342891" lvl="0" marL="342891" rtl="0" algn="just">
              <a:spcBef>
                <a:spcPts val="1000"/>
              </a:spcBef>
              <a:spcAft>
                <a:spcPts val="0"/>
              </a:spcAft>
              <a:buSzPct val="80000"/>
              <a:buChar char="►"/>
            </a:pPr>
            <a:r>
              <a:rPr b="1" lang="en-US" sz="2800"/>
              <a:t>Media support </a:t>
            </a:r>
            <a:r>
              <a:rPr lang="en-US" sz="2800"/>
              <a:t>- H.263, H.264, MPEG-4 SP, AMR, AMR-WB, AAC, HE-AAC, AAC 5.1, MP3, MIDI, Ogg Vorbis, WAV, JPEG, PNG, GIF, and BMP.</a:t>
            </a:r>
            <a:endParaRPr/>
          </a:p>
          <a:p>
            <a:pPr indent="-342891" lvl="0" marL="342891" rtl="0" algn="just">
              <a:spcBef>
                <a:spcPts val="1000"/>
              </a:spcBef>
              <a:spcAft>
                <a:spcPts val="0"/>
              </a:spcAft>
              <a:buSzPct val="80000"/>
              <a:buChar char="►"/>
            </a:pPr>
            <a:r>
              <a:rPr b="1" lang="en-US" sz="2800"/>
              <a:t>Messaging</a:t>
            </a:r>
            <a:r>
              <a:rPr lang="en-US" sz="2800"/>
              <a:t> - SMS and MMS</a:t>
            </a:r>
            <a:endParaRPr/>
          </a:p>
          <a:p>
            <a:pPr indent="-342891" lvl="0" marL="342891" rtl="0" algn="just">
              <a:spcBef>
                <a:spcPts val="1000"/>
              </a:spcBef>
              <a:spcAft>
                <a:spcPts val="0"/>
              </a:spcAft>
              <a:buSzPct val="80000"/>
              <a:buChar char="►"/>
            </a:pPr>
            <a:r>
              <a:rPr b="1" lang="en-US" sz="2800"/>
              <a:t>Web browser </a:t>
            </a:r>
            <a:r>
              <a:rPr lang="en-US" sz="2800"/>
              <a:t>- Based on the open-source WebKit layout engine, coupled with Chrome's V8 JavaScript engine supporting HTML5 and CSS3.</a:t>
            </a:r>
            <a:endParaRPr/>
          </a:p>
          <a:p>
            <a:pPr indent="-342891" lvl="0" marL="342891" rtl="0" algn="just">
              <a:spcBef>
                <a:spcPts val="1000"/>
              </a:spcBef>
              <a:spcAft>
                <a:spcPts val="0"/>
              </a:spcAft>
              <a:buSzPct val="80000"/>
              <a:buChar char="►"/>
            </a:pPr>
            <a:r>
              <a:rPr b="1" lang="en-US" sz="2800"/>
              <a:t>Multi-touch </a:t>
            </a:r>
            <a:r>
              <a:rPr lang="en-US" sz="2800"/>
              <a:t>- Android has native support for multi-touch which was initially made available in handsets such as the HTC Hero.</a:t>
            </a:r>
            <a:endParaRPr/>
          </a:p>
          <a:p>
            <a:pPr indent="-243322" lvl="0" marL="342891" rtl="0" algn="just">
              <a:spcBef>
                <a:spcPts val="1000"/>
              </a:spcBef>
              <a:spcAft>
                <a:spcPts val="0"/>
              </a:spcAft>
              <a:buSzPct val="80000"/>
              <a:buNone/>
            </a:pPr>
            <a:r>
              <a:t/>
            </a:r>
            <a:endParaRPr sz="2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6"/>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Features of Android</a:t>
            </a:r>
            <a:endParaRPr/>
          </a:p>
        </p:txBody>
      </p:sp>
      <p:sp>
        <p:nvSpPr>
          <p:cNvPr id="175" name="Google Shape;175;p6"/>
          <p:cNvSpPr txBox="1"/>
          <p:nvPr>
            <p:ph idx="1" type="body"/>
          </p:nvPr>
        </p:nvSpPr>
        <p:spPr>
          <a:xfrm>
            <a:off x="677335" y="1485902"/>
            <a:ext cx="8596668" cy="4555463"/>
          </a:xfrm>
          <a:prstGeom prst="rect">
            <a:avLst/>
          </a:prstGeom>
          <a:noFill/>
          <a:ln>
            <a:noFill/>
          </a:ln>
        </p:spPr>
        <p:txBody>
          <a:bodyPr anchorCtr="0" anchor="t" bIns="45700" lIns="91425" spcFirstLastPara="1" rIns="91425" wrap="square" tIns="45700">
            <a:normAutofit fontScale="77500" lnSpcReduction="20000"/>
          </a:bodyPr>
          <a:lstStyle/>
          <a:p>
            <a:pPr indent="-342891" lvl="0" marL="342891" rtl="0" algn="just">
              <a:spcBef>
                <a:spcPts val="0"/>
              </a:spcBef>
              <a:spcAft>
                <a:spcPts val="0"/>
              </a:spcAft>
              <a:buSzPct val="80000"/>
              <a:buChar char="►"/>
            </a:pPr>
            <a:r>
              <a:rPr b="1" lang="en-US" sz="2800"/>
              <a:t>Multi-tasking </a:t>
            </a:r>
            <a:r>
              <a:rPr lang="en-US" sz="2800"/>
              <a:t>- User can jump from one task to another and same time various application can run simultaneously.</a:t>
            </a:r>
            <a:endParaRPr b="1" sz="2800"/>
          </a:p>
          <a:p>
            <a:pPr indent="-342891" lvl="0" marL="342891" rtl="0" algn="just">
              <a:spcBef>
                <a:spcPts val="1000"/>
              </a:spcBef>
              <a:spcAft>
                <a:spcPts val="0"/>
              </a:spcAft>
              <a:buSzPct val="80000"/>
              <a:buChar char="►"/>
            </a:pPr>
            <a:r>
              <a:rPr b="1" lang="en-US" sz="2800"/>
              <a:t>Resizable widgets - </a:t>
            </a:r>
            <a:r>
              <a:rPr lang="en-US" sz="2800"/>
              <a:t>Widgets are resizable, so users can expand them to show more content or shrink them to save space.</a:t>
            </a:r>
            <a:endParaRPr/>
          </a:p>
          <a:p>
            <a:pPr indent="-342891" lvl="0" marL="342891" rtl="0" algn="just">
              <a:spcBef>
                <a:spcPts val="1000"/>
              </a:spcBef>
              <a:spcAft>
                <a:spcPts val="0"/>
              </a:spcAft>
              <a:buSzPct val="80000"/>
              <a:buChar char="►"/>
            </a:pPr>
            <a:r>
              <a:rPr b="1" lang="en-US" sz="2800"/>
              <a:t>Multi-Language</a:t>
            </a:r>
            <a:r>
              <a:rPr lang="en-US" sz="2800"/>
              <a:t> - Supports single direction and bi-directional text.</a:t>
            </a:r>
            <a:endParaRPr/>
          </a:p>
          <a:p>
            <a:pPr indent="-342891" lvl="0" marL="342891" rtl="0" algn="just">
              <a:spcBef>
                <a:spcPts val="1000"/>
              </a:spcBef>
              <a:spcAft>
                <a:spcPts val="0"/>
              </a:spcAft>
              <a:buSzPct val="80000"/>
              <a:buChar char="►"/>
            </a:pPr>
            <a:r>
              <a:rPr b="1" lang="en-US" sz="2800"/>
              <a:t>GCM </a:t>
            </a:r>
            <a:r>
              <a:rPr lang="en-US" sz="2800"/>
              <a:t>- Google Cloud Messaging (GCM) is a service that lets developers send short message data to their users on Android devices, without needing a proprietary sync solution.</a:t>
            </a:r>
            <a:endParaRPr/>
          </a:p>
          <a:p>
            <a:pPr indent="-342891" lvl="0" marL="342891" rtl="0" algn="just">
              <a:spcBef>
                <a:spcPts val="1000"/>
              </a:spcBef>
              <a:spcAft>
                <a:spcPts val="0"/>
              </a:spcAft>
              <a:buSzPct val="80000"/>
              <a:buChar char="►"/>
            </a:pPr>
            <a:r>
              <a:rPr b="1" lang="en-US" sz="2800"/>
              <a:t>Wi-Fi Direct </a:t>
            </a:r>
            <a:r>
              <a:rPr lang="en-US" sz="2800"/>
              <a:t>- A technology that lets apps discover and pair directly, over a high-bandwidth peer-to-peer connection.</a:t>
            </a:r>
            <a:endParaRPr/>
          </a:p>
          <a:p>
            <a:pPr indent="-342891" lvl="0" marL="342891" rtl="0" algn="just">
              <a:spcBef>
                <a:spcPts val="1000"/>
              </a:spcBef>
              <a:spcAft>
                <a:spcPts val="0"/>
              </a:spcAft>
              <a:buSzPct val="80000"/>
              <a:buChar char="►"/>
            </a:pPr>
            <a:r>
              <a:rPr b="1" lang="en-US" sz="2800"/>
              <a:t>Android Beam </a:t>
            </a:r>
            <a:r>
              <a:rPr lang="en-US" sz="2800"/>
              <a:t>- A popular NFC-based technology that lets users instantly share, just by touching two NFC-enabled phones together.</a:t>
            </a:r>
            <a:endParaRPr/>
          </a:p>
          <a:p>
            <a:pPr indent="-232654" lvl="0" marL="342891" rtl="0" algn="just">
              <a:spcBef>
                <a:spcPts val="1000"/>
              </a:spcBef>
              <a:spcAft>
                <a:spcPts val="0"/>
              </a:spcAft>
              <a:buSzPct val="80000"/>
              <a:buNone/>
            </a:pPr>
            <a:r>
              <a:t/>
            </a:r>
            <a:endParaRPr sz="2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7"/>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Android Applications</a:t>
            </a:r>
            <a:endParaRPr/>
          </a:p>
        </p:txBody>
      </p:sp>
      <p:sp>
        <p:nvSpPr>
          <p:cNvPr id="181" name="Google Shape;181;p7"/>
          <p:cNvSpPr txBox="1"/>
          <p:nvPr>
            <p:ph idx="1" type="body"/>
          </p:nvPr>
        </p:nvSpPr>
        <p:spPr>
          <a:xfrm>
            <a:off x="677335" y="1485902"/>
            <a:ext cx="8596668" cy="4555463"/>
          </a:xfrm>
          <a:prstGeom prst="rect">
            <a:avLst/>
          </a:prstGeom>
          <a:noFill/>
          <a:ln>
            <a:noFill/>
          </a:ln>
        </p:spPr>
        <p:txBody>
          <a:bodyPr anchorCtr="0" anchor="t" bIns="45700" lIns="91425" spcFirstLastPara="1" rIns="91425" wrap="square" tIns="45700">
            <a:normAutofit/>
          </a:bodyPr>
          <a:lstStyle/>
          <a:p>
            <a:pPr indent="-342891" lvl="0" marL="342891" rtl="0" algn="just">
              <a:spcBef>
                <a:spcPts val="0"/>
              </a:spcBef>
              <a:spcAft>
                <a:spcPts val="0"/>
              </a:spcAft>
              <a:buSzPts val="2240"/>
              <a:buChar char="►"/>
            </a:pPr>
            <a:r>
              <a:rPr lang="en-US" sz="2800"/>
              <a:t>Android applications are usually developed in the Java language using the Android Software Development Kit.</a:t>
            </a:r>
            <a:endParaRPr/>
          </a:p>
          <a:p>
            <a:pPr indent="-200650" lvl="0" marL="342891" rtl="0" algn="just">
              <a:spcBef>
                <a:spcPts val="1000"/>
              </a:spcBef>
              <a:spcAft>
                <a:spcPts val="0"/>
              </a:spcAft>
              <a:buSzPts val="2240"/>
              <a:buNone/>
            </a:pPr>
            <a:r>
              <a:t/>
            </a:r>
            <a:endParaRPr sz="2800"/>
          </a:p>
          <a:p>
            <a:pPr indent="-342891" lvl="0" marL="342891" rtl="0" algn="just">
              <a:spcBef>
                <a:spcPts val="1000"/>
              </a:spcBef>
              <a:spcAft>
                <a:spcPts val="0"/>
              </a:spcAft>
              <a:buSzPts val="2240"/>
              <a:buChar char="►"/>
            </a:pPr>
            <a:r>
              <a:rPr lang="en-US" sz="2800"/>
              <a:t>Once developed, Android applications can be packaged easily and sold out either through a store such as </a:t>
            </a:r>
            <a:r>
              <a:rPr b="1" lang="en-US" sz="2800"/>
              <a:t>Google Play, SlideME, Opera Mobile Store, Mobango, F-droid </a:t>
            </a:r>
            <a:r>
              <a:rPr lang="en-US" sz="2800"/>
              <a:t>and the </a:t>
            </a:r>
            <a:r>
              <a:rPr b="1" lang="en-US" sz="2800"/>
              <a:t>Amazon Appstore.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8"/>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Categories of Android Applications</a:t>
            </a:r>
            <a:endParaRPr/>
          </a:p>
        </p:txBody>
      </p:sp>
      <p:sp>
        <p:nvSpPr>
          <p:cNvPr id="187" name="Google Shape;187;p8"/>
          <p:cNvSpPr txBox="1"/>
          <p:nvPr>
            <p:ph idx="1" type="body"/>
          </p:nvPr>
        </p:nvSpPr>
        <p:spPr>
          <a:xfrm>
            <a:off x="677335" y="1485902"/>
            <a:ext cx="8596668" cy="4555463"/>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SzPts val="2240"/>
              <a:buNone/>
            </a:pPr>
            <a:r>
              <a:rPr lang="en-US" sz="2800"/>
              <a:t>There are many android applications in the market. The top categories are:</a:t>
            </a:r>
            <a:endParaRPr/>
          </a:p>
        </p:txBody>
      </p:sp>
      <p:pic>
        <p:nvPicPr>
          <p:cNvPr id="188" name="Google Shape;188;p8"/>
          <p:cNvPicPr preferRelativeResize="0"/>
          <p:nvPr/>
        </p:nvPicPr>
        <p:blipFill rotWithShape="1">
          <a:blip r:embed="rId3">
            <a:alphaModFix/>
          </a:blip>
          <a:srcRect b="0" l="0" r="0" t="0"/>
          <a:stretch/>
        </p:blipFill>
        <p:spPr>
          <a:xfrm>
            <a:off x="1706092" y="2644548"/>
            <a:ext cx="7862451" cy="371324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9"/>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History of Android</a:t>
            </a:r>
            <a:endParaRPr/>
          </a:p>
        </p:txBody>
      </p:sp>
      <p:sp>
        <p:nvSpPr>
          <p:cNvPr id="194" name="Google Shape;194;p9"/>
          <p:cNvSpPr txBox="1"/>
          <p:nvPr>
            <p:ph idx="1" type="body"/>
          </p:nvPr>
        </p:nvSpPr>
        <p:spPr>
          <a:xfrm>
            <a:off x="677335" y="1485902"/>
            <a:ext cx="8596668" cy="4555463"/>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SzPts val="1600"/>
              <a:buNone/>
            </a:pPr>
            <a:r>
              <a:rPr lang="en-US" sz="2000"/>
              <a:t>The code names of android ranges from A to N currently, such as Aestro, Blender, Cupcake, Donut, Eclair, Froyo, Gingerbread, Honeycomb, Ice Cream Sandwitch, Jelly Bean, KitKat, Lollipop and Marshmallow. Let's understand the android history in a sequence.</a:t>
            </a:r>
            <a:endParaRPr/>
          </a:p>
        </p:txBody>
      </p:sp>
      <p:pic>
        <p:nvPicPr>
          <p:cNvPr id="195" name="Google Shape;195;p9"/>
          <p:cNvPicPr preferRelativeResize="0"/>
          <p:nvPr/>
        </p:nvPicPr>
        <p:blipFill rotWithShape="1">
          <a:blip r:embed="rId3">
            <a:alphaModFix/>
          </a:blip>
          <a:srcRect b="0" l="0" r="0" t="0"/>
          <a:stretch/>
        </p:blipFill>
        <p:spPr>
          <a:xfrm>
            <a:off x="2359479" y="2915804"/>
            <a:ext cx="6057219" cy="362991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0"/>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What is API level?</a:t>
            </a:r>
            <a:endParaRPr/>
          </a:p>
        </p:txBody>
      </p:sp>
      <p:sp>
        <p:nvSpPr>
          <p:cNvPr id="201" name="Google Shape;201;p10"/>
          <p:cNvSpPr txBox="1"/>
          <p:nvPr>
            <p:ph idx="1" type="body"/>
          </p:nvPr>
        </p:nvSpPr>
        <p:spPr>
          <a:xfrm>
            <a:off x="677335" y="1485902"/>
            <a:ext cx="8596668" cy="4555463"/>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SzPts val="1600"/>
              <a:buNone/>
            </a:pPr>
            <a:r>
              <a:rPr lang="en-US" sz="2000"/>
              <a:t>API Level is an integer value that uniquely identifies the framework API revision offered by a version of the Android platform.</a:t>
            </a:r>
            <a:endParaRPr/>
          </a:p>
        </p:txBody>
      </p:sp>
      <p:graphicFrame>
        <p:nvGraphicFramePr>
          <p:cNvPr id="202" name="Google Shape;202;p10"/>
          <p:cNvGraphicFramePr/>
          <p:nvPr/>
        </p:nvGraphicFramePr>
        <p:xfrm>
          <a:off x="1110342" y="2908231"/>
          <a:ext cx="3000000" cy="3000000"/>
        </p:xfrm>
        <a:graphic>
          <a:graphicData uri="http://schemas.openxmlformats.org/drawingml/2006/table">
            <a:tbl>
              <a:tblPr>
                <a:noFill/>
                <a:tableStyleId>{3A92B287-9402-450F-9BE6-3FBAE5D3E32A}</a:tableStyleId>
              </a:tblPr>
              <a:tblGrid>
                <a:gridCol w="2167625"/>
                <a:gridCol w="2167625"/>
                <a:gridCol w="2167625"/>
                <a:gridCol w="2167625"/>
              </a:tblGrid>
              <a:tr h="228600">
                <a:tc>
                  <a:txBody>
                    <a:bodyPr/>
                    <a:lstStyle/>
                    <a:p>
                      <a:pPr indent="0" lvl="0" marL="0" marR="0" rtl="0" algn="l">
                        <a:spcBef>
                          <a:spcPts val="0"/>
                        </a:spcBef>
                        <a:spcAft>
                          <a:spcPts val="0"/>
                        </a:spcAft>
                        <a:buNone/>
                      </a:pPr>
                      <a:r>
                        <a:rPr lang="en-US" sz="1800" u="none" cap="none" strike="noStrike"/>
                        <a:t>Platform Version</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l">
                        <a:spcBef>
                          <a:spcPts val="0"/>
                        </a:spcBef>
                        <a:spcAft>
                          <a:spcPts val="0"/>
                        </a:spcAft>
                        <a:buNone/>
                      </a:pPr>
                      <a:r>
                        <a:rPr lang="en-US" sz="1800" u="none" cap="none" strike="noStrike"/>
                        <a:t>API Level</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l">
                        <a:spcBef>
                          <a:spcPts val="0"/>
                        </a:spcBef>
                        <a:spcAft>
                          <a:spcPts val="0"/>
                        </a:spcAft>
                        <a:buNone/>
                      </a:pPr>
                      <a:r>
                        <a:rPr lang="en-US" sz="1800" u="none" cap="none" strike="noStrike"/>
                        <a:t>VERSION_CODE</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l">
                        <a:spcBef>
                          <a:spcPts val="0"/>
                        </a:spcBef>
                        <a:spcAft>
                          <a:spcPts val="0"/>
                        </a:spcAft>
                        <a:buNone/>
                      </a:pPr>
                      <a:r>
                        <a:t/>
                      </a:r>
                      <a:endParaRPr sz="1800" u="none" cap="none" strike="noStrike"/>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r>
              <a:tr h="228600">
                <a:tc>
                  <a:txBody>
                    <a:bodyPr/>
                    <a:lstStyle/>
                    <a:p>
                      <a:pPr indent="0" lvl="0" marL="0" marR="0" rtl="0" algn="l">
                        <a:spcBef>
                          <a:spcPts val="0"/>
                        </a:spcBef>
                        <a:spcAft>
                          <a:spcPts val="0"/>
                        </a:spcAft>
                        <a:buNone/>
                      </a:pPr>
                      <a:r>
                        <a:rPr lang="en-US" sz="1800" u="none" cap="none" strike="noStrike"/>
                        <a:t>Android 6.0</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u="none" cap="none" strike="noStrike"/>
                        <a:t>23</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u="none" cap="none" strike="noStrike"/>
                        <a:t>MARSHMALLOW</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u="none" cap="none" strike="noStrike"/>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u="none" cap="none" strike="noStrike"/>
                        <a:t>Android 5.1</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u="none" cap="none" strike="noStrike"/>
                        <a:t>22</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u="none" cap="none" strike="noStrike"/>
                        <a:t>LOLLIPOP_MR1</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u="none" cap="none" strike="noStrike"/>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u="none" cap="none" strike="noStrike"/>
                        <a:t>Android 5.0</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u="none" cap="none" strike="noStrike"/>
                        <a:t>21</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u="none" cap="none" strike="noStrike"/>
                        <a:t>LOLLIPOP</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u="none" cap="none" strike="noStrike"/>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u="none" cap="none" strike="noStrike"/>
                        <a:t>Android 4.4W</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u="none" cap="none" strike="noStrike"/>
                        <a:t>20</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u="none" cap="none" strike="noStrike"/>
                        <a:t>KITKAT_WATCH</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u="none" cap="none" strike="noStrike">
                          <a:solidFill>
                            <a:srgbClr val="BBBBBB"/>
                          </a:solidFill>
                        </a:rPr>
                        <a:t>KitKat for Wearables Only</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1"/>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What is API level?</a:t>
            </a:r>
            <a:endParaRPr/>
          </a:p>
        </p:txBody>
      </p:sp>
      <p:sp>
        <p:nvSpPr>
          <p:cNvPr id="208" name="Google Shape;208;p11"/>
          <p:cNvSpPr txBox="1"/>
          <p:nvPr>
            <p:ph idx="1" type="body"/>
          </p:nvPr>
        </p:nvSpPr>
        <p:spPr>
          <a:xfrm>
            <a:off x="677335" y="1485902"/>
            <a:ext cx="8596668" cy="4555463"/>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SzPts val="1600"/>
              <a:buNone/>
            </a:pPr>
            <a:r>
              <a:t/>
            </a:r>
            <a:endParaRPr sz="2000"/>
          </a:p>
        </p:txBody>
      </p:sp>
      <p:graphicFrame>
        <p:nvGraphicFramePr>
          <p:cNvPr id="209" name="Google Shape;209;p11"/>
          <p:cNvGraphicFramePr/>
          <p:nvPr/>
        </p:nvGraphicFramePr>
        <p:xfrm>
          <a:off x="1061357" y="1485902"/>
          <a:ext cx="3000000" cy="3000000"/>
        </p:xfrm>
        <a:graphic>
          <a:graphicData uri="http://schemas.openxmlformats.org/drawingml/2006/table">
            <a:tbl>
              <a:tblPr>
                <a:noFill/>
                <a:tableStyleId>{3A92B287-9402-450F-9BE6-3FBAE5D3E32A}</a:tableStyleId>
              </a:tblPr>
              <a:tblGrid>
                <a:gridCol w="2165575"/>
                <a:gridCol w="2165575"/>
                <a:gridCol w="2165575"/>
                <a:gridCol w="2165575"/>
              </a:tblGrid>
              <a:tr h="228600">
                <a:tc>
                  <a:txBody>
                    <a:bodyPr/>
                    <a:lstStyle/>
                    <a:p>
                      <a:pPr indent="0" lvl="0" marL="0" marR="0" rtl="0" algn="l">
                        <a:spcBef>
                          <a:spcPts val="0"/>
                        </a:spcBef>
                        <a:spcAft>
                          <a:spcPts val="0"/>
                        </a:spcAft>
                        <a:buNone/>
                      </a:pPr>
                      <a:r>
                        <a:rPr lang="en-US" sz="1800" u="none" cap="none" strike="noStrike"/>
                        <a:t>Platform Version</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l">
                        <a:spcBef>
                          <a:spcPts val="0"/>
                        </a:spcBef>
                        <a:spcAft>
                          <a:spcPts val="0"/>
                        </a:spcAft>
                        <a:buNone/>
                      </a:pPr>
                      <a:r>
                        <a:rPr lang="en-US" sz="1800" u="none" cap="none" strike="noStrike"/>
                        <a:t>API Level</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l">
                        <a:spcBef>
                          <a:spcPts val="0"/>
                        </a:spcBef>
                        <a:spcAft>
                          <a:spcPts val="0"/>
                        </a:spcAft>
                        <a:buNone/>
                      </a:pPr>
                      <a:r>
                        <a:rPr lang="en-US" sz="1800" u="none" cap="none" strike="noStrike"/>
                        <a:t>VERSION_CODE</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l">
                        <a:spcBef>
                          <a:spcPts val="0"/>
                        </a:spcBef>
                        <a:spcAft>
                          <a:spcPts val="0"/>
                        </a:spcAft>
                        <a:buNone/>
                      </a:pPr>
                      <a:r>
                        <a:t/>
                      </a:r>
                      <a:endParaRPr sz="1800" u="none" cap="none" strike="noStrike"/>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r>
              <a:tr h="0">
                <a:tc>
                  <a:txBody>
                    <a:bodyPr/>
                    <a:lstStyle/>
                    <a:p>
                      <a:pPr indent="0" lvl="0" marL="0" marR="0" rtl="0" algn="l">
                        <a:spcBef>
                          <a:spcPts val="0"/>
                        </a:spcBef>
                        <a:spcAft>
                          <a:spcPts val="0"/>
                        </a:spcAft>
                        <a:buNone/>
                      </a:pPr>
                      <a:r>
                        <a:t/>
                      </a:r>
                      <a:endParaRPr sz="1800"/>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Android 4.4</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19</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KITKAT</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Android 4.3</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18</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JELLY_BEAN_MR2</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Android 4.2, 4.2.2</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17</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JELLY_BEAN_MR1</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Android 4.1, 4.1.1</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16</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JELLY_BEAN</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Android 4.0.3, 4.0.4</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15</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ICE_CREAM_SANDWICH_MR1</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Android 4.0, 4.0.1, 4.0.2</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14</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ICE_CREAM_SANDWICH</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Android 3.2</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13</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HONEYCOMB_MR2</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2"/>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What is API level?</a:t>
            </a:r>
            <a:endParaRPr/>
          </a:p>
        </p:txBody>
      </p:sp>
      <p:sp>
        <p:nvSpPr>
          <p:cNvPr id="215" name="Google Shape;215;p12"/>
          <p:cNvSpPr txBox="1"/>
          <p:nvPr>
            <p:ph idx="1" type="body"/>
          </p:nvPr>
        </p:nvSpPr>
        <p:spPr>
          <a:xfrm>
            <a:off x="677335" y="1485902"/>
            <a:ext cx="8596668" cy="4555463"/>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SzPts val="1600"/>
              <a:buNone/>
            </a:pPr>
            <a:r>
              <a:t/>
            </a:r>
            <a:endParaRPr sz="2000"/>
          </a:p>
        </p:txBody>
      </p:sp>
      <p:graphicFrame>
        <p:nvGraphicFramePr>
          <p:cNvPr id="216" name="Google Shape;216;p12"/>
          <p:cNvGraphicFramePr/>
          <p:nvPr/>
        </p:nvGraphicFramePr>
        <p:xfrm>
          <a:off x="1061357" y="1485902"/>
          <a:ext cx="3000000" cy="3000000"/>
        </p:xfrm>
        <a:graphic>
          <a:graphicData uri="http://schemas.openxmlformats.org/drawingml/2006/table">
            <a:tbl>
              <a:tblPr>
                <a:noFill/>
                <a:tableStyleId>{3A92B287-9402-450F-9BE6-3FBAE5D3E32A}</a:tableStyleId>
              </a:tblPr>
              <a:tblGrid>
                <a:gridCol w="2165575"/>
                <a:gridCol w="2165575"/>
                <a:gridCol w="2165575"/>
                <a:gridCol w="2165575"/>
              </a:tblGrid>
              <a:tr h="228600">
                <a:tc>
                  <a:txBody>
                    <a:bodyPr/>
                    <a:lstStyle/>
                    <a:p>
                      <a:pPr indent="0" lvl="0" marL="0" marR="0" rtl="0" algn="l">
                        <a:spcBef>
                          <a:spcPts val="0"/>
                        </a:spcBef>
                        <a:spcAft>
                          <a:spcPts val="0"/>
                        </a:spcAft>
                        <a:buNone/>
                      </a:pPr>
                      <a:r>
                        <a:rPr lang="en-US" sz="1800"/>
                        <a:t>Platform Version</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l">
                        <a:spcBef>
                          <a:spcPts val="0"/>
                        </a:spcBef>
                        <a:spcAft>
                          <a:spcPts val="0"/>
                        </a:spcAft>
                        <a:buNone/>
                      </a:pPr>
                      <a:r>
                        <a:rPr lang="en-US" sz="1800"/>
                        <a:t>API Level</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l">
                        <a:spcBef>
                          <a:spcPts val="0"/>
                        </a:spcBef>
                        <a:spcAft>
                          <a:spcPts val="0"/>
                        </a:spcAft>
                        <a:buNone/>
                      </a:pPr>
                      <a:r>
                        <a:rPr lang="en-US" sz="1800"/>
                        <a:t>VERSION_CODE</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l">
                        <a:spcBef>
                          <a:spcPts val="0"/>
                        </a:spcBef>
                        <a:spcAft>
                          <a:spcPts val="0"/>
                        </a:spcAft>
                        <a:buNone/>
                      </a:pPr>
                      <a:r>
                        <a:t/>
                      </a:r>
                      <a:endParaRPr sz="1800"/>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r>
              <a:tr h="228600">
                <a:tc>
                  <a:txBody>
                    <a:bodyPr/>
                    <a:lstStyle/>
                    <a:p>
                      <a:pPr indent="0" lvl="0" marL="0" marR="0" rtl="0" algn="l">
                        <a:spcBef>
                          <a:spcPts val="0"/>
                        </a:spcBef>
                        <a:spcAft>
                          <a:spcPts val="0"/>
                        </a:spcAft>
                        <a:buNone/>
                      </a:pPr>
                      <a:r>
                        <a:rPr lang="en-US" sz="1800"/>
                        <a:t>Android 3.1.x</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12</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HONEYCOMB_MR1</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Android 3.0.x</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11</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HONEYCOMB</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228600">
                <a:tc>
                  <a:txBody>
                    <a:bodyPr/>
                    <a:lstStyle/>
                    <a:p>
                      <a:pPr indent="0" lvl="0" marL="0" marR="0" rtl="0" algn="just">
                        <a:spcBef>
                          <a:spcPts val="0"/>
                        </a:spcBef>
                        <a:spcAft>
                          <a:spcPts val="0"/>
                        </a:spcAft>
                        <a:buNone/>
                      </a:pPr>
                      <a:r>
                        <a:rPr lang="en-US" sz="1800">
                          <a:solidFill>
                            <a:srgbClr val="000000"/>
                          </a:solidFill>
                          <a:latin typeface="Arial"/>
                          <a:ea typeface="Arial"/>
                          <a:cs typeface="Arial"/>
                          <a:sym typeface="Arial"/>
                        </a:rPr>
                        <a:t>Android 2.3.4</a:t>
                      </a:r>
                      <a:endParaRPr/>
                    </a:p>
                    <a:p>
                      <a:pPr indent="0" lvl="0" marL="0" marR="0" rtl="0" algn="just">
                        <a:spcBef>
                          <a:spcPts val="0"/>
                        </a:spcBef>
                        <a:spcAft>
                          <a:spcPts val="0"/>
                        </a:spcAft>
                        <a:buNone/>
                      </a:pPr>
                      <a:r>
                        <a:rPr lang="en-US" sz="1800">
                          <a:solidFill>
                            <a:srgbClr val="000000"/>
                          </a:solidFill>
                          <a:latin typeface="Arial"/>
                          <a:ea typeface="Arial"/>
                          <a:cs typeface="Arial"/>
                          <a:sym typeface="Arial"/>
                        </a:rPr>
                        <a:t>Android 2.3.3</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10</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GINGERBREAD_MR1</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228600">
                <a:tc>
                  <a:txBody>
                    <a:bodyPr/>
                    <a:lstStyle/>
                    <a:p>
                      <a:pPr indent="0" lvl="0" marL="0" marR="0" rtl="0" algn="just">
                        <a:spcBef>
                          <a:spcPts val="0"/>
                        </a:spcBef>
                        <a:spcAft>
                          <a:spcPts val="0"/>
                        </a:spcAft>
                        <a:buNone/>
                      </a:pPr>
                      <a:r>
                        <a:rPr lang="en-US" sz="1800">
                          <a:solidFill>
                            <a:srgbClr val="000000"/>
                          </a:solidFill>
                          <a:latin typeface="Arial"/>
                          <a:ea typeface="Arial"/>
                          <a:cs typeface="Arial"/>
                          <a:sym typeface="Arial"/>
                        </a:rPr>
                        <a:t>Android 2.3.2</a:t>
                      </a:r>
                      <a:endParaRPr/>
                    </a:p>
                    <a:p>
                      <a:pPr indent="0" lvl="0" marL="0" marR="0" rtl="0" algn="just">
                        <a:spcBef>
                          <a:spcPts val="0"/>
                        </a:spcBef>
                        <a:spcAft>
                          <a:spcPts val="0"/>
                        </a:spcAft>
                        <a:buNone/>
                      </a:pPr>
                      <a:r>
                        <a:rPr lang="en-US" sz="1800">
                          <a:solidFill>
                            <a:srgbClr val="000000"/>
                          </a:solidFill>
                          <a:latin typeface="Arial"/>
                          <a:ea typeface="Arial"/>
                          <a:cs typeface="Arial"/>
                          <a:sym typeface="Arial"/>
                        </a:rPr>
                        <a:t>Android 2.3.1</a:t>
                      </a:r>
                      <a:endParaRPr/>
                    </a:p>
                    <a:p>
                      <a:pPr indent="0" lvl="0" marL="0" marR="0" rtl="0" algn="just">
                        <a:spcBef>
                          <a:spcPts val="0"/>
                        </a:spcBef>
                        <a:spcAft>
                          <a:spcPts val="0"/>
                        </a:spcAft>
                        <a:buNone/>
                      </a:pPr>
                      <a:r>
                        <a:rPr lang="en-US" sz="1800">
                          <a:solidFill>
                            <a:srgbClr val="000000"/>
                          </a:solidFill>
                          <a:latin typeface="Arial"/>
                          <a:ea typeface="Arial"/>
                          <a:cs typeface="Arial"/>
                          <a:sym typeface="Arial"/>
                        </a:rPr>
                        <a:t>Android 2.3</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9</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GINGERBREAD</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Android 2.2.x</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8</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FROYO</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Android 2.1.x</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7</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ECLAIR_MR1</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Android 2.0.1</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6</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ECLAIR_0_1</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Android 2.0</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5</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ECLAIR</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3"/>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What is API level?</a:t>
            </a:r>
            <a:endParaRPr/>
          </a:p>
        </p:txBody>
      </p:sp>
      <p:sp>
        <p:nvSpPr>
          <p:cNvPr id="222" name="Google Shape;222;p13"/>
          <p:cNvSpPr txBox="1"/>
          <p:nvPr>
            <p:ph idx="1" type="body"/>
          </p:nvPr>
        </p:nvSpPr>
        <p:spPr>
          <a:xfrm>
            <a:off x="677335" y="1485902"/>
            <a:ext cx="8596668" cy="4555463"/>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SzPts val="1600"/>
              <a:buNone/>
            </a:pPr>
            <a:r>
              <a:t/>
            </a:r>
            <a:endParaRPr sz="2000"/>
          </a:p>
        </p:txBody>
      </p:sp>
      <p:graphicFrame>
        <p:nvGraphicFramePr>
          <p:cNvPr id="223" name="Google Shape;223;p13"/>
          <p:cNvGraphicFramePr/>
          <p:nvPr/>
        </p:nvGraphicFramePr>
        <p:xfrm>
          <a:off x="1061357" y="1485902"/>
          <a:ext cx="3000000" cy="3000000"/>
        </p:xfrm>
        <a:graphic>
          <a:graphicData uri="http://schemas.openxmlformats.org/drawingml/2006/table">
            <a:tbl>
              <a:tblPr>
                <a:noFill/>
                <a:tableStyleId>{3A92B287-9402-450F-9BE6-3FBAE5D3E32A}</a:tableStyleId>
              </a:tblPr>
              <a:tblGrid>
                <a:gridCol w="2165575"/>
                <a:gridCol w="2165575"/>
                <a:gridCol w="2165575"/>
                <a:gridCol w="2165575"/>
              </a:tblGrid>
              <a:tr h="228600">
                <a:tc>
                  <a:txBody>
                    <a:bodyPr/>
                    <a:lstStyle/>
                    <a:p>
                      <a:pPr indent="0" lvl="0" marL="0" marR="0" rtl="0" algn="l">
                        <a:spcBef>
                          <a:spcPts val="0"/>
                        </a:spcBef>
                        <a:spcAft>
                          <a:spcPts val="0"/>
                        </a:spcAft>
                        <a:buNone/>
                      </a:pPr>
                      <a:r>
                        <a:rPr lang="en-US" sz="1800"/>
                        <a:t>Platform Version</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l">
                        <a:spcBef>
                          <a:spcPts val="0"/>
                        </a:spcBef>
                        <a:spcAft>
                          <a:spcPts val="0"/>
                        </a:spcAft>
                        <a:buNone/>
                      </a:pPr>
                      <a:r>
                        <a:rPr lang="en-US" sz="1800"/>
                        <a:t>API Level</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l">
                        <a:spcBef>
                          <a:spcPts val="0"/>
                        </a:spcBef>
                        <a:spcAft>
                          <a:spcPts val="0"/>
                        </a:spcAft>
                        <a:buNone/>
                      </a:pPr>
                      <a:r>
                        <a:rPr lang="en-US" sz="1800"/>
                        <a:t>VERSION_CODE</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l">
                        <a:spcBef>
                          <a:spcPts val="0"/>
                        </a:spcBef>
                        <a:spcAft>
                          <a:spcPts val="0"/>
                        </a:spcAft>
                        <a:buNone/>
                      </a:pPr>
                      <a:r>
                        <a:t/>
                      </a:r>
                      <a:endParaRPr sz="1800"/>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r>
              <a:tr h="228600">
                <a:tc>
                  <a:txBody>
                    <a:bodyPr/>
                    <a:lstStyle/>
                    <a:p>
                      <a:pPr indent="0" lvl="0" marL="0" marR="0" rtl="0" algn="l">
                        <a:spcBef>
                          <a:spcPts val="0"/>
                        </a:spcBef>
                        <a:spcAft>
                          <a:spcPts val="0"/>
                        </a:spcAft>
                        <a:buNone/>
                      </a:pPr>
                      <a:r>
                        <a:rPr lang="en-US" sz="1800"/>
                        <a:t>Android 1.6</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4</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DONUT</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Android 1.5</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3</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CUPCAKE</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Android 1.1</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2</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BASE_1_1</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Android 1.0</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1</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BASE</a:t>
                      </a:r>
                      <a:endParaRPr/>
                    </a:p>
                  </a:txBody>
                  <a:tcPr marT="60950" marB="60950" marR="60950" marL="609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4"/>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Android Architecture</a:t>
            </a:r>
            <a:endParaRPr/>
          </a:p>
        </p:txBody>
      </p:sp>
      <p:sp>
        <p:nvSpPr>
          <p:cNvPr id="229" name="Google Shape;229;p14"/>
          <p:cNvSpPr txBox="1"/>
          <p:nvPr>
            <p:ph idx="1" type="body"/>
          </p:nvPr>
        </p:nvSpPr>
        <p:spPr>
          <a:xfrm>
            <a:off x="677335" y="1485902"/>
            <a:ext cx="3715051" cy="4555463"/>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SzPts val="1600"/>
              <a:buNone/>
            </a:pPr>
            <a:r>
              <a:rPr lang="en-US" sz="2000"/>
              <a:t>Android operating system is a stack of software components which is roughly divided into five sections and four main layers as shown below in the architecture diagram.</a:t>
            </a:r>
            <a:endParaRPr/>
          </a:p>
        </p:txBody>
      </p:sp>
      <p:pic>
        <p:nvPicPr>
          <p:cNvPr descr="Android System Architecture" id="230" name="Google Shape;230;p14"/>
          <p:cNvPicPr preferRelativeResize="0"/>
          <p:nvPr/>
        </p:nvPicPr>
        <p:blipFill rotWithShape="1">
          <a:blip r:embed="rId3">
            <a:alphaModFix/>
          </a:blip>
          <a:srcRect b="0" l="0" r="0" t="0"/>
          <a:stretch/>
        </p:blipFill>
        <p:spPr>
          <a:xfrm>
            <a:off x="4532247" y="1295535"/>
            <a:ext cx="7386985" cy="538069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5"/>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Android Architecture</a:t>
            </a:r>
            <a:endParaRPr/>
          </a:p>
        </p:txBody>
      </p:sp>
      <p:sp>
        <p:nvSpPr>
          <p:cNvPr id="236" name="Google Shape;236;p15"/>
          <p:cNvSpPr txBox="1"/>
          <p:nvPr>
            <p:ph idx="1" type="body"/>
          </p:nvPr>
        </p:nvSpPr>
        <p:spPr>
          <a:xfrm>
            <a:off x="677325" y="1485900"/>
            <a:ext cx="8596800" cy="4503000"/>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SzPts val="1600"/>
              <a:buNone/>
            </a:pPr>
            <a:r>
              <a:t/>
            </a:r>
            <a:endParaRPr sz="2000"/>
          </a:p>
        </p:txBody>
      </p:sp>
      <p:pic>
        <p:nvPicPr>
          <p:cNvPr descr="Android System Architecture" id="237" name="Google Shape;237;p15"/>
          <p:cNvPicPr preferRelativeResize="0"/>
          <p:nvPr/>
        </p:nvPicPr>
        <p:blipFill rotWithShape="1">
          <a:blip r:embed="rId3">
            <a:alphaModFix/>
          </a:blip>
          <a:srcRect b="0" l="0" r="0" t="0"/>
          <a:stretch/>
        </p:blipFill>
        <p:spPr>
          <a:xfrm>
            <a:off x="1829868" y="1270000"/>
            <a:ext cx="7386985" cy="538069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6"/>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Linux Kernel layer</a:t>
            </a:r>
            <a:endParaRPr/>
          </a:p>
        </p:txBody>
      </p:sp>
      <p:sp>
        <p:nvSpPr>
          <p:cNvPr id="243" name="Google Shape;243;p16"/>
          <p:cNvSpPr txBox="1"/>
          <p:nvPr>
            <p:ph idx="1" type="body"/>
          </p:nvPr>
        </p:nvSpPr>
        <p:spPr>
          <a:xfrm>
            <a:off x="677335" y="2979964"/>
            <a:ext cx="8596668" cy="3061401"/>
          </a:xfrm>
          <a:prstGeom prst="rect">
            <a:avLst/>
          </a:prstGeom>
          <a:noFill/>
          <a:ln>
            <a:noFill/>
          </a:ln>
        </p:spPr>
        <p:txBody>
          <a:bodyPr anchorCtr="0" anchor="t" bIns="45700" lIns="91425" spcFirstLastPara="1" rIns="91425" wrap="square" tIns="45700">
            <a:normAutofit/>
          </a:bodyPr>
          <a:lstStyle/>
          <a:p>
            <a:pPr indent="-342891" lvl="0" marL="342891" rtl="0" algn="l">
              <a:lnSpc>
                <a:spcPct val="90000"/>
              </a:lnSpc>
              <a:spcBef>
                <a:spcPts val="0"/>
              </a:spcBef>
              <a:spcAft>
                <a:spcPts val="0"/>
              </a:spcAft>
              <a:buSzPts val="1600"/>
              <a:buChar char="►"/>
            </a:pPr>
            <a:r>
              <a:rPr lang="en-US" sz="2000"/>
              <a:t>Android relies on Linux kernel</a:t>
            </a:r>
            <a:endParaRPr/>
          </a:p>
          <a:p>
            <a:pPr indent="-342891" lvl="0" marL="342891" rtl="0" algn="l">
              <a:lnSpc>
                <a:spcPct val="90000"/>
              </a:lnSpc>
              <a:spcBef>
                <a:spcPts val="1000"/>
              </a:spcBef>
              <a:spcAft>
                <a:spcPts val="0"/>
              </a:spcAft>
              <a:buSzPts val="1600"/>
              <a:buChar char="►"/>
            </a:pPr>
            <a:r>
              <a:rPr lang="en-US" sz="2000"/>
              <a:t>Supplies management of security, memory process, network, and drivers </a:t>
            </a:r>
            <a:endParaRPr/>
          </a:p>
          <a:p>
            <a:pPr indent="-342891" lvl="0" marL="342891" rtl="0" algn="l">
              <a:lnSpc>
                <a:spcPct val="90000"/>
              </a:lnSpc>
              <a:spcBef>
                <a:spcPts val="1000"/>
              </a:spcBef>
              <a:spcAft>
                <a:spcPts val="0"/>
              </a:spcAft>
              <a:buSzPts val="1600"/>
              <a:buChar char="►"/>
            </a:pPr>
            <a:r>
              <a:rPr lang="en-US" sz="2000"/>
              <a:t>Acts as an abstraction layer between the hardware and the rest of the Android software stack</a:t>
            </a:r>
            <a:endParaRPr sz="2000"/>
          </a:p>
        </p:txBody>
      </p:sp>
      <p:pic>
        <p:nvPicPr>
          <p:cNvPr descr="Android System Architecture" id="244" name="Google Shape;244;p16"/>
          <p:cNvPicPr preferRelativeResize="0"/>
          <p:nvPr/>
        </p:nvPicPr>
        <p:blipFill rotWithShape="1">
          <a:blip r:embed="rId3">
            <a:alphaModFix/>
          </a:blip>
          <a:srcRect b="0" l="0" r="0" t="75453"/>
          <a:stretch/>
        </p:blipFill>
        <p:spPr>
          <a:xfrm>
            <a:off x="1470639" y="1485902"/>
            <a:ext cx="7386985" cy="1320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7"/>
          <p:cNvSpPr txBox="1"/>
          <p:nvPr>
            <p:ph type="title"/>
          </p:nvPr>
        </p:nvSpPr>
        <p:spPr>
          <a:xfrm>
            <a:off x="677335" y="390625"/>
            <a:ext cx="8596800" cy="13209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Library layer</a:t>
            </a:r>
            <a:endParaRPr/>
          </a:p>
        </p:txBody>
      </p:sp>
      <p:sp>
        <p:nvSpPr>
          <p:cNvPr id="250" name="Google Shape;250;p17"/>
          <p:cNvSpPr txBox="1"/>
          <p:nvPr>
            <p:ph idx="1" type="body"/>
          </p:nvPr>
        </p:nvSpPr>
        <p:spPr>
          <a:xfrm>
            <a:off x="677335" y="3028950"/>
            <a:ext cx="8596668" cy="3657600"/>
          </a:xfrm>
          <a:prstGeom prst="rect">
            <a:avLst/>
          </a:prstGeom>
          <a:noFill/>
          <a:ln>
            <a:noFill/>
          </a:ln>
        </p:spPr>
        <p:txBody>
          <a:bodyPr anchorCtr="0" anchor="t" bIns="45700" lIns="91425" spcFirstLastPara="1" rIns="91425" wrap="square" tIns="45700">
            <a:normAutofit fontScale="85000" lnSpcReduction="20000"/>
          </a:bodyPr>
          <a:lstStyle/>
          <a:p>
            <a:pPr indent="-342891" lvl="0" marL="342891" rtl="0" algn="l">
              <a:lnSpc>
                <a:spcPct val="80000"/>
              </a:lnSpc>
              <a:spcBef>
                <a:spcPts val="0"/>
              </a:spcBef>
              <a:spcAft>
                <a:spcPts val="0"/>
              </a:spcAft>
              <a:buSzPct val="80000"/>
              <a:buNone/>
            </a:pPr>
            <a:r>
              <a:t/>
            </a:r>
            <a:endParaRPr sz="2000"/>
          </a:p>
          <a:p>
            <a:pPr indent="-342891" lvl="0" marL="342891" rtl="0" algn="l">
              <a:lnSpc>
                <a:spcPct val="80000"/>
              </a:lnSpc>
              <a:spcBef>
                <a:spcPts val="1000"/>
              </a:spcBef>
              <a:spcAft>
                <a:spcPts val="0"/>
              </a:spcAft>
              <a:buSzPct val="80000"/>
              <a:buChar char="►"/>
            </a:pPr>
            <a:r>
              <a:rPr lang="en-US" sz="2400"/>
              <a:t>System C libraries and function Libraries, supporting multimedia, web browser, SQLite... Native Services to hardware </a:t>
            </a:r>
            <a:endParaRPr/>
          </a:p>
          <a:p>
            <a:pPr indent="-342891" lvl="0" marL="342891" rtl="0" algn="l">
              <a:lnSpc>
                <a:spcPct val="80000"/>
              </a:lnSpc>
              <a:spcBef>
                <a:spcPts val="1000"/>
              </a:spcBef>
              <a:spcAft>
                <a:spcPts val="0"/>
              </a:spcAft>
              <a:buSzPct val="80000"/>
              <a:buChar char="►"/>
            </a:pPr>
            <a:r>
              <a:rPr lang="en-US" sz="2400"/>
              <a:t>Android runtime</a:t>
            </a:r>
            <a:endParaRPr/>
          </a:p>
          <a:p>
            <a:pPr indent="-342891" lvl="0" marL="342891" rtl="0" algn="l">
              <a:lnSpc>
                <a:spcPct val="80000"/>
              </a:lnSpc>
              <a:spcBef>
                <a:spcPts val="1000"/>
              </a:spcBef>
              <a:spcAft>
                <a:spcPts val="0"/>
              </a:spcAft>
              <a:buSzPct val="80000"/>
              <a:buNone/>
            </a:pPr>
            <a:r>
              <a:rPr lang="en-US" sz="2400"/>
              <a:t>     Dalvik Virtual Machine</a:t>
            </a:r>
            <a:endParaRPr/>
          </a:p>
          <a:p>
            <a:pPr indent="-285744" lvl="1" marL="742932" rtl="0" algn="l">
              <a:lnSpc>
                <a:spcPct val="80000"/>
              </a:lnSpc>
              <a:spcBef>
                <a:spcPts val="1000"/>
              </a:spcBef>
              <a:spcAft>
                <a:spcPts val="0"/>
              </a:spcAft>
              <a:buSzPct val="80000"/>
              <a:buChar char="►"/>
            </a:pPr>
            <a:r>
              <a:rPr lang="en-US" sz="2400"/>
              <a:t>Executes files in the Dalvik Executable (.dex) format</a:t>
            </a:r>
            <a:endParaRPr/>
          </a:p>
          <a:p>
            <a:pPr indent="-342891" lvl="0" marL="342891" rtl="0" algn="l">
              <a:lnSpc>
                <a:spcPct val="80000"/>
              </a:lnSpc>
              <a:spcBef>
                <a:spcPts val="1000"/>
              </a:spcBef>
              <a:spcAft>
                <a:spcPts val="0"/>
              </a:spcAft>
              <a:buSzPct val="80000"/>
              <a:buNone/>
            </a:pPr>
            <a:r>
              <a:rPr lang="en-US" sz="2400"/>
              <a:t>    Java core Libraries</a:t>
            </a:r>
            <a:endParaRPr sz="2400"/>
          </a:p>
          <a:p>
            <a:pPr indent="-285744" lvl="1" marL="742932" rtl="0" algn="l">
              <a:lnSpc>
                <a:spcPct val="80000"/>
              </a:lnSpc>
              <a:spcBef>
                <a:spcPts val="1000"/>
              </a:spcBef>
              <a:spcAft>
                <a:spcPts val="0"/>
              </a:spcAft>
              <a:buSzPct val="80000"/>
              <a:buChar char="►"/>
            </a:pPr>
            <a:r>
              <a:rPr lang="en-US" sz="2400"/>
              <a:t>Provides most of the functionality of the Java programming language.</a:t>
            </a:r>
            <a:endParaRPr/>
          </a:p>
          <a:p>
            <a:pPr indent="-342891" lvl="0" marL="342891" rtl="0" algn="l">
              <a:lnSpc>
                <a:spcPct val="80000"/>
              </a:lnSpc>
              <a:spcBef>
                <a:spcPts val="1000"/>
              </a:spcBef>
              <a:spcAft>
                <a:spcPts val="0"/>
              </a:spcAft>
              <a:buSzPct val="80000"/>
              <a:buNone/>
            </a:pPr>
            <a:r>
              <a:rPr lang="en-US" sz="2400"/>
              <a:t>     Java core libraries rely on the Dalvik VM and the underlying Linux kernel</a:t>
            </a:r>
            <a:endParaRPr/>
          </a:p>
          <a:p>
            <a:pPr indent="-342891" lvl="0" marL="342891" rtl="0" algn="l">
              <a:lnSpc>
                <a:spcPct val="80000"/>
              </a:lnSpc>
              <a:spcBef>
                <a:spcPts val="1000"/>
              </a:spcBef>
              <a:spcAft>
                <a:spcPts val="0"/>
              </a:spcAft>
              <a:buSzPct val="80000"/>
              <a:buNone/>
            </a:pPr>
            <a:r>
              <a:rPr lang="en-US" sz="2400"/>
              <a:t>     Every Android application runs in its own process, with its own instance of the Dalvik virtual machine</a:t>
            </a:r>
            <a:endParaRPr/>
          </a:p>
        </p:txBody>
      </p:sp>
      <p:pic>
        <p:nvPicPr>
          <p:cNvPr descr="Android System Architecture" id="251" name="Google Shape;251;p17"/>
          <p:cNvPicPr preferRelativeResize="0"/>
          <p:nvPr/>
        </p:nvPicPr>
        <p:blipFill rotWithShape="1">
          <a:blip r:embed="rId3">
            <a:alphaModFix/>
          </a:blip>
          <a:srcRect b="23970" l="0" r="-120" t="41132"/>
          <a:stretch/>
        </p:blipFill>
        <p:spPr>
          <a:xfrm>
            <a:off x="1576776" y="1270000"/>
            <a:ext cx="7395774" cy="187778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8"/>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Android Libraries</a:t>
            </a:r>
            <a:endParaRPr/>
          </a:p>
        </p:txBody>
      </p:sp>
      <p:sp>
        <p:nvSpPr>
          <p:cNvPr id="257" name="Google Shape;257;p18"/>
          <p:cNvSpPr txBox="1"/>
          <p:nvPr>
            <p:ph idx="1" type="body"/>
          </p:nvPr>
        </p:nvSpPr>
        <p:spPr>
          <a:xfrm>
            <a:off x="677335" y="1526722"/>
            <a:ext cx="8596668" cy="4514644"/>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SzPts val="1440"/>
              <a:buNone/>
            </a:pPr>
            <a:r>
              <a:rPr lang="en-US"/>
              <a:t>This category encompasses those Java-based libraries that are specific to Android development. Examples of libraries in this category include the application framework libraries in addition to those that facilitate user interface building, graphics drawing and database access. A summary of some key core Android libraries available to the Android developer is as follows −</a:t>
            </a:r>
            <a:endParaRPr/>
          </a:p>
          <a:p>
            <a:pPr indent="-342891" lvl="0" marL="342891" rtl="0" algn="l">
              <a:spcBef>
                <a:spcPts val="1000"/>
              </a:spcBef>
              <a:spcAft>
                <a:spcPts val="0"/>
              </a:spcAft>
              <a:buSzPts val="1440"/>
              <a:buChar char="►"/>
            </a:pPr>
            <a:r>
              <a:rPr b="1" lang="en-US"/>
              <a:t>android.app</a:t>
            </a:r>
            <a:r>
              <a:rPr lang="en-US"/>
              <a:t> − Provides access to the application model and is the cornerstone of all Android applications.</a:t>
            </a:r>
            <a:endParaRPr/>
          </a:p>
          <a:p>
            <a:pPr indent="-342891" lvl="0" marL="342891" rtl="0" algn="l">
              <a:spcBef>
                <a:spcPts val="1000"/>
              </a:spcBef>
              <a:spcAft>
                <a:spcPts val="0"/>
              </a:spcAft>
              <a:buSzPts val="1440"/>
              <a:buChar char="►"/>
            </a:pPr>
            <a:r>
              <a:rPr b="1" lang="en-US"/>
              <a:t>android.content</a:t>
            </a:r>
            <a:r>
              <a:rPr lang="en-US"/>
              <a:t> − Facilitates content access, publishing and messaging between applications and application components.</a:t>
            </a:r>
            <a:endParaRPr/>
          </a:p>
          <a:p>
            <a:pPr indent="-342891" lvl="0" marL="342891" rtl="0" algn="l">
              <a:spcBef>
                <a:spcPts val="1000"/>
              </a:spcBef>
              <a:spcAft>
                <a:spcPts val="0"/>
              </a:spcAft>
              <a:buSzPts val="1440"/>
              <a:buChar char="►"/>
            </a:pPr>
            <a:r>
              <a:rPr b="1" lang="en-US"/>
              <a:t>android.database</a:t>
            </a:r>
            <a:r>
              <a:rPr lang="en-US"/>
              <a:t> − Used to access data published by content providers and includes SQLite database management classes.</a:t>
            </a:r>
            <a:endParaRPr/>
          </a:p>
          <a:p>
            <a:pPr indent="-342891" lvl="0" marL="342891" rtl="0" algn="l">
              <a:spcBef>
                <a:spcPts val="1000"/>
              </a:spcBef>
              <a:spcAft>
                <a:spcPts val="0"/>
              </a:spcAft>
              <a:buSzPts val="1440"/>
              <a:buChar char="►"/>
            </a:pPr>
            <a:r>
              <a:rPr b="1" lang="en-US"/>
              <a:t>android.opengl</a:t>
            </a:r>
            <a:r>
              <a:rPr lang="en-US"/>
              <a:t> − A Java interface to the OpenGL ES 3D graphics rendering API.</a:t>
            </a:r>
            <a:endParaRPr/>
          </a:p>
          <a:p>
            <a:pPr indent="0" lvl="0" marL="0" rtl="0" algn="just">
              <a:spcBef>
                <a:spcPts val="1000"/>
              </a:spcBef>
              <a:spcAft>
                <a:spcPts val="0"/>
              </a:spcAft>
              <a:buSzPts val="1600"/>
              <a:buNone/>
            </a:pPr>
            <a:r>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9"/>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Android Libraries</a:t>
            </a:r>
            <a:endParaRPr/>
          </a:p>
        </p:txBody>
      </p:sp>
      <p:sp>
        <p:nvSpPr>
          <p:cNvPr id="263" name="Google Shape;263;p19"/>
          <p:cNvSpPr txBox="1"/>
          <p:nvPr>
            <p:ph idx="1" type="body"/>
          </p:nvPr>
        </p:nvSpPr>
        <p:spPr>
          <a:xfrm>
            <a:off x="677335" y="1526722"/>
            <a:ext cx="8596668" cy="4514644"/>
          </a:xfrm>
          <a:prstGeom prst="rect">
            <a:avLst/>
          </a:prstGeom>
          <a:noFill/>
          <a:ln>
            <a:noFill/>
          </a:ln>
        </p:spPr>
        <p:txBody>
          <a:bodyPr anchorCtr="0" anchor="t" bIns="45700" lIns="91425" spcFirstLastPara="1" rIns="91425" wrap="square" tIns="45700">
            <a:normAutofit/>
          </a:bodyPr>
          <a:lstStyle/>
          <a:p>
            <a:pPr indent="-342891" lvl="0" marL="342891" rtl="0" algn="l">
              <a:spcBef>
                <a:spcPts val="0"/>
              </a:spcBef>
              <a:spcAft>
                <a:spcPts val="0"/>
              </a:spcAft>
              <a:buSzPts val="1440"/>
              <a:buChar char="►"/>
            </a:pPr>
            <a:r>
              <a:rPr b="1" lang="en-US"/>
              <a:t>android.os</a:t>
            </a:r>
            <a:r>
              <a:rPr lang="en-US"/>
              <a:t> − Provides applications with access to standard operating system services including messages, system services and inter-process communication.</a:t>
            </a:r>
            <a:endParaRPr/>
          </a:p>
          <a:p>
            <a:pPr indent="-342891" lvl="0" marL="342891" rtl="0" algn="l">
              <a:spcBef>
                <a:spcPts val="1000"/>
              </a:spcBef>
              <a:spcAft>
                <a:spcPts val="0"/>
              </a:spcAft>
              <a:buSzPts val="1440"/>
              <a:buChar char="►"/>
            </a:pPr>
            <a:r>
              <a:rPr b="1" lang="en-US"/>
              <a:t>android.text</a:t>
            </a:r>
            <a:r>
              <a:rPr lang="en-US"/>
              <a:t> − Used to render and manipulate text on a device display.</a:t>
            </a:r>
            <a:endParaRPr/>
          </a:p>
          <a:p>
            <a:pPr indent="-342891" lvl="0" marL="342891" rtl="0" algn="l">
              <a:spcBef>
                <a:spcPts val="1000"/>
              </a:spcBef>
              <a:spcAft>
                <a:spcPts val="0"/>
              </a:spcAft>
              <a:buSzPts val="1440"/>
              <a:buChar char="►"/>
            </a:pPr>
            <a:r>
              <a:rPr b="1" lang="en-US"/>
              <a:t>android.view</a:t>
            </a:r>
            <a:r>
              <a:rPr lang="en-US"/>
              <a:t> − The fundamental building blocks of application user interfaces.</a:t>
            </a:r>
            <a:endParaRPr/>
          </a:p>
          <a:p>
            <a:pPr indent="-342891" lvl="0" marL="342891" rtl="0" algn="l">
              <a:spcBef>
                <a:spcPts val="1000"/>
              </a:spcBef>
              <a:spcAft>
                <a:spcPts val="0"/>
              </a:spcAft>
              <a:buSzPts val="1440"/>
              <a:buChar char="►"/>
            </a:pPr>
            <a:r>
              <a:rPr b="1" lang="en-US"/>
              <a:t>android.widget</a:t>
            </a:r>
            <a:r>
              <a:rPr lang="en-US"/>
              <a:t> − A rich collection of pre-built user interface components such as buttons, labels, list views, layout managers, radio buttons etc.</a:t>
            </a:r>
            <a:endParaRPr/>
          </a:p>
          <a:p>
            <a:pPr indent="-342891" lvl="0" marL="342891" rtl="0" algn="l">
              <a:spcBef>
                <a:spcPts val="1000"/>
              </a:spcBef>
              <a:spcAft>
                <a:spcPts val="0"/>
              </a:spcAft>
              <a:buSzPts val="1440"/>
              <a:buChar char="►"/>
            </a:pPr>
            <a:r>
              <a:rPr b="1" lang="en-US"/>
              <a:t>android.webkit</a:t>
            </a:r>
            <a:r>
              <a:rPr lang="en-US"/>
              <a:t> − A set of classes intended to allow web-browsing capabilities to be built into applications.</a:t>
            </a:r>
            <a:endParaRPr/>
          </a:p>
          <a:p>
            <a:pPr indent="0" lvl="0" marL="0" rtl="0" algn="l">
              <a:spcBef>
                <a:spcPts val="1000"/>
              </a:spcBef>
              <a:spcAft>
                <a:spcPts val="0"/>
              </a:spcAft>
              <a:buSzPts val="1440"/>
              <a:buNone/>
            </a:pPr>
            <a:r>
              <a:rPr lang="en-US"/>
              <a:t>Having covered the Java-based core libraries in the Android runtime, it is now time to turn our attention to the C/C++ based libraries contained in this layer of the Android software stack.</a:t>
            </a:r>
            <a:endParaRPr/>
          </a:p>
          <a:p>
            <a:pPr indent="0" lvl="0" marL="0" rtl="0" algn="just">
              <a:spcBef>
                <a:spcPts val="1000"/>
              </a:spcBef>
              <a:spcAft>
                <a:spcPts val="0"/>
              </a:spcAft>
              <a:buSzPts val="1600"/>
              <a:buNone/>
            </a:pPr>
            <a:r>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0"/>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Application Framework layer</a:t>
            </a:r>
            <a:endParaRPr/>
          </a:p>
        </p:txBody>
      </p:sp>
      <p:sp>
        <p:nvSpPr>
          <p:cNvPr id="269" name="Google Shape;269;p20"/>
          <p:cNvSpPr txBox="1"/>
          <p:nvPr>
            <p:ph idx="1" type="body"/>
          </p:nvPr>
        </p:nvSpPr>
        <p:spPr>
          <a:xfrm>
            <a:off x="677335" y="3282043"/>
            <a:ext cx="8596668" cy="323305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en-US"/>
              <a:t>The Application Framework layer provides many higher-level services to applications in the form of Java classes. Application developers are allowed to make use of these services in their applications.</a:t>
            </a:r>
            <a:endParaRPr sz="2000"/>
          </a:p>
        </p:txBody>
      </p:sp>
      <p:pic>
        <p:nvPicPr>
          <p:cNvPr descr="Android System Architecture" id="270" name="Google Shape;270;p20"/>
          <p:cNvPicPr preferRelativeResize="0"/>
          <p:nvPr/>
        </p:nvPicPr>
        <p:blipFill rotWithShape="1">
          <a:blip r:embed="rId3">
            <a:alphaModFix/>
          </a:blip>
          <a:srcRect b="57924" l="0" r="-120" t="17529"/>
          <a:stretch/>
        </p:blipFill>
        <p:spPr>
          <a:xfrm>
            <a:off x="1429819" y="1828799"/>
            <a:ext cx="7395774" cy="1320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1"/>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Application Framework layer</a:t>
            </a:r>
            <a:endParaRPr/>
          </a:p>
        </p:txBody>
      </p:sp>
      <p:sp>
        <p:nvSpPr>
          <p:cNvPr id="276" name="Google Shape;276;p21"/>
          <p:cNvSpPr txBox="1"/>
          <p:nvPr>
            <p:ph idx="1" type="body"/>
          </p:nvPr>
        </p:nvSpPr>
        <p:spPr>
          <a:xfrm>
            <a:off x="677335" y="1738993"/>
            <a:ext cx="8596668" cy="477610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en-US"/>
              <a:t>The Android framework includes the following </a:t>
            </a:r>
            <a:r>
              <a:rPr lang="en-US"/>
              <a:t>key services −</a:t>
            </a:r>
            <a:endParaRPr/>
          </a:p>
          <a:p>
            <a:pPr indent="-342891" lvl="0" marL="342891" rtl="0" algn="l">
              <a:spcBef>
                <a:spcPts val="1000"/>
              </a:spcBef>
              <a:spcAft>
                <a:spcPts val="0"/>
              </a:spcAft>
              <a:buSzPts val="1440"/>
              <a:buChar char="►"/>
            </a:pPr>
            <a:r>
              <a:rPr b="1" lang="en-US"/>
              <a:t>Activity Manager</a:t>
            </a:r>
            <a:r>
              <a:rPr lang="en-US"/>
              <a:t> − Controls all aspects of the application lifecycle and activity stack.</a:t>
            </a:r>
            <a:endParaRPr/>
          </a:p>
          <a:p>
            <a:pPr indent="-342891" lvl="0" marL="342891" rtl="0" algn="l">
              <a:spcBef>
                <a:spcPts val="1000"/>
              </a:spcBef>
              <a:spcAft>
                <a:spcPts val="0"/>
              </a:spcAft>
              <a:buSzPts val="1440"/>
              <a:buChar char="►"/>
            </a:pPr>
            <a:r>
              <a:rPr b="1" lang="en-US"/>
              <a:t>Content Providers</a:t>
            </a:r>
            <a:r>
              <a:rPr lang="en-US"/>
              <a:t> − Allows applications to publish and share data with other applications.</a:t>
            </a:r>
            <a:endParaRPr/>
          </a:p>
          <a:p>
            <a:pPr indent="-342891" lvl="0" marL="342891" rtl="0" algn="l">
              <a:spcBef>
                <a:spcPts val="1000"/>
              </a:spcBef>
              <a:spcAft>
                <a:spcPts val="0"/>
              </a:spcAft>
              <a:buSzPts val="1440"/>
              <a:buChar char="►"/>
            </a:pPr>
            <a:r>
              <a:rPr b="1" lang="en-US"/>
              <a:t>Resource Manager</a:t>
            </a:r>
            <a:r>
              <a:rPr lang="en-US"/>
              <a:t> − Provides access to non-code embedded resources such as strings, color settings and user interface layouts.</a:t>
            </a:r>
            <a:endParaRPr/>
          </a:p>
          <a:p>
            <a:pPr indent="-342891" lvl="0" marL="342891" rtl="0" algn="l">
              <a:spcBef>
                <a:spcPts val="1000"/>
              </a:spcBef>
              <a:spcAft>
                <a:spcPts val="0"/>
              </a:spcAft>
              <a:buSzPts val="1440"/>
              <a:buChar char="►"/>
            </a:pPr>
            <a:r>
              <a:rPr b="1" lang="en-US"/>
              <a:t>Notifications Manager</a:t>
            </a:r>
            <a:r>
              <a:rPr lang="en-US"/>
              <a:t> − Allows applications to display alerts and notifications to the user.</a:t>
            </a:r>
            <a:endParaRPr/>
          </a:p>
          <a:p>
            <a:pPr indent="-342891" lvl="0" marL="342891" rtl="0" algn="l">
              <a:spcBef>
                <a:spcPts val="1000"/>
              </a:spcBef>
              <a:spcAft>
                <a:spcPts val="0"/>
              </a:spcAft>
              <a:buSzPts val="1440"/>
              <a:buChar char="►"/>
            </a:pPr>
            <a:r>
              <a:rPr b="1" lang="en-US"/>
              <a:t>View System</a:t>
            </a:r>
            <a:r>
              <a:rPr lang="en-US"/>
              <a:t> − An extensible set of views used to create application user interfaces.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2"/>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Application Layer</a:t>
            </a:r>
            <a:endParaRPr/>
          </a:p>
        </p:txBody>
      </p:sp>
      <p:sp>
        <p:nvSpPr>
          <p:cNvPr id="282" name="Google Shape;282;p22"/>
          <p:cNvSpPr txBox="1"/>
          <p:nvPr>
            <p:ph idx="1" type="body"/>
          </p:nvPr>
        </p:nvSpPr>
        <p:spPr>
          <a:xfrm>
            <a:off x="677335" y="3020786"/>
            <a:ext cx="8596668" cy="349431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en-US"/>
              <a:t>You will find all the Android application at the top layer. You will write your application to be installed on this layer only. Examples of such applications are Contacts Books, Browser, Games etc.</a:t>
            </a:r>
            <a:endParaRPr sz="2000"/>
          </a:p>
        </p:txBody>
      </p:sp>
      <p:pic>
        <p:nvPicPr>
          <p:cNvPr descr="Android System Architecture" id="283" name="Google Shape;283;p22"/>
          <p:cNvPicPr preferRelativeResize="0"/>
          <p:nvPr/>
        </p:nvPicPr>
        <p:blipFill rotWithShape="1">
          <a:blip r:embed="rId3">
            <a:alphaModFix/>
          </a:blip>
          <a:srcRect b="82925" l="0" r="-120" t="232"/>
          <a:stretch/>
        </p:blipFill>
        <p:spPr>
          <a:xfrm>
            <a:off x="1405326" y="1992085"/>
            <a:ext cx="7395774" cy="90623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3"/>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Application Components</a:t>
            </a:r>
            <a:endParaRPr/>
          </a:p>
        </p:txBody>
      </p:sp>
      <p:sp>
        <p:nvSpPr>
          <p:cNvPr id="289" name="Google Shape;289;p23"/>
          <p:cNvSpPr txBox="1"/>
          <p:nvPr>
            <p:ph idx="1" type="body"/>
          </p:nvPr>
        </p:nvSpPr>
        <p:spPr>
          <a:xfrm>
            <a:off x="677335" y="1330779"/>
            <a:ext cx="8596668" cy="518432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lang="en-US" sz="2000"/>
              <a:t>Application components are the essential building blocks of an Android application. These components are loosely coupled by the application manifest file </a:t>
            </a:r>
            <a:r>
              <a:rPr i="1" lang="en-US" sz="2000"/>
              <a:t>AndroidManifest.xml</a:t>
            </a:r>
            <a:r>
              <a:rPr lang="en-US" sz="2000"/>
              <a:t> that describes each component of the application and how they interact.</a:t>
            </a:r>
            <a:endParaRPr/>
          </a:p>
          <a:p>
            <a:pPr indent="0" lvl="0" marL="0" rtl="0" algn="l">
              <a:spcBef>
                <a:spcPts val="1000"/>
              </a:spcBef>
              <a:spcAft>
                <a:spcPts val="0"/>
              </a:spcAft>
              <a:buSzPts val="1600"/>
              <a:buNone/>
            </a:pPr>
            <a:r>
              <a:t/>
            </a:r>
            <a:endParaRPr sz="2000"/>
          </a:p>
          <a:p>
            <a:pPr indent="0" lvl="0" marL="0" rtl="0" algn="l">
              <a:spcBef>
                <a:spcPts val="1000"/>
              </a:spcBef>
              <a:spcAft>
                <a:spcPts val="0"/>
              </a:spcAft>
              <a:buSzPts val="1600"/>
              <a:buNone/>
            </a:pPr>
            <a:r>
              <a:rPr lang="en-US" sz="2000"/>
              <a:t>These are the following four main components that can be used within an Android application:</a:t>
            </a:r>
            <a:endParaRPr/>
          </a:p>
          <a:p>
            <a:pPr indent="-285744" lvl="1" marL="742932" rtl="0" algn="l">
              <a:spcBef>
                <a:spcPts val="1000"/>
              </a:spcBef>
              <a:spcAft>
                <a:spcPts val="0"/>
              </a:spcAft>
              <a:buSzPts val="1440"/>
              <a:buChar char="►"/>
            </a:pPr>
            <a:r>
              <a:rPr lang="en-US" sz="1800"/>
              <a:t>Activities</a:t>
            </a:r>
            <a:endParaRPr/>
          </a:p>
          <a:p>
            <a:pPr indent="-285743" lvl="1" marL="742932" rtl="0" algn="l">
              <a:spcBef>
                <a:spcPts val="1000"/>
              </a:spcBef>
              <a:spcAft>
                <a:spcPts val="0"/>
              </a:spcAft>
              <a:buSzPts val="1440"/>
              <a:buChar char="►"/>
            </a:pPr>
            <a:r>
              <a:rPr lang="en-US" sz="1800"/>
              <a:t>Services</a:t>
            </a:r>
            <a:endParaRPr/>
          </a:p>
          <a:p>
            <a:pPr indent="-285743" lvl="1" marL="742932" rtl="0" algn="l">
              <a:spcBef>
                <a:spcPts val="1000"/>
              </a:spcBef>
              <a:spcAft>
                <a:spcPts val="0"/>
              </a:spcAft>
              <a:buSzPts val="1440"/>
              <a:buChar char="►"/>
            </a:pPr>
            <a:r>
              <a:rPr lang="en-US" sz="1800"/>
              <a:t>Broadcast Receivers</a:t>
            </a:r>
            <a:endParaRPr/>
          </a:p>
          <a:p>
            <a:pPr indent="-285744" lvl="1" marL="742932" rtl="0" algn="l">
              <a:spcBef>
                <a:spcPts val="1000"/>
              </a:spcBef>
              <a:spcAft>
                <a:spcPts val="0"/>
              </a:spcAft>
              <a:buSzPts val="1440"/>
              <a:buChar char="►"/>
            </a:pPr>
            <a:r>
              <a:rPr lang="en-US" sz="1800"/>
              <a:t>Content Providers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4"/>
          <p:cNvSpPr txBox="1"/>
          <p:nvPr>
            <p:ph type="title"/>
          </p:nvPr>
        </p:nvSpPr>
        <p:spPr>
          <a:xfrm>
            <a:off x="677335" y="635875"/>
            <a:ext cx="8596800" cy="13209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Activities</a:t>
            </a:r>
            <a:endParaRPr/>
          </a:p>
        </p:txBody>
      </p:sp>
      <p:sp>
        <p:nvSpPr>
          <p:cNvPr id="295" name="Google Shape;295;p24"/>
          <p:cNvSpPr txBox="1"/>
          <p:nvPr>
            <p:ph idx="1" type="body"/>
          </p:nvPr>
        </p:nvSpPr>
        <p:spPr>
          <a:xfrm>
            <a:off x="677335" y="1330779"/>
            <a:ext cx="8596668" cy="5184320"/>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SzPts val="1440"/>
              <a:buNone/>
            </a:pPr>
            <a:r>
              <a:rPr lang="en-US"/>
              <a:t>An activity represents a single screen with a user interface, in-short Activity performs actions on the screen. For example, an email application might have one activity that shows a list of new emails, another activity to compose an email, and another activity for reading emails. If an application has more than one activity, then one of them should be marked as the activity that is presented when the application is launched.</a:t>
            </a:r>
            <a:endParaRPr/>
          </a:p>
          <a:p>
            <a:pPr indent="0" lvl="0" marL="0" rtl="0" algn="just">
              <a:spcBef>
                <a:spcPts val="1000"/>
              </a:spcBef>
              <a:spcAft>
                <a:spcPts val="0"/>
              </a:spcAft>
              <a:buSzPts val="1440"/>
              <a:buNone/>
            </a:pPr>
            <a:r>
              <a:t/>
            </a:r>
            <a:endParaRPr sz="1800"/>
          </a:p>
          <a:p>
            <a:pPr indent="0" lvl="0" marL="0" rtl="0" algn="just">
              <a:spcBef>
                <a:spcPts val="1000"/>
              </a:spcBef>
              <a:spcAft>
                <a:spcPts val="0"/>
              </a:spcAft>
              <a:buSzPts val="1440"/>
              <a:buNone/>
            </a:pPr>
            <a:r>
              <a:rPr lang="en-US"/>
              <a:t>An activity is implemented as a subclass of </a:t>
            </a:r>
            <a:r>
              <a:rPr b="1" lang="en-US"/>
              <a:t>Activity</a:t>
            </a:r>
            <a:r>
              <a:rPr lang="en-US"/>
              <a:t> class as follows −</a:t>
            </a:r>
            <a:endParaRPr/>
          </a:p>
          <a:p>
            <a:pPr indent="0" lvl="0" marL="0" rtl="0" algn="just">
              <a:spcBef>
                <a:spcPts val="1000"/>
              </a:spcBef>
              <a:spcAft>
                <a:spcPts val="0"/>
              </a:spcAft>
              <a:buSzPts val="1440"/>
              <a:buNone/>
            </a:pPr>
            <a:r>
              <a:t/>
            </a:r>
            <a:endParaRPr sz="1800"/>
          </a:p>
        </p:txBody>
      </p:sp>
      <p:sp>
        <p:nvSpPr>
          <p:cNvPr id="296" name="Google Shape;296;p24"/>
          <p:cNvSpPr/>
          <p:nvPr/>
        </p:nvSpPr>
        <p:spPr>
          <a:xfrm>
            <a:off x="771062" y="3877773"/>
            <a:ext cx="6682931" cy="506559"/>
          </a:xfrm>
          <a:prstGeom prst="rect">
            <a:avLst/>
          </a:prstGeom>
          <a:solidFill>
            <a:srgbClr val="EEEEEE"/>
          </a:solidFill>
          <a:ln>
            <a:noFill/>
          </a:ln>
        </p:spPr>
        <p:txBody>
          <a:bodyPr anchorCtr="0" anchor="ctr" bIns="45700" lIns="91425" spcFirstLastPara="1" rIns="91425" wrap="square" tIns="0">
            <a:spAutoFit/>
          </a:bodyPr>
          <a:lstStyle/>
          <a:p>
            <a:pPr indent="0" lvl="0" marL="0" marR="0" rtl="0" algn="l">
              <a:lnSpc>
                <a:spcPct val="100000"/>
              </a:lnSpc>
              <a:spcBef>
                <a:spcPts val="0"/>
              </a:spcBef>
              <a:spcAft>
                <a:spcPts val="0"/>
              </a:spcAft>
              <a:buClr>
                <a:srgbClr val="000088"/>
              </a:buClr>
              <a:buSzPts val="1600"/>
              <a:buFont typeface="Courier New"/>
              <a:buNone/>
            </a:pPr>
            <a:r>
              <a:rPr b="0" i="0" lang="en-US" sz="1600" u="none" cap="none" strike="noStrike">
                <a:solidFill>
                  <a:srgbClr val="000088"/>
                </a:solidFill>
                <a:latin typeface="Courier New"/>
                <a:ea typeface="Courier New"/>
                <a:cs typeface="Courier New"/>
                <a:sym typeface="Courier New"/>
              </a:rPr>
              <a:t>public</a:t>
            </a:r>
            <a:r>
              <a:rPr b="0" i="0" lang="en-US" sz="1600" u="none" cap="none" strike="noStrike">
                <a:solidFill>
                  <a:srgbClr val="000000"/>
                </a:solidFill>
                <a:latin typeface="Courier New"/>
                <a:ea typeface="Courier New"/>
                <a:cs typeface="Courier New"/>
                <a:sym typeface="Courier New"/>
              </a:rPr>
              <a:t> </a:t>
            </a:r>
            <a:r>
              <a:rPr b="0" i="0" lang="en-US" sz="1600" u="none" cap="none" strike="noStrike">
                <a:solidFill>
                  <a:srgbClr val="000088"/>
                </a:solidFill>
                <a:latin typeface="Courier New"/>
                <a:ea typeface="Courier New"/>
                <a:cs typeface="Courier New"/>
                <a:sym typeface="Courier New"/>
              </a:rPr>
              <a:t>class</a:t>
            </a:r>
            <a:r>
              <a:rPr b="0" i="0" lang="en-US" sz="1600" u="none" cap="none" strike="noStrike">
                <a:solidFill>
                  <a:srgbClr val="000000"/>
                </a:solidFill>
                <a:latin typeface="Courier New"/>
                <a:ea typeface="Courier New"/>
                <a:cs typeface="Courier New"/>
                <a:sym typeface="Courier New"/>
              </a:rPr>
              <a:t> </a:t>
            </a:r>
            <a:r>
              <a:rPr b="0" i="0" lang="en-US" sz="1600" u="none" cap="none" strike="noStrike">
                <a:solidFill>
                  <a:srgbClr val="660066"/>
                </a:solidFill>
                <a:latin typeface="Courier New"/>
                <a:ea typeface="Courier New"/>
                <a:cs typeface="Courier New"/>
                <a:sym typeface="Courier New"/>
              </a:rPr>
              <a:t>MainActivity</a:t>
            </a:r>
            <a:r>
              <a:rPr b="0" i="0" lang="en-US" sz="1600" u="none" cap="none" strike="noStrike">
                <a:solidFill>
                  <a:srgbClr val="000000"/>
                </a:solidFill>
                <a:latin typeface="Courier New"/>
                <a:ea typeface="Courier New"/>
                <a:cs typeface="Courier New"/>
                <a:sym typeface="Courier New"/>
              </a:rPr>
              <a:t> </a:t>
            </a:r>
            <a:r>
              <a:rPr b="0" i="0" lang="en-US" sz="1600" u="none" cap="none" strike="noStrike">
                <a:solidFill>
                  <a:srgbClr val="000088"/>
                </a:solidFill>
                <a:latin typeface="Courier New"/>
                <a:ea typeface="Courier New"/>
                <a:cs typeface="Courier New"/>
                <a:sym typeface="Courier New"/>
              </a:rPr>
              <a:t>extends</a:t>
            </a:r>
            <a:r>
              <a:rPr b="0" i="0" lang="en-US" sz="1600" u="none" cap="none" strike="noStrike">
                <a:solidFill>
                  <a:srgbClr val="000000"/>
                </a:solidFill>
                <a:latin typeface="Courier New"/>
                <a:ea typeface="Courier New"/>
                <a:cs typeface="Courier New"/>
                <a:sym typeface="Courier New"/>
              </a:rPr>
              <a:t> </a:t>
            </a:r>
            <a:r>
              <a:rPr b="0" i="0" lang="en-US" sz="1600" u="none" cap="none" strike="noStrike">
                <a:solidFill>
                  <a:srgbClr val="660066"/>
                </a:solidFill>
                <a:latin typeface="Courier New"/>
                <a:ea typeface="Courier New"/>
                <a:cs typeface="Courier New"/>
                <a:sym typeface="Courier New"/>
              </a:rPr>
              <a:t>Activity</a:t>
            </a:r>
            <a:r>
              <a:rPr b="0" i="0" lang="en-US" sz="1600" u="none" cap="none" strike="noStrike">
                <a:solidFill>
                  <a:srgbClr val="000000"/>
                </a:solidFill>
                <a:latin typeface="Courier New"/>
                <a:ea typeface="Courier New"/>
                <a:cs typeface="Courier New"/>
                <a:sym typeface="Courier New"/>
              </a:rPr>
              <a:t> </a:t>
            </a:r>
            <a:r>
              <a:rPr b="0" i="0" lang="en-US" sz="1600" u="none" cap="none" strike="noStrike">
                <a:solidFill>
                  <a:srgbClr val="666600"/>
                </a:solidFill>
                <a:latin typeface="Courier New"/>
                <a:ea typeface="Courier New"/>
                <a:cs typeface="Courier New"/>
                <a:sym typeface="Courier New"/>
              </a:rPr>
              <a:t>{</a:t>
            </a:r>
            <a:r>
              <a:rPr b="0" i="0" lang="en-US" sz="1600" u="none" cap="none" strike="noStrike">
                <a:solidFill>
                  <a:srgbClr val="000000"/>
                </a:solidFill>
                <a:latin typeface="Courier New"/>
                <a:ea typeface="Courier New"/>
                <a:cs typeface="Courier New"/>
                <a:sym typeface="Courier New"/>
              </a:rPr>
              <a:t> </a:t>
            </a:r>
            <a:endParaRPr/>
          </a:p>
          <a:p>
            <a:pPr indent="0" lvl="0" marL="0" marR="0" rtl="0" algn="l">
              <a:lnSpc>
                <a:spcPct val="100000"/>
              </a:lnSpc>
              <a:spcBef>
                <a:spcPts val="0"/>
              </a:spcBef>
              <a:spcAft>
                <a:spcPts val="0"/>
              </a:spcAft>
              <a:buClr>
                <a:srgbClr val="666600"/>
              </a:buClr>
              <a:buSzPts val="1600"/>
              <a:buFont typeface="Courier New"/>
              <a:buNone/>
            </a:pPr>
            <a:r>
              <a:rPr b="0" i="0" lang="en-US" sz="1600" u="none" cap="none" strike="noStrike">
                <a:solidFill>
                  <a:srgbClr val="666600"/>
                </a:solidFill>
                <a:latin typeface="Courier New"/>
                <a:ea typeface="Courier New"/>
                <a:cs typeface="Courier New"/>
                <a:sym typeface="Courier New"/>
              </a:rPr>
              <a:t>}</a:t>
            </a:r>
            <a:r>
              <a:rPr b="0" i="0" lang="en-US" sz="1050" u="none" cap="none" strike="noStrike">
                <a:solidFill>
                  <a:schemeClr val="dk1"/>
                </a:solidFill>
                <a:latin typeface="Trebuchet MS"/>
                <a:ea typeface="Trebuchet MS"/>
                <a:cs typeface="Trebuchet MS"/>
                <a:sym typeface="Trebuchet MS"/>
              </a:rPr>
              <a:t> </a:t>
            </a:r>
            <a:endParaRPr b="0" i="0" sz="2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5"/>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Services</a:t>
            </a:r>
            <a:endParaRPr/>
          </a:p>
        </p:txBody>
      </p:sp>
      <p:sp>
        <p:nvSpPr>
          <p:cNvPr id="302" name="Google Shape;302;p25"/>
          <p:cNvSpPr txBox="1"/>
          <p:nvPr>
            <p:ph idx="1" type="body"/>
          </p:nvPr>
        </p:nvSpPr>
        <p:spPr>
          <a:xfrm>
            <a:off x="677335" y="1330779"/>
            <a:ext cx="8596668" cy="5184320"/>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SzPts val="1440"/>
              <a:buNone/>
            </a:pPr>
            <a:r>
              <a:rPr lang="en-US"/>
              <a:t>A service is a component that runs in the background to perform long-running operations. For example, a service might play music in the background while the user is in a different application, or it might fetch data over the network without blocking user interaction with an activity.</a:t>
            </a:r>
            <a:endParaRPr/>
          </a:p>
          <a:p>
            <a:pPr indent="0" lvl="0" marL="0" rtl="0" algn="just">
              <a:spcBef>
                <a:spcPts val="1000"/>
              </a:spcBef>
              <a:spcAft>
                <a:spcPts val="0"/>
              </a:spcAft>
              <a:buSzPts val="1440"/>
              <a:buNone/>
            </a:pPr>
            <a:r>
              <a:t/>
            </a:r>
            <a:endParaRPr sz="1800"/>
          </a:p>
          <a:p>
            <a:pPr indent="0" lvl="0" marL="0" rtl="0" algn="just">
              <a:spcBef>
                <a:spcPts val="1000"/>
              </a:spcBef>
              <a:spcAft>
                <a:spcPts val="0"/>
              </a:spcAft>
              <a:buSzPts val="1440"/>
              <a:buNone/>
            </a:pPr>
            <a:r>
              <a:rPr lang="en-US"/>
              <a:t>A service is implemented as a subclass of </a:t>
            </a:r>
            <a:r>
              <a:rPr b="1" lang="en-US"/>
              <a:t>Service</a:t>
            </a:r>
            <a:r>
              <a:rPr lang="en-US"/>
              <a:t> class as follows −</a:t>
            </a:r>
            <a:endParaRPr sz="1800"/>
          </a:p>
        </p:txBody>
      </p:sp>
      <p:sp>
        <p:nvSpPr>
          <p:cNvPr id="303" name="Google Shape;303;p25"/>
          <p:cNvSpPr/>
          <p:nvPr/>
        </p:nvSpPr>
        <p:spPr>
          <a:xfrm>
            <a:off x="762897" y="3355259"/>
            <a:ext cx="6682931" cy="506559"/>
          </a:xfrm>
          <a:prstGeom prst="rect">
            <a:avLst/>
          </a:prstGeom>
          <a:solidFill>
            <a:srgbClr val="EEEEEE"/>
          </a:solidFill>
          <a:ln>
            <a:noFill/>
          </a:ln>
        </p:spPr>
        <p:txBody>
          <a:bodyPr anchorCtr="0" anchor="ctr" bIns="45700" lIns="91425" spcFirstLastPara="1" rIns="91425" wrap="square" tIns="0">
            <a:spAutoFit/>
          </a:bodyPr>
          <a:lstStyle/>
          <a:p>
            <a:pPr indent="0" lvl="0" marL="0" marR="0" rtl="0" algn="l">
              <a:spcBef>
                <a:spcPts val="0"/>
              </a:spcBef>
              <a:spcAft>
                <a:spcPts val="0"/>
              </a:spcAft>
              <a:buNone/>
            </a:pPr>
            <a:r>
              <a:rPr b="0" i="0" lang="en-US" sz="1600" u="none" cap="none" strike="noStrike">
                <a:solidFill>
                  <a:srgbClr val="000088"/>
                </a:solidFill>
                <a:latin typeface="Courier New"/>
                <a:ea typeface="Courier New"/>
                <a:cs typeface="Courier New"/>
                <a:sym typeface="Courier New"/>
              </a:rPr>
              <a:t>public class MyService extends Service {</a:t>
            </a:r>
            <a:endParaRPr/>
          </a:p>
          <a:p>
            <a:pPr indent="0" lvl="0" marL="0" marR="0" rtl="0" algn="l">
              <a:spcBef>
                <a:spcPts val="0"/>
              </a:spcBef>
              <a:spcAft>
                <a:spcPts val="0"/>
              </a:spcAft>
              <a:buNone/>
            </a:pPr>
            <a:r>
              <a:rPr b="0" i="0" lang="en-US" sz="1600" u="none" cap="none" strike="noStrike">
                <a:solidFill>
                  <a:srgbClr val="000088"/>
                </a:solidFill>
                <a:latin typeface="Courier New"/>
                <a:ea typeface="Courier New"/>
                <a:cs typeface="Courier New"/>
                <a:sym typeface="Courier New"/>
              </a:rPr>
              <a:t>}</a:t>
            </a:r>
            <a:endParaRPr b="0" i="0" sz="2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6"/>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Broadcast Receivers</a:t>
            </a:r>
            <a:endParaRPr/>
          </a:p>
        </p:txBody>
      </p:sp>
      <p:sp>
        <p:nvSpPr>
          <p:cNvPr id="309" name="Google Shape;309;p26"/>
          <p:cNvSpPr txBox="1"/>
          <p:nvPr>
            <p:ph idx="1" type="body"/>
          </p:nvPr>
        </p:nvSpPr>
        <p:spPr>
          <a:xfrm>
            <a:off x="186860" y="1444629"/>
            <a:ext cx="8596800" cy="5184300"/>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SzPts val="1440"/>
              <a:buNone/>
            </a:pPr>
            <a:r>
              <a:rPr lang="en-US"/>
              <a:t>Broadcast Receivers simply respond to broadcast messages from other applications or from the system. For example, applications can also initiate broadcasts to let other applications know that some data has been downloaded to the device and is available for them to use, so this is broadcast receiver who will intercept this communication and will initiate appropriate action.</a:t>
            </a:r>
            <a:endParaRPr/>
          </a:p>
          <a:p>
            <a:pPr indent="0" lvl="0" marL="0" rtl="0" algn="just">
              <a:spcBef>
                <a:spcPts val="1000"/>
              </a:spcBef>
              <a:spcAft>
                <a:spcPts val="0"/>
              </a:spcAft>
              <a:buSzPts val="1440"/>
              <a:buNone/>
            </a:pPr>
            <a:r>
              <a:t/>
            </a:r>
            <a:endParaRPr sz="1800"/>
          </a:p>
          <a:p>
            <a:pPr indent="0" lvl="0" marL="0" rtl="0" algn="just">
              <a:spcBef>
                <a:spcPts val="1000"/>
              </a:spcBef>
              <a:spcAft>
                <a:spcPts val="0"/>
              </a:spcAft>
              <a:buSzPts val="1440"/>
              <a:buNone/>
            </a:pPr>
            <a:r>
              <a:rPr lang="en-US"/>
              <a:t>A service is implemented as a subclass of </a:t>
            </a:r>
            <a:r>
              <a:rPr b="1" lang="en-US"/>
              <a:t>Service</a:t>
            </a:r>
            <a:r>
              <a:rPr lang="en-US"/>
              <a:t> class as follows −</a:t>
            </a:r>
            <a:endParaRPr sz="1800"/>
          </a:p>
        </p:txBody>
      </p:sp>
      <p:sp>
        <p:nvSpPr>
          <p:cNvPr id="310" name="Google Shape;310;p26"/>
          <p:cNvSpPr/>
          <p:nvPr/>
        </p:nvSpPr>
        <p:spPr>
          <a:xfrm>
            <a:off x="849143" y="3834199"/>
            <a:ext cx="6682800" cy="752700"/>
          </a:xfrm>
          <a:prstGeom prst="rect">
            <a:avLst/>
          </a:prstGeom>
          <a:solidFill>
            <a:srgbClr val="EEEEEE"/>
          </a:solidFill>
          <a:ln>
            <a:noFill/>
          </a:ln>
        </p:spPr>
        <p:txBody>
          <a:bodyPr anchorCtr="0" anchor="ctr" bIns="45700" lIns="91425" spcFirstLastPara="1" rIns="91425" wrap="square" tIns="0">
            <a:spAutoFit/>
          </a:bodyPr>
          <a:lstStyle/>
          <a:p>
            <a:pPr indent="0" lvl="0" marL="0" marR="0" rtl="0" algn="l">
              <a:spcBef>
                <a:spcPts val="0"/>
              </a:spcBef>
              <a:spcAft>
                <a:spcPts val="0"/>
              </a:spcAft>
              <a:buNone/>
            </a:pPr>
            <a:r>
              <a:rPr b="0" i="0" lang="en-US" sz="1600" u="none" cap="none" strike="noStrike">
                <a:solidFill>
                  <a:srgbClr val="000088"/>
                </a:solidFill>
                <a:latin typeface="Courier New"/>
                <a:ea typeface="Courier New"/>
                <a:cs typeface="Courier New"/>
                <a:sym typeface="Courier New"/>
              </a:rPr>
              <a:t>public class MyReceiver  extends  BroadcastReceiver {</a:t>
            </a:r>
            <a:endParaRPr/>
          </a:p>
          <a:p>
            <a:pPr indent="0" lvl="0" marL="0" marR="0" rtl="0" algn="l">
              <a:spcBef>
                <a:spcPts val="0"/>
              </a:spcBef>
              <a:spcAft>
                <a:spcPts val="0"/>
              </a:spcAft>
              <a:buNone/>
            </a:pPr>
            <a:r>
              <a:rPr b="0" i="0" lang="en-US" sz="1600" u="none" cap="none" strike="noStrike">
                <a:solidFill>
                  <a:srgbClr val="000088"/>
                </a:solidFill>
                <a:latin typeface="Courier New"/>
                <a:ea typeface="Courier New"/>
                <a:cs typeface="Courier New"/>
                <a:sym typeface="Courier New"/>
              </a:rPr>
              <a:t>   public void onReceive(context,intent){}</a:t>
            </a:r>
            <a:endParaRPr/>
          </a:p>
          <a:p>
            <a:pPr indent="0" lvl="0" marL="0" marR="0" rtl="0" algn="l">
              <a:spcBef>
                <a:spcPts val="0"/>
              </a:spcBef>
              <a:spcAft>
                <a:spcPts val="0"/>
              </a:spcAft>
              <a:buNone/>
            </a:pPr>
            <a:r>
              <a:rPr b="0" i="0" lang="en-US" sz="1600" u="none" cap="none" strike="noStrike">
                <a:solidFill>
                  <a:srgbClr val="000088"/>
                </a:solidFill>
                <a:latin typeface="Courier New"/>
                <a:ea typeface="Courier New"/>
                <a:cs typeface="Courier New"/>
                <a:sym typeface="Courier New"/>
              </a:rPr>
              <a:t>}</a:t>
            </a:r>
            <a:endParaRPr b="0" i="0" sz="2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7"/>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Content Providers</a:t>
            </a:r>
            <a:endParaRPr/>
          </a:p>
        </p:txBody>
      </p:sp>
      <p:sp>
        <p:nvSpPr>
          <p:cNvPr id="316" name="Google Shape;316;p27"/>
          <p:cNvSpPr txBox="1"/>
          <p:nvPr>
            <p:ph idx="1" type="body"/>
          </p:nvPr>
        </p:nvSpPr>
        <p:spPr>
          <a:xfrm>
            <a:off x="677335" y="1330779"/>
            <a:ext cx="8596668" cy="5184320"/>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SzPts val="1440"/>
              <a:buNone/>
            </a:pPr>
            <a:r>
              <a:rPr lang="en-US"/>
              <a:t>A content provider component supplies data from one application to others on request. Such requests are handled by the methods of the </a:t>
            </a:r>
            <a:r>
              <a:rPr i="1" lang="en-US"/>
              <a:t>ContentResolver</a:t>
            </a:r>
            <a:r>
              <a:rPr lang="en-US"/>
              <a:t> class. The data may be stored in the file system, the database or somewhere else entirely.</a:t>
            </a:r>
            <a:endParaRPr/>
          </a:p>
          <a:p>
            <a:pPr indent="0" lvl="0" marL="0" rtl="0" algn="just">
              <a:spcBef>
                <a:spcPts val="1000"/>
              </a:spcBef>
              <a:spcAft>
                <a:spcPts val="0"/>
              </a:spcAft>
              <a:buSzPts val="1440"/>
              <a:buNone/>
            </a:pPr>
            <a:r>
              <a:t/>
            </a:r>
            <a:endParaRPr sz="1800"/>
          </a:p>
          <a:p>
            <a:pPr indent="0" lvl="0" marL="0" rtl="0" algn="just">
              <a:spcBef>
                <a:spcPts val="1000"/>
              </a:spcBef>
              <a:spcAft>
                <a:spcPts val="0"/>
              </a:spcAft>
              <a:buSzPts val="1440"/>
              <a:buNone/>
            </a:pPr>
            <a:r>
              <a:rPr lang="en-US"/>
              <a:t>A content provider is implemented as a subclass of </a:t>
            </a:r>
            <a:r>
              <a:rPr b="1" lang="en-US"/>
              <a:t>ContentProvider</a:t>
            </a:r>
            <a:r>
              <a:rPr lang="en-US"/>
              <a:t> class and must implement a standard set of APIs that enable other applications to perform transactions.</a:t>
            </a:r>
            <a:endParaRPr sz="1800"/>
          </a:p>
        </p:txBody>
      </p:sp>
      <p:sp>
        <p:nvSpPr>
          <p:cNvPr id="317" name="Google Shape;317;p27"/>
          <p:cNvSpPr/>
          <p:nvPr/>
        </p:nvSpPr>
        <p:spPr>
          <a:xfrm>
            <a:off x="803718" y="3954116"/>
            <a:ext cx="6682931" cy="999002"/>
          </a:xfrm>
          <a:prstGeom prst="rect">
            <a:avLst/>
          </a:prstGeom>
          <a:solidFill>
            <a:srgbClr val="EEEEEE"/>
          </a:solidFill>
          <a:ln>
            <a:noFill/>
          </a:ln>
        </p:spPr>
        <p:txBody>
          <a:bodyPr anchorCtr="0" anchor="ctr" bIns="45700" lIns="91425" spcFirstLastPara="1" rIns="91425" wrap="square" tIns="0">
            <a:spAutoFit/>
          </a:bodyPr>
          <a:lstStyle/>
          <a:p>
            <a:pPr indent="0" lvl="0" marL="0" marR="0" rtl="0" algn="l">
              <a:spcBef>
                <a:spcPts val="0"/>
              </a:spcBef>
              <a:spcAft>
                <a:spcPts val="0"/>
              </a:spcAft>
              <a:buNone/>
            </a:pPr>
            <a:r>
              <a:rPr b="0" i="0" lang="en-US" sz="1600" u="none" cap="none" strike="noStrike">
                <a:solidFill>
                  <a:srgbClr val="000088"/>
                </a:solidFill>
                <a:latin typeface="Courier New"/>
                <a:ea typeface="Courier New"/>
                <a:cs typeface="Courier New"/>
                <a:sym typeface="Courier New"/>
              </a:rPr>
              <a:t>public class MyContentProvider extends  ContentProvider {</a:t>
            </a:r>
            <a:endParaRPr/>
          </a:p>
          <a:p>
            <a:pPr indent="0" lvl="0" marL="0" marR="0" rtl="0" algn="l">
              <a:spcBef>
                <a:spcPts val="0"/>
              </a:spcBef>
              <a:spcAft>
                <a:spcPts val="0"/>
              </a:spcAft>
              <a:buNone/>
            </a:pPr>
            <a:r>
              <a:rPr b="0" i="0" lang="en-US" sz="1600" u="none" cap="none" strike="noStrike">
                <a:solidFill>
                  <a:srgbClr val="000088"/>
                </a:solidFill>
                <a:latin typeface="Courier New"/>
                <a:ea typeface="Courier New"/>
                <a:cs typeface="Courier New"/>
                <a:sym typeface="Courier New"/>
              </a:rPr>
              <a:t>   public void onCreate(){}</a:t>
            </a:r>
            <a:endParaRPr/>
          </a:p>
          <a:p>
            <a:pPr indent="0" lvl="0" marL="0" marR="0" rtl="0" algn="l">
              <a:spcBef>
                <a:spcPts val="0"/>
              </a:spcBef>
              <a:spcAft>
                <a:spcPts val="0"/>
              </a:spcAft>
              <a:buNone/>
            </a:pPr>
            <a:r>
              <a:rPr b="0" i="0" lang="en-US" sz="1600" u="none" cap="none" strike="noStrike">
                <a:solidFill>
                  <a:srgbClr val="000088"/>
                </a:solidFill>
                <a:latin typeface="Courier New"/>
                <a:ea typeface="Courier New"/>
                <a:cs typeface="Courier New"/>
                <a:sym typeface="Courier New"/>
              </a:rPr>
              <a:t>}</a:t>
            </a:r>
            <a:endParaRPr b="0" i="0" sz="2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8"/>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Additional Components</a:t>
            </a:r>
            <a:endParaRPr/>
          </a:p>
        </p:txBody>
      </p:sp>
      <p:sp>
        <p:nvSpPr>
          <p:cNvPr id="323" name="Google Shape;323;p28"/>
          <p:cNvSpPr txBox="1"/>
          <p:nvPr>
            <p:ph idx="1" type="body"/>
          </p:nvPr>
        </p:nvSpPr>
        <p:spPr>
          <a:xfrm>
            <a:off x="677335" y="1330779"/>
            <a:ext cx="8899372" cy="518432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en-US"/>
              <a:t>There are additional components which will be used in the construction of above mentioned entities, their logic, and wiring between them. These components are −</a:t>
            </a:r>
            <a:endParaRPr sz="1800"/>
          </a:p>
        </p:txBody>
      </p:sp>
      <p:graphicFrame>
        <p:nvGraphicFramePr>
          <p:cNvPr id="324" name="Google Shape;324;p28"/>
          <p:cNvGraphicFramePr/>
          <p:nvPr/>
        </p:nvGraphicFramePr>
        <p:xfrm>
          <a:off x="1175657" y="2160588"/>
          <a:ext cx="3000000" cy="3000000"/>
        </p:xfrm>
        <a:graphic>
          <a:graphicData uri="http://schemas.openxmlformats.org/drawingml/2006/table">
            <a:tbl>
              <a:tblPr>
                <a:noFill/>
                <a:tableStyleId>{3A92B287-9402-450F-9BE6-3FBAE5D3E32A}</a:tableStyleId>
              </a:tblPr>
              <a:tblGrid>
                <a:gridCol w="8678625"/>
              </a:tblGrid>
              <a:tr h="315100">
                <a:tc>
                  <a:txBody>
                    <a:bodyPr/>
                    <a:lstStyle/>
                    <a:p>
                      <a:pPr indent="0" lvl="0" marL="0" marR="0" rtl="0" algn="l">
                        <a:spcBef>
                          <a:spcPts val="0"/>
                        </a:spcBef>
                        <a:spcAft>
                          <a:spcPts val="0"/>
                        </a:spcAft>
                        <a:buNone/>
                      </a:pPr>
                      <a:r>
                        <a:t/>
                      </a:r>
                      <a:endParaRPr sz="1800"/>
                    </a:p>
                  </a:txBody>
                  <a:tcPr marT="21475" marB="21475" marR="42975" marL="42975">
                    <a:lnL cap="flat" cmpd="sng" w="9525">
                      <a:solidFill>
                        <a:srgbClr val="DDDDDD"/>
                      </a:solidFill>
                      <a:prstDash val="solid"/>
                      <a:round/>
                      <a:headEnd len="sm" w="sm" type="none"/>
                      <a:tailEnd len="sm" w="sm" type="none"/>
                    </a:lnL>
                    <a:lnB cap="flat" cmpd="sng" w="9525">
                      <a:solidFill>
                        <a:srgbClr val="DDDDDD"/>
                      </a:solidFill>
                      <a:prstDash val="solid"/>
                      <a:round/>
                      <a:headEnd len="sm" w="sm" type="none"/>
                      <a:tailEnd len="sm" w="sm" type="none"/>
                    </a:lnB>
                  </a:tcPr>
                </a:tc>
              </a:tr>
              <a:tr h="572900">
                <a:tc>
                  <a:txBody>
                    <a:bodyPr/>
                    <a:lstStyle/>
                    <a:p>
                      <a:pPr indent="0" lvl="0" marL="0" marR="0" rtl="0" algn="just">
                        <a:spcBef>
                          <a:spcPts val="0"/>
                        </a:spcBef>
                        <a:spcAft>
                          <a:spcPts val="0"/>
                        </a:spcAft>
                        <a:buNone/>
                      </a:pPr>
                      <a:r>
                        <a:rPr b="1" lang="en-US" sz="1800">
                          <a:solidFill>
                            <a:srgbClr val="000000"/>
                          </a:solidFill>
                          <a:latin typeface="Arial"/>
                          <a:ea typeface="Arial"/>
                          <a:cs typeface="Arial"/>
                          <a:sym typeface="Arial"/>
                        </a:rPr>
                        <a:t>Fragments</a:t>
                      </a:r>
                      <a:endParaRPr sz="1800">
                        <a:solidFill>
                          <a:srgbClr val="000000"/>
                        </a:solidFill>
                        <a:latin typeface="Arial"/>
                        <a:ea typeface="Arial"/>
                        <a:cs typeface="Arial"/>
                        <a:sym typeface="Arial"/>
                      </a:endParaRPr>
                    </a:p>
                    <a:p>
                      <a:pPr indent="0" lvl="0" marL="0" marR="0" rtl="0" algn="just">
                        <a:spcBef>
                          <a:spcPts val="0"/>
                        </a:spcBef>
                        <a:spcAft>
                          <a:spcPts val="0"/>
                        </a:spcAft>
                        <a:buNone/>
                      </a:pPr>
                      <a:r>
                        <a:rPr lang="en-US" sz="1800">
                          <a:solidFill>
                            <a:srgbClr val="000000"/>
                          </a:solidFill>
                          <a:latin typeface="Arial"/>
                          <a:ea typeface="Arial"/>
                          <a:cs typeface="Arial"/>
                          <a:sym typeface="Arial"/>
                        </a:rPr>
                        <a:t>Represents a portion of user interface in an Activity.</a:t>
                      </a:r>
                      <a:endParaRPr/>
                    </a:p>
                  </a:txBody>
                  <a:tcPr marT="28650" marB="28650" marR="28650" marL="286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701800">
                <a:tc>
                  <a:txBody>
                    <a:bodyPr/>
                    <a:lstStyle/>
                    <a:p>
                      <a:pPr indent="0" lvl="0" marL="0" marR="0" rtl="0" algn="just">
                        <a:spcBef>
                          <a:spcPts val="0"/>
                        </a:spcBef>
                        <a:spcAft>
                          <a:spcPts val="0"/>
                        </a:spcAft>
                        <a:buNone/>
                      </a:pPr>
                      <a:r>
                        <a:rPr b="1" lang="en-US" sz="1800">
                          <a:solidFill>
                            <a:srgbClr val="000000"/>
                          </a:solidFill>
                          <a:latin typeface="Arial"/>
                          <a:ea typeface="Arial"/>
                          <a:cs typeface="Arial"/>
                          <a:sym typeface="Arial"/>
                        </a:rPr>
                        <a:t>Views</a:t>
                      </a:r>
                      <a:endParaRPr sz="1800">
                        <a:solidFill>
                          <a:srgbClr val="000000"/>
                        </a:solidFill>
                        <a:latin typeface="Arial"/>
                        <a:ea typeface="Arial"/>
                        <a:cs typeface="Arial"/>
                        <a:sym typeface="Arial"/>
                      </a:endParaRPr>
                    </a:p>
                    <a:p>
                      <a:pPr indent="0" lvl="0" marL="0" marR="0" rtl="0" algn="just">
                        <a:spcBef>
                          <a:spcPts val="0"/>
                        </a:spcBef>
                        <a:spcAft>
                          <a:spcPts val="0"/>
                        </a:spcAft>
                        <a:buNone/>
                      </a:pPr>
                      <a:r>
                        <a:rPr lang="en-US" sz="1800">
                          <a:solidFill>
                            <a:srgbClr val="000000"/>
                          </a:solidFill>
                          <a:latin typeface="Arial"/>
                          <a:ea typeface="Arial"/>
                          <a:cs typeface="Arial"/>
                          <a:sym typeface="Arial"/>
                        </a:rPr>
                        <a:t>UI elements that are drawn on-screen including buttons, lists forms etc.</a:t>
                      </a:r>
                      <a:endParaRPr/>
                    </a:p>
                  </a:txBody>
                  <a:tcPr marT="28650" marB="28650" marR="28650" marL="286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701800">
                <a:tc>
                  <a:txBody>
                    <a:bodyPr/>
                    <a:lstStyle/>
                    <a:p>
                      <a:pPr indent="0" lvl="0" marL="0" marR="0" rtl="0" algn="just">
                        <a:spcBef>
                          <a:spcPts val="0"/>
                        </a:spcBef>
                        <a:spcAft>
                          <a:spcPts val="0"/>
                        </a:spcAft>
                        <a:buNone/>
                      </a:pPr>
                      <a:r>
                        <a:rPr b="1" lang="en-US" sz="1800">
                          <a:solidFill>
                            <a:srgbClr val="000000"/>
                          </a:solidFill>
                          <a:latin typeface="Arial"/>
                          <a:ea typeface="Arial"/>
                          <a:cs typeface="Arial"/>
                          <a:sym typeface="Arial"/>
                        </a:rPr>
                        <a:t>Layouts</a:t>
                      </a:r>
                      <a:endParaRPr sz="1800">
                        <a:solidFill>
                          <a:srgbClr val="000000"/>
                        </a:solidFill>
                        <a:latin typeface="Arial"/>
                        <a:ea typeface="Arial"/>
                        <a:cs typeface="Arial"/>
                        <a:sym typeface="Arial"/>
                      </a:endParaRPr>
                    </a:p>
                    <a:p>
                      <a:pPr indent="0" lvl="0" marL="0" marR="0" rtl="0" algn="just">
                        <a:spcBef>
                          <a:spcPts val="0"/>
                        </a:spcBef>
                        <a:spcAft>
                          <a:spcPts val="0"/>
                        </a:spcAft>
                        <a:buNone/>
                      </a:pPr>
                      <a:r>
                        <a:rPr lang="en-US" sz="1800">
                          <a:solidFill>
                            <a:srgbClr val="000000"/>
                          </a:solidFill>
                          <a:latin typeface="Arial"/>
                          <a:ea typeface="Arial"/>
                          <a:cs typeface="Arial"/>
                          <a:sym typeface="Arial"/>
                        </a:rPr>
                        <a:t>View hierarchies that control screen format and appearance of the views.</a:t>
                      </a:r>
                      <a:endParaRPr/>
                    </a:p>
                  </a:txBody>
                  <a:tcPr marT="28650" marB="28650" marR="28650" marL="286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444000">
                <a:tc>
                  <a:txBody>
                    <a:bodyPr/>
                    <a:lstStyle/>
                    <a:p>
                      <a:pPr indent="0" lvl="0" marL="0" marR="0" rtl="0" algn="just">
                        <a:spcBef>
                          <a:spcPts val="0"/>
                        </a:spcBef>
                        <a:spcAft>
                          <a:spcPts val="0"/>
                        </a:spcAft>
                        <a:buNone/>
                      </a:pPr>
                      <a:r>
                        <a:rPr b="1" lang="en-US" sz="1800">
                          <a:solidFill>
                            <a:srgbClr val="000000"/>
                          </a:solidFill>
                          <a:latin typeface="Arial"/>
                          <a:ea typeface="Arial"/>
                          <a:cs typeface="Arial"/>
                          <a:sym typeface="Arial"/>
                        </a:rPr>
                        <a:t>Intents</a:t>
                      </a:r>
                      <a:endParaRPr sz="1800">
                        <a:solidFill>
                          <a:srgbClr val="000000"/>
                        </a:solidFill>
                        <a:latin typeface="Arial"/>
                        <a:ea typeface="Arial"/>
                        <a:cs typeface="Arial"/>
                        <a:sym typeface="Arial"/>
                      </a:endParaRPr>
                    </a:p>
                    <a:p>
                      <a:pPr indent="0" lvl="0" marL="0" marR="0" rtl="0" algn="just">
                        <a:spcBef>
                          <a:spcPts val="0"/>
                        </a:spcBef>
                        <a:spcAft>
                          <a:spcPts val="0"/>
                        </a:spcAft>
                        <a:buNone/>
                      </a:pPr>
                      <a:r>
                        <a:rPr lang="en-US" sz="1800">
                          <a:solidFill>
                            <a:srgbClr val="000000"/>
                          </a:solidFill>
                          <a:latin typeface="Arial"/>
                          <a:ea typeface="Arial"/>
                          <a:cs typeface="Arial"/>
                          <a:sym typeface="Arial"/>
                        </a:rPr>
                        <a:t>Messages wiring components together.</a:t>
                      </a:r>
                      <a:endParaRPr/>
                    </a:p>
                  </a:txBody>
                  <a:tcPr marT="28650" marB="28650" marR="28650" marL="286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701800">
                <a:tc>
                  <a:txBody>
                    <a:bodyPr/>
                    <a:lstStyle/>
                    <a:p>
                      <a:pPr indent="0" lvl="0" marL="0" marR="0" rtl="0" algn="just">
                        <a:spcBef>
                          <a:spcPts val="0"/>
                        </a:spcBef>
                        <a:spcAft>
                          <a:spcPts val="0"/>
                        </a:spcAft>
                        <a:buNone/>
                      </a:pPr>
                      <a:r>
                        <a:rPr b="1" lang="en-US" sz="1800">
                          <a:solidFill>
                            <a:srgbClr val="000000"/>
                          </a:solidFill>
                          <a:latin typeface="Arial"/>
                          <a:ea typeface="Arial"/>
                          <a:cs typeface="Arial"/>
                          <a:sym typeface="Arial"/>
                        </a:rPr>
                        <a:t>Resources</a:t>
                      </a:r>
                      <a:endParaRPr sz="1800">
                        <a:solidFill>
                          <a:srgbClr val="000000"/>
                        </a:solidFill>
                        <a:latin typeface="Arial"/>
                        <a:ea typeface="Arial"/>
                        <a:cs typeface="Arial"/>
                        <a:sym typeface="Arial"/>
                      </a:endParaRPr>
                    </a:p>
                    <a:p>
                      <a:pPr indent="0" lvl="0" marL="0" marR="0" rtl="0" algn="just">
                        <a:spcBef>
                          <a:spcPts val="0"/>
                        </a:spcBef>
                        <a:spcAft>
                          <a:spcPts val="0"/>
                        </a:spcAft>
                        <a:buNone/>
                      </a:pPr>
                      <a:r>
                        <a:rPr lang="en-US" sz="1800">
                          <a:solidFill>
                            <a:srgbClr val="000000"/>
                          </a:solidFill>
                          <a:latin typeface="Arial"/>
                          <a:ea typeface="Arial"/>
                          <a:cs typeface="Arial"/>
                          <a:sym typeface="Arial"/>
                        </a:rPr>
                        <a:t>External elements, such as strings, constants and drawable pictures.</a:t>
                      </a:r>
                      <a:endParaRPr/>
                    </a:p>
                  </a:txBody>
                  <a:tcPr marT="28650" marB="28650" marR="28650" marL="286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444000">
                <a:tc>
                  <a:txBody>
                    <a:bodyPr/>
                    <a:lstStyle/>
                    <a:p>
                      <a:pPr indent="0" lvl="0" marL="0" marR="0" rtl="0" algn="just">
                        <a:spcBef>
                          <a:spcPts val="0"/>
                        </a:spcBef>
                        <a:spcAft>
                          <a:spcPts val="0"/>
                        </a:spcAft>
                        <a:buNone/>
                      </a:pPr>
                      <a:r>
                        <a:rPr b="1" lang="en-US" sz="1800">
                          <a:solidFill>
                            <a:srgbClr val="000000"/>
                          </a:solidFill>
                          <a:latin typeface="Arial"/>
                          <a:ea typeface="Arial"/>
                          <a:cs typeface="Arial"/>
                          <a:sym typeface="Arial"/>
                        </a:rPr>
                        <a:t>Manifest</a:t>
                      </a:r>
                      <a:endParaRPr sz="1800">
                        <a:solidFill>
                          <a:srgbClr val="000000"/>
                        </a:solidFill>
                        <a:latin typeface="Arial"/>
                        <a:ea typeface="Arial"/>
                        <a:cs typeface="Arial"/>
                        <a:sym typeface="Arial"/>
                      </a:endParaRPr>
                    </a:p>
                    <a:p>
                      <a:pPr indent="0" lvl="0" marL="0" marR="0" rtl="0" algn="just">
                        <a:spcBef>
                          <a:spcPts val="0"/>
                        </a:spcBef>
                        <a:spcAft>
                          <a:spcPts val="0"/>
                        </a:spcAft>
                        <a:buNone/>
                      </a:pPr>
                      <a:r>
                        <a:rPr lang="en-US" sz="1800">
                          <a:solidFill>
                            <a:srgbClr val="000000"/>
                          </a:solidFill>
                          <a:latin typeface="Arial"/>
                          <a:ea typeface="Arial"/>
                          <a:cs typeface="Arial"/>
                          <a:sym typeface="Arial"/>
                        </a:rPr>
                        <a:t>Configuration file for the application.</a:t>
                      </a:r>
                      <a:endParaRPr/>
                    </a:p>
                  </a:txBody>
                  <a:tcPr marT="28650" marB="28650" marR="28650" marL="286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9"/>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System level protection for android app</a:t>
            </a:r>
            <a:endParaRPr/>
          </a:p>
        </p:txBody>
      </p:sp>
      <p:sp>
        <p:nvSpPr>
          <p:cNvPr id="330" name="Google Shape;330;p29"/>
          <p:cNvSpPr txBox="1"/>
          <p:nvPr>
            <p:ph idx="1" type="body"/>
          </p:nvPr>
        </p:nvSpPr>
        <p:spPr>
          <a:xfrm>
            <a:off x="677335" y="1330779"/>
            <a:ext cx="8596668" cy="5184320"/>
          </a:xfrm>
          <a:prstGeom prst="rect">
            <a:avLst/>
          </a:prstGeom>
          <a:noFill/>
          <a:ln>
            <a:noFill/>
          </a:ln>
        </p:spPr>
        <p:txBody>
          <a:bodyPr anchorCtr="0" anchor="t" bIns="45700" lIns="91425" spcFirstLastPara="1" rIns="91425" wrap="square" tIns="45700">
            <a:normAutofit/>
          </a:bodyPr>
          <a:lstStyle/>
          <a:p>
            <a:pPr indent="-342891" lvl="0" marL="342891" rtl="0" algn="l">
              <a:lnSpc>
                <a:spcPct val="80000"/>
              </a:lnSpc>
              <a:spcBef>
                <a:spcPts val="0"/>
              </a:spcBef>
              <a:spcAft>
                <a:spcPts val="0"/>
              </a:spcAft>
              <a:buSzPts val="1600"/>
              <a:buChar char="►"/>
            </a:pPr>
            <a:r>
              <a:rPr lang="en-US" sz="2000"/>
              <a:t>Each app runs as a unique user identity such that Android can limit the potential damage of programming flaws.</a:t>
            </a:r>
            <a:endParaRPr/>
          </a:p>
          <a:p>
            <a:pPr indent="-342891" lvl="0" marL="342891" rtl="0" algn="l">
              <a:lnSpc>
                <a:spcPct val="80000"/>
              </a:lnSpc>
              <a:spcBef>
                <a:spcPts val="1000"/>
              </a:spcBef>
              <a:spcAft>
                <a:spcPts val="0"/>
              </a:spcAft>
              <a:buSzPts val="1600"/>
              <a:buChar char="►"/>
            </a:pPr>
            <a:r>
              <a:rPr lang="en-US" sz="2000"/>
              <a:t>Each app runs in own VM sandbox using unique UID</a:t>
            </a:r>
            <a:endParaRPr/>
          </a:p>
          <a:p>
            <a:pPr indent="-342891" lvl="0" marL="342891" rtl="0" algn="l">
              <a:lnSpc>
                <a:spcPct val="80000"/>
              </a:lnSpc>
              <a:spcBef>
                <a:spcPts val="1000"/>
              </a:spcBef>
              <a:spcAft>
                <a:spcPts val="0"/>
              </a:spcAft>
              <a:buSzPts val="1600"/>
              <a:buChar char="►"/>
            </a:pPr>
            <a:r>
              <a:rPr lang="en-US" sz="2000"/>
              <a:t>Each app requests a simple permission label assignment model to restrict access to resources and other applications if necessary</a:t>
            </a:r>
            <a:endParaRPr/>
          </a:p>
          <a:p>
            <a:pPr indent="-342891" lvl="0" marL="342891" rtl="0" algn="l">
              <a:lnSpc>
                <a:spcPct val="80000"/>
              </a:lnSpc>
              <a:spcBef>
                <a:spcPts val="1000"/>
              </a:spcBef>
              <a:spcAft>
                <a:spcPts val="0"/>
              </a:spcAft>
              <a:buSzPts val="1600"/>
              <a:buChar char="►"/>
            </a:pPr>
            <a:r>
              <a:rPr lang="en-US" sz="2000"/>
              <a:t>Ex. of permission: Internet, camera, GPS</a:t>
            </a:r>
            <a:endParaRPr/>
          </a:p>
          <a:p>
            <a:pPr indent="-342891" lvl="0" marL="342891" rtl="0" algn="l">
              <a:lnSpc>
                <a:spcPct val="80000"/>
              </a:lnSpc>
              <a:spcBef>
                <a:spcPts val="1000"/>
              </a:spcBef>
              <a:spcAft>
                <a:spcPts val="0"/>
              </a:spcAft>
              <a:buSzPts val="1600"/>
              <a:buChar char="►"/>
            </a:pPr>
            <a:r>
              <a:rPr lang="en-US" sz="2000"/>
              <a:t>Permission specifies an access policy to protect its resources.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0"/>
          <p:cNvSpPr txBox="1"/>
          <p:nvPr>
            <p:ph type="title"/>
          </p:nvPr>
        </p:nvSpPr>
        <p:spPr>
          <a:xfrm>
            <a:off x="545960" y="627100"/>
            <a:ext cx="8596800" cy="13209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Android Permissions</a:t>
            </a:r>
            <a:endParaRPr/>
          </a:p>
        </p:txBody>
      </p:sp>
      <p:sp>
        <p:nvSpPr>
          <p:cNvPr id="336" name="Google Shape;336;p30"/>
          <p:cNvSpPr txBox="1"/>
          <p:nvPr>
            <p:ph idx="1" type="body"/>
          </p:nvPr>
        </p:nvSpPr>
        <p:spPr>
          <a:xfrm>
            <a:off x="677335" y="1330779"/>
            <a:ext cx="8596668" cy="5184320"/>
          </a:xfrm>
          <a:prstGeom prst="rect">
            <a:avLst/>
          </a:prstGeom>
          <a:noFill/>
          <a:ln>
            <a:noFill/>
          </a:ln>
        </p:spPr>
        <p:txBody>
          <a:bodyPr anchorCtr="0" anchor="t" bIns="45700" lIns="91425" spcFirstLastPara="1" rIns="91425" wrap="square" tIns="45700">
            <a:normAutofit/>
          </a:bodyPr>
          <a:lstStyle/>
          <a:p>
            <a:pPr indent="-342891" lvl="0" marL="342891" rtl="0" algn="l">
              <a:lnSpc>
                <a:spcPct val="80000"/>
              </a:lnSpc>
              <a:spcBef>
                <a:spcPts val="0"/>
              </a:spcBef>
              <a:spcAft>
                <a:spcPts val="0"/>
              </a:spcAft>
              <a:buSzPts val="1600"/>
              <a:buChar char="►"/>
            </a:pPr>
            <a:r>
              <a:rPr lang="en-US" sz="2000"/>
              <a:t>All permission of Android’s policy are set at install time and can’t change until the application is reinstalled.</a:t>
            </a:r>
            <a:endParaRPr/>
          </a:p>
          <a:p>
            <a:pPr indent="-342891" lvl="0" marL="342891" rtl="0" algn="l">
              <a:lnSpc>
                <a:spcPct val="80000"/>
              </a:lnSpc>
              <a:spcBef>
                <a:spcPts val="1000"/>
              </a:spcBef>
              <a:spcAft>
                <a:spcPts val="0"/>
              </a:spcAft>
              <a:buSzPts val="1600"/>
              <a:buChar char="►"/>
            </a:pPr>
            <a:r>
              <a:rPr lang="en-US" sz="2000"/>
              <a:t>Android’s permission only restricts access to components and doesn’t currently provide information flow guarantees.</a:t>
            </a:r>
            <a:endParaRPr/>
          </a:p>
          <a:p>
            <a:pPr indent="-342891" lvl="0" marL="342891" rtl="0" algn="l">
              <a:lnSpc>
                <a:spcPct val="80000"/>
              </a:lnSpc>
              <a:spcBef>
                <a:spcPts val="1000"/>
              </a:spcBef>
              <a:spcAft>
                <a:spcPts val="0"/>
              </a:spcAft>
              <a:buSzPts val="1600"/>
              <a:buChar char="►"/>
            </a:pPr>
            <a:r>
              <a:rPr lang="en-US" sz="2000"/>
              <a:t>A permission is listed in app’s manifest definition XML file.</a:t>
            </a:r>
            <a:endParaRPr/>
          </a:p>
          <a:p>
            <a:pPr indent="-342891" lvl="0" marL="342891" rtl="0" algn="l">
              <a:lnSpc>
                <a:spcPct val="80000"/>
              </a:lnSpc>
              <a:spcBef>
                <a:spcPts val="1000"/>
              </a:spcBef>
              <a:spcAft>
                <a:spcPts val="0"/>
              </a:spcAft>
              <a:buSzPts val="1600"/>
              <a:buChar char="►"/>
            </a:pPr>
            <a:r>
              <a:rPr lang="en-US" sz="2000"/>
              <a:t>If a public component doesn’t explicitly declare  any access permission, Android permits any application to access it.</a:t>
            </a:r>
            <a:endParaRPr/>
          </a:p>
          <a:p>
            <a:pPr indent="-342891" lvl="0" marL="342891" rtl="0" algn="l">
              <a:lnSpc>
                <a:spcPct val="80000"/>
              </a:lnSpc>
              <a:spcBef>
                <a:spcPts val="1000"/>
              </a:spcBef>
              <a:spcAft>
                <a:spcPts val="0"/>
              </a:spcAft>
              <a:buSzPts val="1600"/>
              <a:buChar char="►"/>
            </a:pPr>
            <a:r>
              <a:rPr lang="en-US" sz="2000"/>
              <a:t>Component A’s ability to access components B and C is determined by comparing the access permission labels on B and C to the collection of permission labels assigned to application 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1"/>
          <p:cNvSpPr txBox="1"/>
          <p:nvPr>
            <p:ph type="title"/>
          </p:nvPr>
        </p:nvSpPr>
        <p:spPr>
          <a:xfrm>
            <a:off x="846050" y="333050"/>
            <a:ext cx="8596800" cy="9483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Android App Signature</a:t>
            </a:r>
            <a:endParaRPr/>
          </a:p>
        </p:txBody>
      </p:sp>
      <p:sp>
        <p:nvSpPr>
          <p:cNvPr id="342" name="Google Shape;342;p31"/>
          <p:cNvSpPr txBox="1"/>
          <p:nvPr>
            <p:ph idx="1" type="body"/>
          </p:nvPr>
        </p:nvSpPr>
        <p:spPr>
          <a:xfrm>
            <a:off x="846060" y="1281379"/>
            <a:ext cx="8596800" cy="5184300"/>
          </a:xfrm>
          <a:prstGeom prst="rect">
            <a:avLst/>
          </a:prstGeom>
          <a:noFill/>
          <a:ln>
            <a:noFill/>
          </a:ln>
        </p:spPr>
        <p:txBody>
          <a:bodyPr anchorCtr="0" anchor="t" bIns="45700" lIns="91425" spcFirstLastPara="1" rIns="91425" wrap="square" tIns="45700">
            <a:normAutofit/>
          </a:bodyPr>
          <a:lstStyle/>
          <a:p>
            <a:pPr indent="-342891" lvl="0" marL="342891" rtl="0" algn="l">
              <a:lnSpc>
                <a:spcPct val="80000"/>
              </a:lnSpc>
              <a:spcBef>
                <a:spcPts val="0"/>
              </a:spcBef>
              <a:spcAft>
                <a:spcPts val="0"/>
              </a:spcAft>
              <a:buSzPts val="1920"/>
              <a:buChar char="►"/>
            </a:pPr>
            <a:r>
              <a:rPr lang="en-US" sz="2400"/>
              <a:t>All Android applications must be signed, but are usually </a:t>
            </a:r>
            <a:r>
              <a:rPr i="1" lang="en-US" sz="2400"/>
              <a:t>self-</a:t>
            </a:r>
            <a:r>
              <a:rPr lang="en-US" sz="2400"/>
              <a:t>signed</a:t>
            </a:r>
            <a:endParaRPr/>
          </a:p>
          <a:p>
            <a:pPr indent="-342891" lvl="0" marL="342891" rtl="0" algn="l">
              <a:lnSpc>
                <a:spcPct val="80000"/>
              </a:lnSpc>
              <a:spcBef>
                <a:spcPts val="1000"/>
              </a:spcBef>
              <a:spcAft>
                <a:spcPts val="0"/>
              </a:spcAft>
              <a:buSzPts val="1920"/>
              <a:buChar char="►"/>
            </a:pPr>
            <a:r>
              <a:rPr lang="en-US" sz="2400"/>
              <a:t>Why self signing?</a:t>
            </a:r>
            <a:endParaRPr/>
          </a:p>
          <a:p>
            <a:pPr indent="-285744" lvl="1" marL="742932" rtl="0" algn="l">
              <a:lnSpc>
                <a:spcPct val="80000"/>
              </a:lnSpc>
              <a:spcBef>
                <a:spcPts val="1000"/>
              </a:spcBef>
              <a:spcAft>
                <a:spcPts val="0"/>
              </a:spcAft>
              <a:buSzPts val="1920"/>
              <a:buChar char="►"/>
            </a:pPr>
            <a:r>
              <a:rPr lang="en-US" sz="2400"/>
              <a:t>Market ties identity to developer account</a:t>
            </a:r>
            <a:endParaRPr/>
          </a:p>
          <a:p>
            <a:pPr indent="-285744" lvl="1" marL="742932" rtl="0" algn="l">
              <a:lnSpc>
                <a:spcPct val="80000"/>
              </a:lnSpc>
              <a:spcBef>
                <a:spcPts val="1000"/>
              </a:spcBef>
              <a:spcAft>
                <a:spcPts val="0"/>
              </a:spcAft>
              <a:buSzPts val="1920"/>
              <a:buChar char="►"/>
            </a:pPr>
            <a:r>
              <a:rPr lang="en-US" sz="2400"/>
              <a:t>No CA in Google, Google does not have central control over the app’s signature certificates</a:t>
            </a:r>
            <a:endParaRPr/>
          </a:p>
          <a:p>
            <a:pPr indent="-285744" lvl="1" marL="742932" rtl="0" algn="l">
              <a:lnSpc>
                <a:spcPct val="80000"/>
              </a:lnSpc>
              <a:spcBef>
                <a:spcPts val="1000"/>
              </a:spcBef>
              <a:spcAft>
                <a:spcPts val="0"/>
              </a:spcAft>
              <a:buSzPts val="1920"/>
              <a:buChar char="►"/>
            </a:pPr>
            <a:r>
              <a:rPr lang="en-US" sz="2400"/>
              <a:t>No applications are trusted.  No "magic key"</a:t>
            </a:r>
            <a:endParaRPr/>
          </a:p>
          <a:p>
            <a:pPr indent="-220970" lvl="0" marL="342891" rtl="0" algn="l">
              <a:lnSpc>
                <a:spcPct val="80000"/>
              </a:lnSpc>
              <a:spcBef>
                <a:spcPts val="1000"/>
              </a:spcBef>
              <a:spcAft>
                <a:spcPts val="0"/>
              </a:spcAft>
              <a:buSzPts val="1920"/>
              <a:buNone/>
            </a:pPr>
            <a:r>
              <a:t/>
            </a:r>
            <a:endParaRPr sz="2400"/>
          </a:p>
          <a:p>
            <a:pPr indent="-342891" lvl="0" marL="342891" rtl="0" algn="l">
              <a:lnSpc>
                <a:spcPct val="80000"/>
              </a:lnSpc>
              <a:spcBef>
                <a:spcPts val="1000"/>
              </a:spcBef>
              <a:spcAft>
                <a:spcPts val="0"/>
              </a:spcAft>
              <a:buSzPts val="1920"/>
              <a:buChar char="►"/>
            </a:pPr>
            <a:r>
              <a:rPr lang="en-US" sz="2400"/>
              <a:t>What does signing determine?</a:t>
            </a:r>
            <a:endParaRPr sz="2800"/>
          </a:p>
          <a:p>
            <a:pPr indent="-285744" lvl="1" marL="742932" rtl="0" algn="l">
              <a:lnSpc>
                <a:spcPct val="80000"/>
              </a:lnSpc>
              <a:spcBef>
                <a:spcPts val="1000"/>
              </a:spcBef>
              <a:spcAft>
                <a:spcPts val="0"/>
              </a:spcAft>
              <a:buSzPts val="1920"/>
              <a:buChar char="►"/>
            </a:pPr>
            <a:r>
              <a:rPr lang="en-US" sz="2400"/>
              <a:t>Author-update</a:t>
            </a:r>
            <a:endParaRPr sz="2000"/>
          </a:p>
          <a:p>
            <a:pPr indent="-285744" lvl="1" marL="742932" rtl="0" algn="l">
              <a:lnSpc>
                <a:spcPct val="80000"/>
              </a:lnSpc>
              <a:spcBef>
                <a:spcPts val="1000"/>
              </a:spcBef>
              <a:spcAft>
                <a:spcPts val="0"/>
              </a:spcAft>
              <a:buSzPts val="1920"/>
              <a:buChar char="►"/>
            </a:pPr>
            <a:r>
              <a:rPr lang="en-US" sz="2400"/>
              <a:t>In signature schemes, the private key is used to </a:t>
            </a:r>
            <a:r>
              <a:rPr lang="en-US" sz="2400" u="sng">
                <a:solidFill>
                  <a:schemeClr val="hlink"/>
                </a:solidFill>
                <a:hlinkClick r:id="rId3"/>
              </a:rPr>
              <a:t>sign</a:t>
            </a:r>
            <a:r>
              <a:rPr lang="en-US" sz="2400"/>
              <a:t> a app or message; anyone can check the signature using the public key.</a:t>
            </a:r>
            <a:r>
              <a:rPr lang="en-US" sz="2000"/>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2"/>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Permissions on Android</a:t>
            </a:r>
            <a:endParaRPr/>
          </a:p>
        </p:txBody>
      </p:sp>
      <p:sp>
        <p:nvSpPr>
          <p:cNvPr id="348" name="Google Shape;348;p32"/>
          <p:cNvSpPr txBox="1"/>
          <p:nvPr>
            <p:ph idx="1" type="body"/>
          </p:nvPr>
        </p:nvSpPr>
        <p:spPr>
          <a:xfrm>
            <a:off x="677335" y="1330779"/>
            <a:ext cx="8596668" cy="518432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920"/>
              <a:buFont typeface="Trebuchet MS"/>
              <a:buNone/>
            </a:pPr>
            <a:r>
              <a:rPr lang="en-US" sz="2400"/>
              <a:t>App permissions help support user privacy by protecting access to the following:</a:t>
            </a:r>
            <a:endParaRPr/>
          </a:p>
          <a:p>
            <a:pPr indent="-342891" lvl="0" marL="342891" rtl="0" algn="l">
              <a:spcBef>
                <a:spcPts val="1000"/>
              </a:spcBef>
              <a:spcAft>
                <a:spcPts val="0"/>
              </a:spcAft>
              <a:buSzPts val="1920"/>
              <a:buChar char="►"/>
            </a:pPr>
            <a:r>
              <a:rPr b="1" lang="en-US" sz="2400"/>
              <a:t>Restricted data</a:t>
            </a:r>
            <a:r>
              <a:rPr lang="en-US" sz="2400"/>
              <a:t>, such as system state and a user's contact information.</a:t>
            </a:r>
            <a:endParaRPr/>
          </a:p>
          <a:p>
            <a:pPr indent="-342891" lvl="0" marL="342891" rtl="0" algn="l">
              <a:spcBef>
                <a:spcPts val="1000"/>
              </a:spcBef>
              <a:spcAft>
                <a:spcPts val="0"/>
              </a:spcAft>
              <a:buSzPts val="1920"/>
              <a:buChar char="►"/>
            </a:pPr>
            <a:r>
              <a:rPr b="1" lang="en-US" sz="2400"/>
              <a:t>Restricted actions</a:t>
            </a:r>
            <a:r>
              <a:rPr lang="en-US" sz="2400"/>
              <a:t>, such as connecting to a paired device and recording audio.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3"/>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US"/>
              <a:t>Figure 1 illustrates the workflow for using app permissions:</a:t>
            </a:r>
            <a:endParaRPr/>
          </a:p>
        </p:txBody>
      </p:sp>
      <p:sp>
        <p:nvSpPr>
          <p:cNvPr id="354" name="Google Shape;354;p33"/>
          <p:cNvSpPr txBox="1"/>
          <p:nvPr>
            <p:ph idx="1" type="body"/>
          </p:nvPr>
        </p:nvSpPr>
        <p:spPr>
          <a:xfrm>
            <a:off x="677335" y="2057399"/>
            <a:ext cx="8596668" cy="445769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920"/>
              <a:buFont typeface="Trebuchet MS"/>
              <a:buNone/>
            </a:pPr>
            <a:r>
              <a:t/>
            </a:r>
            <a:endParaRPr sz="2400"/>
          </a:p>
        </p:txBody>
      </p:sp>
      <p:pic>
        <p:nvPicPr>
          <p:cNvPr id="355" name="Google Shape;355;p33"/>
          <p:cNvPicPr preferRelativeResize="0"/>
          <p:nvPr/>
        </p:nvPicPr>
        <p:blipFill rotWithShape="1">
          <a:blip r:embed="rId3">
            <a:alphaModFix/>
          </a:blip>
          <a:srcRect b="28125" l="23647" r="19547" t="23958"/>
          <a:stretch/>
        </p:blipFill>
        <p:spPr>
          <a:xfrm>
            <a:off x="677335" y="1930400"/>
            <a:ext cx="8355013" cy="3962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34"/>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Types of permissions</a:t>
            </a:r>
            <a:endParaRPr/>
          </a:p>
        </p:txBody>
      </p:sp>
      <p:sp>
        <p:nvSpPr>
          <p:cNvPr id="361" name="Google Shape;361;p34"/>
          <p:cNvSpPr txBox="1"/>
          <p:nvPr>
            <p:ph idx="1" type="body"/>
          </p:nvPr>
        </p:nvSpPr>
        <p:spPr>
          <a:xfrm>
            <a:off x="782435" y="2425604"/>
            <a:ext cx="8596800" cy="5184300"/>
          </a:xfrm>
          <a:prstGeom prst="rect">
            <a:avLst/>
          </a:prstGeom>
          <a:noFill/>
          <a:ln>
            <a:noFill/>
          </a:ln>
        </p:spPr>
        <p:txBody>
          <a:bodyPr anchorCtr="0" anchor="t" bIns="45700" lIns="91425" spcFirstLastPara="1" rIns="91425" wrap="square" tIns="45700">
            <a:normAutofit/>
          </a:bodyPr>
          <a:lstStyle/>
          <a:p>
            <a:pPr indent="-457200" lvl="0" marL="457200" rtl="0" algn="l">
              <a:spcBef>
                <a:spcPts val="0"/>
              </a:spcBef>
              <a:spcAft>
                <a:spcPts val="0"/>
              </a:spcAft>
              <a:buSzPts val="1920"/>
              <a:buNone/>
            </a:pPr>
            <a:r>
              <a:rPr b="1" lang="en-US" sz="2400"/>
              <a:t>Install-time permissions </a:t>
            </a:r>
            <a:endParaRPr sz="2400"/>
          </a:p>
          <a:p>
            <a:pPr indent="-457200" lvl="0" marL="457200" rtl="0" algn="l">
              <a:spcBef>
                <a:spcPts val="1000"/>
              </a:spcBef>
              <a:spcAft>
                <a:spcPts val="0"/>
              </a:spcAft>
              <a:buSzPts val="1920"/>
              <a:buNone/>
            </a:pPr>
            <a:r>
              <a:rPr lang="en-US" sz="2400"/>
              <a:t>	Give your app limited access to restricted data, and they allow your app to perform restricted actions that minimally affect the system or other apps. When you declare install-time permissions in your app, the system automatically grants your app the permissions when the user installs your app. An app store presents an install-time permission notice to the user when they view an app's details page, as shown in Figure 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5"/>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Types of permissions</a:t>
            </a:r>
            <a:endParaRPr/>
          </a:p>
        </p:txBody>
      </p:sp>
      <p:sp>
        <p:nvSpPr>
          <p:cNvPr id="367" name="Google Shape;367;p35"/>
          <p:cNvSpPr txBox="1"/>
          <p:nvPr>
            <p:ph idx="1" type="body"/>
          </p:nvPr>
        </p:nvSpPr>
        <p:spPr>
          <a:xfrm>
            <a:off x="677335" y="1330779"/>
            <a:ext cx="8596668" cy="5184320"/>
          </a:xfrm>
          <a:prstGeom prst="rect">
            <a:avLst/>
          </a:prstGeom>
          <a:noFill/>
          <a:ln>
            <a:noFill/>
          </a:ln>
        </p:spPr>
        <p:txBody>
          <a:bodyPr anchorCtr="0" anchor="t" bIns="45700" lIns="91425" spcFirstLastPara="1" rIns="91425" wrap="square" tIns="45700">
            <a:normAutofit/>
          </a:bodyPr>
          <a:lstStyle/>
          <a:p>
            <a:pPr indent="-457200" lvl="0" marL="457200" rtl="0" algn="l">
              <a:spcBef>
                <a:spcPts val="0"/>
              </a:spcBef>
              <a:spcAft>
                <a:spcPts val="0"/>
              </a:spcAft>
              <a:buSzPts val="1920"/>
              <a:buNone/>
            </a:pPr>
            <a:r>
              <a:rPr b="1" lang="en-US" sz="2400"/>
              <a:t>Normal permissions </a:t>
            </a:r>
            <a:r>
              <a:rPr lang="en-US" sz="2400"/>
              <a:t> </a:t>
            </a:r>
            <a:endParaRPr/>
          </a:p>
          <a:p>
            <a:pPr indent="-457200" lvl="0" marL="457200" rtl="0" algn="l">
              <a:spcBef>
                <a:spcPts val="1000"/>
              </a:spcBef>
              <a:spcAft>
                <a:spcPts val="0"/>
              </a:spcAft>
              <a:buSzPts val="1920"/>
              <a:buNone/>
            </a:pPr>
            <a:r>
              <a:rPr lang="en-US" sz="2400"/>
              <a:t>	These permissions allow access to data and actions that extend beyond your app's sandbox. However, the data and actions present very little risk to the user's privacy, and the operation of other apps.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36"/>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Types of permissions</a:t>
            </a:r>
            <a:endParaRPr/>
          </a:p>
        </p:txBody>
      </p:sp>
      <p:sp>
        <p:nvSpPr>
          <p:cNvPr id="373" name="Google Shape;373;p36"/>
          <p:cNvSpPr txBox="1"/>
          <p:nvPr>
            <p:ph idx="1" type="body"/>
          </p:nvPr>
        </p:nvSpPr>
        <p:spPr>
          <a:xfrm>
            <a:off x="677335" y="1330779"/>
            <a:ext cx="8596668" cy="5184320"/>
          </a:xfrm>
          <a:prstGeom prst="rect">
            <a:avLst/>
          </a:prstGeom>
          <a:noFill/>
          <a:ln>
            <a:noFill/>
          </a:ln>
        </p:spPr>
        <p:txBody>
          <a:bodyPr anchorCtr="0" anchor="t" bIns="45700" lIns="91425" spcFirstLastPara="1" rIns="91425" wrap="square" tIns="45700">
            <a:normAutofit/>
          </a:bodyPr>
          <a:lstStyle/>
          <a:p>
            <a:pPr indent="-457200" lvl="0" marL="457200" rtl="0" algn="l">
              <a:spcBef>
                <a:spcPts val="0"/>
              </a:spcBef>
              <a:spcAft>
                <a:spcPts val="0"/>
              </a:spcAft>
              <a:buSzPts val="1600"/>
              <a:buNone/>
            </a:pPr>
            <a:r>
              <a:rPr b="1" lang="en-US" sz="2000"/>
              <a:t>Signature permissions </a:t>
            </a:r>
            <a:endParaRPr sz="2000"/>
          </a:p>
          <a:p>
            <a:pPr indent="-457200" lvl="0" marL="457200" rtl="0" algn="l">
              <a:spcBef>
                <a:spcPts val="1000"/>
              </a:spcBef>
              <a:spcAft>
                <a:spcPts val="0"/>
              </a:spcAft>
              <a:buSzPts val="1600"/>
              <a:buNone/>
            </a:pPr>
            <a:r>
              <a:rPr lang="en-US" sz="2000"/>
              <a:t>	</a:t>
            </a:r>
            <a:r>
              <a:rPr lang="en-US" sz="2400"/>
              <a:t>If the app declares a signature permission that another app has defined, and if the two apps are signed by the same certificate, then the system grants the permission to the first app at install time. Otherwise, that first app cannot be granted the permission.</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37"/>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Types of permissions</a:t>
            </a:r>
            <a:endParaRPr/>
          </a:p>
        </p:txBody>
      </p:sp>
      <p:sp>
        <p:nvSpPr>
          <p:cNvPr id="379" name="Google Shape;379;p37"/>
          <p:cNvSpPr txBox="1"/>
          <p:nvPr>
            <p:ph idx="1" type="body"/>
          </p:nvPr>
        </p:nvSpPr>
        <p:spPr>
          <a:xfrm>
            <a:off x="677335" y="1330779"/>
            <a:ext cx="8596668" cy="5184320"/>
          </a:xfrm>
          <a:prstGeom prst="rect">
            <a:avLst/>
          </a:prstGeom>
          <a:noFill/>
          <a:ln>
            <a:noFill/>
          </a:ln>
        </p:spPr>
        <p:txBody>
          <a:bodyPr anchorCtr="0" anchor="t" bIns="45700" lIns="91425" spcFirstLastPara="1" rIns="91425" wrap="square" tIns="45700">
            <a:normAutofit/>
          </a:bodyPr>
          <a:lstStyle/>
          <a:p>
            <a:pPr indent="-457200" lvl="0" marL="457200" rtl="0" algn="l">
              <a:spcBef>
                <a:spcPts val="0"/>
              </a:spcBef>
              <a:spcAft>
                <a:spcPts val="0"/>
              </a:spcAft>
              <a:buSzPts val="1600"/>
              <a:buNone/>
            </a:pPr>
            <a:r>
              <a:rPr b="1" lang="en-US" sz="2000"/>
              <a:t>Runtime permissions </a:t>
            </a:r>
            <a:endParaRPr sz="2000"/>
          </a:p>
          <a:p>
            <a:pPr indent="-457200" lvl="0" marL="457200" rtl="0" algn="l">
              <a:spcBef>
                <a:spcPts val="1000"/>
              </a:spcBef>
              <a:spcAft>
                <a:spcPts val="0"/>
              </a:spcAft>
              <a:buSzPts val="1600"/>
              <a:buNone/>
            </a:pPr>
            <a:r>
              <a:rPr lang="en-US" sz="2000"/>
              <a:t>	Runtime permissions, also known as dangerous permissions, give your app additional access to restricted data, and they allow your app to perform restricted actions that more substantially affect the system and other apps. Therefore, you need to request runtime permissions in your app before you can access the restricted data or perform restricted actions. When your app requests a runtime permission, the system presents a runtime permission prompt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38"/>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Types of permissions</a:t>
            </a:r>
            <a:endParaRPr/>
          </a:p>
        </p:txBody>
      </p:sp>
      <p:sp>
        <p:nvSpPr>
          <p:cNvPr id="385" name="Google Shape;385;p38"/>
          <p:cNvSpPr txBox="1"/>
          <p:nvPr>
            <p:ph idx="1" type="body"/>
          </p:nvPr>
        </p:nvSpPr>
        <p:spPr>
          <a:xfrm>
            <a:off x="677335" y="1330779"/>
            <a:ext cx="8596668" cy="5184320"/>
          </a:xfrm>
          <a:prstGeom prst="rect">
            <a:avLst/>
          </a:prstGeom>
          <a:noFill/>
          <a:ln>
            <a:noFill/>
          </a:ln>
        </p:spPr>
        <p:txBody>
          <a:bodyPr anchorCtr="0" anchor="t" bIns="45700" lIns="91425" spcFirstLastPara="1" rIns="91425" wrap="square" tIns="45700">
            <a:normAutofit/>
          </a:bodyPr>
          <a:lstStyle/>
          <a:p>
            <a:pPr indent="-457200" lvl="0" marL="457200" rtl="0" algn="l">
              <a:spcBef>
                <a:spcPts val="0"/>
              </a:spcBef>
              <a:spcAft>
                <a:spcPts val="0"/>
              </a:spcAft>
              <a:buSzPts val="1600"/>
              <a:buNone/>
            </a:pPr>
            <a:r>
              <a:rPr b="1" lang="en-US" sz="2000"/>
              <a:t>Special permissions </a:t>
            </a:r>
            <a:endParaRPr sz="2000"/>
          </a:p>
          <a:p>
            <a:pPr indent="-457200" lvl="0" marL="457200" rtl="0" algn="l">
              <a:spcBef>
                <a:spcPts val="1000"/>
              </a:spcBef>
              <a:spcAft>
                <a:spcPts val="0"/>
              </a:spcAft>
              <a:buSzPts val="1600"/>
              <a:buNone/>
            </a:pPr>
            <a:r>
              <a:rPr lang="en-US" sz="2000"/>
              <a:t>	Special permissions correspond to particular app operations. Only the platform and OEMs can define special permissions. Additionally, the platform and OEMs usually define special permissions when they want to protect access to particularly powerful actions, such as drawing over other apps.</a:t>
            </a:r>
            <a:endParaRPr/>
          </a:p>
          <a:p>
            <a:pPr indent="-457200" lvl="0" marL="457200" rtl="0" algn="l">
              <a:spcBef>
                <a:spcPts val="1000"/>
              </a:spcBef>
              <a:spcAft>
                <a:spcPts val="0"/>
              </a:spcAft>
              <a:buSzPts val="1600"/>
              <a:buNone/>
            </a:pPr>
            <a:r>
              <a:t/>
            </a:r>
            <a:endParaRPr sz="2000"/>
          </a:p>
          <a:p>
            <a:pPr indent="-457200" lvl="0" marL="457200" rtl="0" algn="l">
              <a:spcBef>
                <a:spcPts val="1000"/>
              </a:spcBef>
              <a:spcAft>
                <a:spcPts val="0"/>
              </a:spcAft>
              <a:buSzPts val="1600"/>
              <a:buNone/>
            </a:pPr>
            <a:r>
              <a:rPr lang="en-US" sz="2000"/>
              <a:t>	The </a:t>
            </a:r>
            <a:r>
              <a:rPr b="1" lang="en-US" sz="2000"/>
              <a:t>Special app access</a:t>
            </a:r>
            <a:r>
              <a:rPr lang="en-US" sz="2000"/>
              <a:t> page in system settings contains a set of user-toggleable operations. Many of these operations are implemented as special permissions.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9"/>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Best practices</a:t>
            </a:r>
            <a:endParaRPr/>
          </a:p>
        </p:txBody>
      </p:sp>
      <p:sp>
        <p:nvSpPr>
          <p:cNvPr id="391" name="Google Shape;391;p39"/>
          <p:cNvSpPr txBox="1"/>
          <p:nvPr>
            <p:ph idx="1" type="body"/>
          </p:nvPr>
        </p:nvSpPr>
        <p:spPr>
          <a:xfrm>
            <a:off x="677335" y="1330779"/>
            <a:ext cx="8596668" cy="518432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lang="en-US" sz="2000"/>
              <a:t>App permissions build upon </a:t>
            </a:r>
            <a:r>
              <a:rPr lang="en-US" sz="2000" u="sng">
                <a:solidFill>
                  <a:schemeClr val="hlink"/>
                </a:solidFill>
                <a:hlinkClick r:id="rId3"/>
              </a:rPr>
              <a:t>system security features</a:t>
            </a:r>
            <a:r>
              <a:rPr lang="en-US" sz="2000"/>
              <a:t> and help Android support the following goals related to user privacy:</a:t>
            </a:r>
            <a:endParaRPr/>
          </a:p>
          <a:p>
            <a:pPr indent="-342891" lvl="0" marL="342891" rtl="0" algn="l">
              <a:spcBef>
                <a:spcPts val="1000"/>
              </a:spcBef>
              <a:spcAft>
                <a:spcPts val="0"/>
              </a:spcAft>
              <a:buSzPts val="1600"/>
              <a:buChar char="►"/>
            </a:pPr>
            <a:r>
              <a:rPr b="1" lang="en-US" sz="2000"/>
              <a:t>Control:</a:t>
            </a:r>
            <a:r>
              <a:rPr lang="en-US" sz="2000"/>
              <a:t> The user has control over the data that they share with apps.</a:t>
            </a:r>
            <a:endParaRPr/>
          </a:p>
          <a:p>
            <a:pPr indent="-342891" lvl="0" marL="342891" rtl="0" algn="l">
              <a:spcBef>
                <a:spcPts val="1000"/>
              </a:spcBef>
              <a:spcAft>
                <a:spcPts val="0"/>
              </a:spcAft>
              <a:buSzPts val="1600"/>
              <a:buChar char="►"/>
            </a:pPr>
            <a:r>
              <a:rPr b="1" lang="en-US" sz="2000"/>
              <a:t>Transparency:</a:t>
            </a:r>
            <a:r>
              <a:rPr lang="en-US" sz="2000"/>
              <a:t> The user understands what data an app uses, and why the app accesses this data.</a:t>
            </a:r>
            <a:endParaRPr/>
          </a:p>
          <a:p>
            <a:pPr indent="-342891" lvl="0" marL="342891" rtl="0" algn="l">
              <a:spcBef>
                <a:spcPts val="1000"/>
              </a:spcBef>
              <a:spcAft>
                <a:spcPts val="0"/>
              </a:spcAft>
              <a:buSzPts val="1600"/>
              <a:buChar char="►"/>
            </a:pPr>
            <a:r>
              <a:rPr b="1" lang="en-US" sz="2000"/>
              <a:t>Data minimization:</a:t>
            </a:r>
            <a:r>
              <a:rPr lang="en-US" sz="2000"/>
              <a:t> An app accesses and uses only the data that's required for a specific task or action that the user invokes.</a:t>
            </a:r>
            <a:endParaRPr/>
          </a:p>
          <a:p>
            <a:pPr indent="0" lvl="0" marL="0" rtl="0" algn="l">
              <a:spcBef>
                <a:spcPts val="1000"/>
              </a:spcBef>
              <a:spcAft>
                <a:spcPts val="0"/>
              </a:spcAft>
              <a:buSzPts val="1600"/>
              <a:buNone/>
            </a:pPr>
            <a:r>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0"/>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References</a:t>
            </a:r>
            <a:endParaRPr/>
          </a:p>
        </p:txBody>
      </p:sp>
      <p:sp>
        <p:nvSpPr>
          <p:cNvPr id="397" name="Google Shape;397;p40"/>
          <p:cNvSpPr txBox="1"/>
          <p:nvPr>
            <p:ph idx="1" type="body"/>
          </p:nvPr>
        </p:nvSpPr>
        <p:spPr>
          <a:xfrm>
            <a:off x="677335" y="2160590"/>
            <a:ext cx="8596668" cy="3880773"/>
          </a:xfrm>
          <a:prstGeom prst="rect">
            <a:avLst/>
          </a:prstGeom>
          <a:noFill/>
          <a:ln>
            <a:noFill/>
          </a:ln>
        </p:spPr>
        <p:txBody>
          <a:bodyPr anchorCtr="0" anchor="t" bIns="45700" lIns="91425" spcFirstLastPara="1" rIns="91425" wrap="square" tIns="45700">
            <a:normAutofit lnSpcReduction="10000"/>
          </a:bodyPr>
          <a:lstStyle/>
          <a:p>
            <a:pPr indent="-342891" lvl="0" marL="342891" rtl="0" algn="l">
              <a:lnSpc>
                <a:spcPct val="90000"/>
              </a:lnSpc>
              <a:spcBef>
                <a:spcPts val="0"/>
              </a:spcBef>
              <a:spcAft>
                <a:spcPts val="0"/>
              </a:spcAft>
              <a:buSzPts val="1440"/>
              <a:buNone/>
            </a:pPr>
            <a:r>
              <a:rPr b="1" lang="en-US"/>
              <a:t>1.</a:t>
            </a:r>
            <a:r>
              <a:rPr b="1" lang="en-US" u="sng">
                <a:solidFill>
                  <a:schemeClr val="hlink"/>
                </a:solidFill>
                <a:hlinkClick r:id="rId3"/>
              </a:rPr>
              <a:t>http://www.businessweek.com/technology/content/oct2010/tc20101020_639668.htm</a:t>
            </a:r>
            <a:endParaRPr b="1"/>
          </a:p>
          <a:p>
            <a:pPr indent="-342891" lvl="0" marL="342891" rtl="0" algn="l">
              <a:lnSpc>
                <a:spcPct val="90000"/>
              </a:lnSpc>
              <a:spcBef>
                <a:spcPts val="1000"/>
              </a:spcBef>
              <a:spcAft>
                <a:spcPts val="0"/>
              </a:spcAft>
              <a:buSzPts val="1440"/>
              <a:buNone/>
            </a:pPr>
            <a:r>
              <a:rPr b="1" lang="en-US"/>
              <a:t>2.</a:t>
            </a:r>
            <a:r>
              <a:rPr b="1" lang="en-US" u="sng">
                <a:solidFill>
                  <a:schemeClr val="hlink"/>
                </a:solidFill>
                <a:hlinkClick r:id="rId4"/>
              </a:rPr>
              <a:t> http://it-jobs.fins.com/Articles/SB129606993144879991/Mobile-App-Developers-Wanted-at-Ad-Agencies</a:t>
            </a:r>
            <a:endParaRPr b="1"/>
          </a:p>
          <a:p>
            <a:pPr indent="-342891" lvl="0" marL="342891" rtl="0" algn="l">
              <a:lnSpc>
                <a:spcPct val="90000"/>
              </a:lnSpc>
              <a:spcBef>
                <a:spcPts val="1000"/>
              </a:spcBef>
              <a:spcAft>
                <a:spcPts val="0"/>
              </a:spcAft>
              <a:buSzPts val="1440"/>
              <a:buNone/>
            </a:pPr>
            <a:r>
              <a:rPr b="1" lang="en-US"/>
              <a:t>3.</a:t>
            </a:r>
            <a:r>
              <a:rPr b="1" lang="en-US" u="sng">
                <a:solidFill>
                  <a:schemeClr val="hlink"/>
                </a:solidFill>
                <a:hlinkClick r:id="rId5"/>
              </a:rPr>
              <a:t>http://www.gartner.com/it/page.jsp?id=1466313</a:t>
            </a:r>
            <a:endParaRPr b="1" u="sng">
              <a:solidFill>
                <a:schemeClr val="hlink"/>
              </a:solidFill>
              <a:hlinkClick r:id="rId6"/>
            </a:endParaRPr>
          </a:p>
          <a:p>
            <a:pPr indent="-342891" lvl="0" marL="342891" rtl="0" algn="l">
              <a:lnSpc>
                <a:spcPct val="90000"/>
              </a:lnSpc>
              <a:spcBef>
                <a:spcPts val="1000"/>
              </a:spcBef>
              <a:spcAft>
                <a:spcPts val="0"/>
              </a:spcAft>
              <a:buSzPts val="1440"/>
              <a:buNone/>
            </a:pPr>
            <a:r>
              <a:rPr b="1" lang="en-US" u="sng">
                <a:solidFill>
                  <a:schemeClr val="hlink"/>
                </a:solidFill>
                <a:hlinkClick r:id="rId7"/>
              </a:rPr>
              <a:t>4.http://developer.android.com/guide/developing/index.html</a:t>
            </a:r>
            <a:endParaRPr b="1"/>
          </a:p>
          <a:p>
            <a:pPr indent="-342891" lvl="0" marL="342891" rtl="0" algn="l">
              <a:lnSpc>
                <a:spcPct val="90000"/>
              </a:lnSpc>
              <a:spcBef>
                <a:spcPts val="1000"/>
              </a:spcBef>
              <a:spcAft>
                <a:spcPts val="0"/>
              </a:spcAft>
              <a:buSzPts val="1440"/>
              <a:buNone/>
            </a:pPr>
            <a:r>
              <a:rPr lang="en-US"/>
              <a:t>5.Android Overview, </a:t>
            </a:r>
            <a:r>
              <a:rPr lang="en-US" u="sng">
                <a:solidFill>
                  <a:schemeClr val="hlink"/>
                </a:solidFill>
                <a:hlinkClick r:id="rId8"/>
              </a:rPr>
              <a:t>http://www.google.com/url?sa=t&amp;rct=j&amp;q=&amp;esrc=s&amp;source=web&amp;cd=7&amp;ved=0CEcQFjAG&amp;url=http%3A%2F%2Fai.arizona.edu%2Fmis510%2Fslides%2FAndroid%2520Overview.ppt&amp;ei=4HBXUNPvMuPe0QGm3oCYCg&amp;usg=AFQjCNE2Li9vyh34rECKYDuOjKjI5pjyzw&amp;sig2=E-wfIL1bPNJacCi6ZaAWCA</a:t>
            </a:r>
            <a:endParaRPr/>
          </a:p>
          <a:p>
            <a:pPr indent="-342891" lvl="0" marL="342891" rtl="0" algn="l">
              <a:lnSpc>
                <a:spcPct val="90000"/>
              </a:lnSpc>
              <a:spcBef>
                <a:spcPts val="1000"/>
              </a:spcBef>
              <a:spcAft>
                <a:spcPts val="0"/>
              </a:spcAft>
              <a:buSzPts val="1440"/>
              <a:buNone/>
            </a:pPr>
            <a:r>
              <a:rPr lang="en-US"/>
              <a:t>6. Tutorialspoint</a:t>
            </a:r>
            <a:endParaRPr/>
          </a:p>
          <a:p>
            <a:pPr indent="-342891" lvl="0" marL="342891" rtl="0" algn="l">
              <a:lnSpc>
                <a:spcPct val="90000"/>
              </a:lnSpc>
              <a:spcBef>
                <a:spcPts val="1000"/>
              </a:spcBef>
              <a:spcAft>
                <a:spcPts val="0"/>
              </a:spcAft>
              <a:buSzPts val="1440"/>
              <a:buNone/>
            </a:pPr>
            <a:r>
              <a:rPr lang="en-US" u="sng">
                <a:solidFill>
                  <a:schemeClr val="hlink"/>
                </a:solidFill>
                <a:hlinkClick r:id="rId9"/>
              </a:rPr>
              <a:t>https://www.tutorialspoint.com/android/android_hello_world_example.htm</a:t>
            </a:r>
            <a:endParaRPr/>
          </a:p>
          <a:p>
            <a:pPr indent="-342891" lvl="0" marL="342891" rtl="0" algn="l">
              <a:lnSpc>
                <a:spcPct val="90000"/>
              </a:lnSpc>
              <a:spcBef>
                <a:spcPts val="1000"/>
              </a:spcBef>
              <a:spcAft>
                <a:spcPts val="0"/>
              </a:spcAft>
              <a:buSzPts val="1440"/>
              <a:buNone/>
            </a:pPr>
            <a:r>
              <a:t/>
            </a:r>
            <a:endParaRPr/>
          </a:p>
          <a:p>
            <a:pPr indent="0" lvl="0" marL="0" rtl="0" algn="l">
              <a:spcBef>
                <a:spcPts val="1000"/>
              </a:spcBef>
              <a:spcAft>
                <a:spcPts val="0"/>
              </a:spcAft>
              <a:buSzPts val="144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acet">
  <a:themeElements>
    <a:clrScheme name="Blu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2022-03-13T02:51:28Z</dcterms:created>
  <dc:creator>michael estal</dc:creator>
</cp:coreProperties>
</file>